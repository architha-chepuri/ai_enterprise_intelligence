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243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sarah.meron@ibm.com" TargetMode="External"/><Relationship Id="rId2" Type="http://schemas.openxmlformats.org/officeDocument/2006/relationships/hyperlink" Target="http://www.ibm.com/investor/events/earnings-1q25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mailto:tfdavids@us.ibm.com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520699"/>
            <a:ext cx="6417310" cy="4530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100"/>
              </a:spcBef>
            </a:pPr>
            <a:r>
              <a:rPr sz="1100" b="1" spc="-55" dirty="0">
                <a:latin typeface="Tahoma"/>
                <a:cs typeface="Tahoma"/>
              </a:rPr>
              <a:t>IBM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RELEASES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FIRST-</a:t>
            </a:r>
            <a:r>
              <a:rPr sz="1100" b="1" spc="-50" dirty="0">
                <a:latin typeface="Tahoma"/>
                <a:cs typeface="Tahoma"/>
              </a:rPr>
              <a:t>QUARTER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RESULTS</a:t>
            </a:r>
            <a:endParaRPr sz="1100">
              <a:latin typeface="Tahoma"/>
              <a:cs typeface="Tahoma"/>
            </a:endParaRPr>
          </a:p>
          <a:p>
            <a:pPr marL="15240" marR="5080" algn="ctr">
              <a:lnSpc>
                <a:spcPct val="100000"/>
              </a:lnSpc>
              <a:spcBef>
                <a:spcPts val="20"/>
              </a:spcBef>
            </a:pPr>
            <a:r>
              <a:rPr sz="1000" b="1" spc="-35" dirty="0">
                <a:latin typeface="Tahoma"/>
                <a:cs typeface="Tahoma"/>
              </a:rPr>
              <a:t>Results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exceed</a:t>
            </a:r>
            <a:r>
              <a:rPr sz="1000" b="1" spc="-1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expectations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driven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by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strong</a:t>
            </a:r>
            <a:r>
              <a:rPr sz="1000" b="1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Software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revenue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growth,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40" dirty="0">
                <a:latin typeface="Tahoma"/>
                <a:cs typeface="Tahoma"/>
              </a:rPr>
              <a:t>significant</a:t>
            </a:r>
            <a:r>
              <a:rPr sz="1000" b="1" spc="-2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gross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50" dirty="0">
                <a:latin typeface="Tahoma"/>
                <a:cs typeface="Tahoma"/>
              </a:rPr>
              <a:t>margin</a:t>
            </a:r>
            <a:r>
              <a:rPr sz="1000" b="1" spc="-2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ahoma"/>
                <a:cs typeface="Tahoma"/>
              </a:rPr>
              <a:t>expansion </a:t>
            </a:r>
            <a:r>
              <a:rPr sz="1000" b="1" spc="-45" dirty="0">
                <a:latin typeface="Tahoma"/>
                <a:cs typeface="Tahoma"/>
              </a:rPr>
              <a:t>and</a:t>
            </a:r>
            <a:r>
              <a:rPr sz="1000" b="1" spc="-35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ahoma"/>
                <a:cs typeface="Tahoma"/>
              </a:rPr>
              <a:t>solid</a:t>
            </a:r>
            <a:r>
              <a:rPr sz="1000" b="1" spc="-30" dirty="0">
                <a:latin typeface="Tahoma"/>
                <a:cs typeface="Tahoma"/>
              </a:rPr>
              <a:t> </a:t>
            </a:r>
            <a:r>
              <a:rPr sz="1000" b="1" spc="-45" dirty="0">
                <a:latin typeface="Tahoma"/>
                <a:cs typeface="Tahoma"/>
              </a:rPr>
              <a:t>free</a:t>
            </a:r>
            <a:r>
              <a:rPr sz="1000" b="1" spc="-40" dirty="0">
                <a:latin typeface="Tahoma"/>
                <a:cs typeface="Tahoma"/>
              </a:rPr>
              <a:t> </a:t>
            </a:r>
            <a:r>
              <a:rPr sz="1000" b="1" spc="-30" dirty="0">
                <a:latin typeface="Tahoma"/>
                <a:cs typeface="Tahoma"/>
              </a:rPr>
              <a:t>cash </a:t>
            </a:r>
            <a:r>
              <a:rPr sz="1000" b="1" spc="-20" dirty="0"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12700" marR="459105" indent="457200">
              <a:lnSpc>
                <a:spcPct val="100000"/>
              </a:lnSpc>
              <a:spcBef>
                <a:spcPts val="1185"/>
              </a:spcBef>
            </a:pPr>
            <a:r>
              <a:rPr sz="1100" spc="-70" dirty="0">
                <a:latin typeface="Verdana"/>
                <a:cs typeface="Verdana"/>
              </a:rPr>
              <a:t>ARMONK,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N.Y.,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April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23,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2025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 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.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(NYSE: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IBM)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announced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first-</a:t>
            </a:r>
            <a:r>
              <a:rPr sz="1100" spc="-70" dirty="0">
                <a:latin typeface="Verdana"/>
                <a:cs typeface="Verdana"/>
              </a:rPr>
              <a:t>quarter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2025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results.</a:t>
            </a:r>
            <a:endParaRPr sz="1100">
              <a:latin typeface="Verdana"/>
              <a:cs typeface="Verdana"/>
            </a:endParaRPr>
          </a:p>
          <a:p>
            <a:pPr marL="12700" marR="19685" indent="457200">
              <a:lnSpc>
                <a:spcPct val="100000"/>
              </a:lnSpc>
            </a:pPr>
            <a:r>
              <a:rPr sz="1100" spc="-55" dirty="0">
                <a:latin typeface="Verdana"/>
                <a:cs typeface="Verdana"/>
              </a:rPr>
              <a:t>“We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exceeded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expectations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revenue,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profitability</a:t>
            </a:r>
            <a:r>
              <a:rPr sz="1100" spc="-75" dirty="0">
                <a:latin typeface="Verdana"/>
                <a:cs typeface="Verdana"/>
              </a:rPr>
              <a:t> 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quarter,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led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by </a:t>
            </a:r>
            <a:r>
              <a:rPr sz="1100" spc="-75" dirty="0">
                <a:latin typeface="Verdana"/>
                <a:cs typeface="Verdana"/>
              </a:rPr>
              <a:t>strength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across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Software </a:t>
            </a:r>
            <a:r>
              <a:rPr sz="1100" spc="-60" dirty="0">
                <a:latin typeface="Verdana"/>
                <a:cs typeface="Verdana"/>
              </a:rPr>
              <a:t>portfolio.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There </a:t>
            </a:r>
            <a:r>
              <a:rPr sz="1100" spc="-65" dirty="0">
                <a:latin typeface="Verdana"/>
                <a:cs typeface="Verdana"/>
              </a:rPr>
              <a:t>continues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strong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demand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generative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AI</a:t>
            </a:r>
            <a:r>
              <a:rPr sz="1100" spc="-80" dirty="0">
                <a:latin typeface="Verdana"/>
                <a:cs typeface="Verdana"/>
              </a:rPr>
              <a:t> 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our </a:t>
            </a:r>
            <a:r>
              <a:rPr sz="1100" spc="-65" dirty="0">
                <a:latin typeface="Verdana"/>
                <a:cs typeface="Verdana"/>
              </a:rPr>
              <a:t>book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stands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more than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$6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inception-</a:t>
            </a:r>
            <a:r>
              <a:rPr sz="1100" spc="-65" dirty="0">
                <a:latin typeface="Verdana"/>
                <a:cs typeface="Verdana"/>
              </a:rPr>
              <a:t>to-</a:t>
            </a:r>
            <a:r>
              <a:rPr sz="1100" spc="-80" dirty="0">
                <a:latin typeface="Verdana"/>
                <a:cs typeface="Verdana"/>
              </a:rPr>
              <a:t>date,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more</a:t>
            </a:r>
            <a:r>
              <a:rPr sz="1100" spc="-80" dirty="0">
                <a:latin typeface="Verdana"/>
                <a:cs typeface="Verdana"/>
              </a:rPr>
              <a:t> than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$1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quarter,"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said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Arvind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Krishna,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chairman,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president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chief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executive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officer.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"We</a:t>
            </a:r>
            <a:r>
              <a:rPr sz="1100" spc="-80" dirty="0">
                <a:latin typeface="Verdana"/>
                <a:cs typeface="Verdana"/>
              </a:rPr>
              <a:t> remain </a:t>
            </a:r>
            <a:r>
              <a:rPr sz="1100" spc="-10" dirty="0">
                <a:latin typeface="Verdana"/>
                <a:cs typeface="Verdana"/>
              </a:rPr>
              <a:t>bullish </a:t>
            </a:r>
            <a:r>
              <a:rPr sz="1100" spc="-70" dirty="0">
                <a:latin typeface="Verdana"/>
                <a:cs typeface="Verdana"/>
              </a:rPr>
              <a:t>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long-</a:t>
            </a:r>
            <a:r>
              <a:rPr sz="1100" spc="-85" dirty="0">
                <a:latin typeface="Verdana"/>
                <a:cs typeface="Verdana"/>
              </a:rPr>
              <a:t>term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opportunities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technology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65" dirty="0">
                <a:latin typeface="Verdana"/>
                <a:cs typeface="Verdana"/>
              </a:rPr>
              <a:t> 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global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economy.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While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70" dirty="0">
                <a:latin typeface="Verdana"/>
                <a:cs typeface="Verdana"/>
              </a:rPr>
              <a:t>macroeconomic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environment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fluid,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based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what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know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are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maintaining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full-</a:t>
            </a:r>
            <a:r>
              <a:rPr sz="1100" spc="-20" dirty="0">
                <a:latin typeface="Verdana"/>
                <a:cs typeface="Verdana"/>
              </a:rPr>
              <a:t>year </a:t>
            </a:r>
            <a:r>
              <a:rPr sz="1100" spc="-65" dirty="0">
                <a:latin typeface="Verdana"/>
                <a:cs typeface="Verdana"/>
              </a:rPr>
              <a:t>expectations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flow."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100" b="1" spc="-30" dirty="0">
                <a:latin typeface="Tahoma"/>
                <a:cs typeface="Tahoma"/>
              </a:rPr>
              <a:t>First-</a:t>
            </a:r>
            <a:r>
              <a:rPr sz="1100" b="1" spc="-50" dirty="0">
                <a:latin typeface="Tahoma"/>
                <a:cs typeface="Tahoma"/>
              </a:rPr>
              <a:t>Quarter</a:t>
            </a:r>
            <a:r>
              <a:rPr sz="1100" b="1" spc="1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Highlights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204"/>
              </a:spcBef>
              <a:buChar char="•"/>
              <a:tabLst>
                <a:tab pos="241300" algn="l"/>
              </a:tabLst>
            </a:pPr>
            <a:r>
              <a:rPr sz="1100" spc="-10" dirty="0">
                <a:latin typeface="Verdana"/>
                <a:cs typeface="Verdana"/>
              </a:rPr>
              <a:t>Revenue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spcBef>
                <a:spcPts val="5"/>
              </a:spcBef>
              <a:buChar char="–"/>
              <a:tabLst>
                <a:tab pos="412750" algn="l"/>
              </a:tabLst>
            </a:pPr>
            <a:r>
              <a:rPr sz="1100" spc="-80" dirty="0">
                <a:latin typeface="Verdana"/>
                <a:cs typeface="Verdana"/>
              </a:rPr>
              <a:t>Revenue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$14.5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75" dirty="0">
                <a:latin typeface="Verdana"/>
                <a:cs typeface="Verdana"/>
              </a:rPr>
              <a:t>Software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Consulting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revenue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6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4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spcBef>
                <a:spcPts val="300"/>
              </a:spcBef>
              <a:buChar char="•"/>
              <a:tabLst>
                <a:tab pos="184785" algn="l"/>
              </a:tabLst>
            </a:pPr>
            <a:r>
              <a:rPr sz="1100" spc="-10" dirty="0">
                <a:latin typeface="Verdana"/>
                <a:cs typeface="Verdana"/>
              </a:rPr>
              <a:t>Profit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Gross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Profit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Margin: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GAAP:</a:t>
            </a:r>
            <a:r>
              <a:rPr sz="1100" spc="-65" dirty="0">
                <a:latin typeface="Verdana"/>
                <a:cs typeface="Verdana"/>
              </a:rPr>
              <a:t> 55.2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170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points;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Operating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(Non-</a:t>
            </a:r>
            <a:r>
              <a:rPr sz="1100" spc="-10" dirty="0">
                <a:latin typeface="Verdana"/>
                <a:cs typeface="Verdana"/>
              </a:rPr>
              <a:t>GAAP):</a:t>
            </a:r>
            <a:endParaRPr sz="1100">
              <a:latin typeface="Verdana"/>
              <a:cs typeface="Verdana"/>
            </a:endParaRPr>
          </a:p>
          <a:p>
            <a:pPr marL="413384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56.6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190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points</a:t>
            </a:r>
            <a:endParaRPr sz="11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–</a:t>
            </a:r>
            <a:r>
              <a:rPr sz="1100" spc="3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Pre-</a:t>
            </a:r>
            <a:r>
              <a:rPr sz="1100" spc="-85" dirty="0">
                <a:latin typeface="Verdana"/>
                <a:cs typeface="Verdana"/>
              </a:rPr>
              <a:t>Tax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Income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Margin: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GAAP: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8.0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50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points;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Operating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(Non-</a:t>
            </a:r>
            <a:r>
              <a:rPr sz="1100" spc="-10" dirty="0">
                <a:latin typeface="Verdana"/>
                <a:cs typeface="Verdana"/>
              </a:rPr>
              <a:t>GAAP):</a:t>
            </a:r>
            <a:endParaRPr sz="1100">
              <a:latin typeface="Verdana"/>
              <a:cs typeface="Verdana"/>
            </a:endParaRPr>
          </a:p>
          <a:p>
            <a:pPr marL="413384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12.0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50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basis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points</a:t>
            </a:r>
            <a:endParaRPr sz="1100">
              <a:latin typeface="Verdana"/>
              <a:cs typeface="Verdana"/>
            </a:endParaRPr>
          </a:p>
          <a:p>
            <a:pPr marL="184785" indent="-172085">
              <a:lnSpc>
                <a:spcPct val="100000"/>
              </a:lnSpc>
              <a:spcBef>
                <a:spcPts val="300"/>
              </a:spcBef>
              <a:buChar char="•"/>
              <a:tabLst>
                <a:tab pos="184785" algn="l"/>
              </a:tabLst>
            </a:pPr>
            <a:r>
              <a:rPr sz="1100" spc="-7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Flow</a:t>
            </a:r>
            <a:endParaRPr sz="1100">
              <a:latin typeface="Verdana"/>
              <a:cs typeface="Verdana"/>
            </a:endParaRPr>
          </a:p>
          <a:p>
            <a:pPr marL="24130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–</a:t>
            </a:r>
            <a:r>
              <a:rPr sz="1100" spc="3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Net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$4.4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billion;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$2.0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</a:t>
            </a:r>
            <a:endParaRPr sz="11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81227" y="5305971"/>
          <a:ext cx="6410316" cy="1779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/>
                <a:gridCol w="566420"/>
                <a:gridCol w="709930"/>
                <a:gridCol w="109219"/>
                <a:gridCol w="328294"/>
                <a:gridCol w="413384"/>
                <a:gridCol w="269239"/>
                <a:gridCol w="520064"/>
                <a:gridCol w="313054"/>
                <a:gridCol w="414654"/>
                <a:gridCol w="281304"/>
                <a:gridCol w="587375"/>
                <a:gridCol w="414020"/>
                <a:gridCol w="488950"/>
                <a:gridCol w="220979"/>
              </a:tblGrid>
              <a:tr h="194310">
                <a:tc gridSpan="15">
                  <a:txBody>
                    <a:bodyPr/>
                    <a:lstStyle/>
                    <a:p>
                      <a:pPr marL="1906905">
                        <a:lnSpc>
                          <a:spcPts val="1170"/>
                        </a:lnSpc>
                      </a:pPr>
                      <a:r>
                        <a:rPr sz="950" b="1" spc="-35" dirty="0">
                          <a:latin typeface="Tahoma"/>
                          <a:cs typeface="Tahoma"/>
                        </a:rPr>
                        <a:t>FIRST</a:t>
                      </a:r>
                      <a:r>
                        <a:rPr sz="1000" spc="-35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950" b="1" spc="-45" dirty="0">
                          <a:latin typeface="Tahoma"/>
                          <a:cs typeface="Tahoma"/>
                        </a:rPr>
                        <a:t>QUARTER</a:t>
                      </a:r>
                      <a:r>
                        <a:rPr sz="95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40" dirty="0">
                          <a:latin typeface="Tahoma"/>
                          <a:cs typeface="Tahoma"/>
                        </a:rPr>
                        <a:t>2025</a:t>
                      </a:r>
                      <a:r>
                        <a:rPr sz="95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5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95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50" b="1" spc="-40" dirty="0">
                          <a:latin typeface="Tahoma"/>
                          <a:cs typeface="Tahoma"/>
                        </a:rPr>
                        <a:t>STATEMENT</a:t>
                      </a:r>
                      <a:r>
                        <a:rPr sz="950" b="1" spc="-10" dirty="0">
                          <a:latin typeface="Tahoma"/>
                          <a:cs typeface="Tahoma"/>
                        </a:rPr>
                        <a:t> SUMMARY</a:t>
                      </a:r>
                      <a:endParaRPr sz="95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5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20955" algn="r">
                        <a:lnSpc>
                          <a:spcPct val="100000"/>
                        </a:lnSpc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7985" marR="6350">
                        <a:lnSpc>
                          <a:spcPts val="1030"/>
                        </a:lnSpc>
                      </a:pPr>
                      <a:r>
                        <a:rPr sz="900" b="1" spc="-40" dirty="0">
                          <a:latin typeface="Tahoma"/>
                          <a:cs typeface="Tahoma"/>
                        </a:rPr>
                        <a:t>Gross </a:t>
                      </a:r>
                      <a:r>
                        <a:rPr sz="900" b="1" spc="-30" dirty="0">
                          <a:latin typeface="Tahoma"/>
                          <a:cs typeface="Tahoma"/>
                        </a:rPr>
                        <a:t>Profit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just">
                        <a:lnSpc>
                          <a:spcPct val="95000"/>
                        </a:lnSpc>
                        <a:spcBef>
                          <a:spcPts val="375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Gross Profit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Margin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0010" marR="25400">
                        <a:lnSpc>
                          <a:spcPts val="1030"/>
                        </a:lnSpc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Pre-tax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Income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8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just">
                        <a:lnSpc>
                          <a:spcPct val="95000"/>
                        </a:lnSpc>
                        <a:spcBef>
                          <a:spcPts val="375"/>
                        </a:spcBef>
                      </a:pPr>
                      <a:r>
                        <a:rPr sz="900" b="1" spc="-35" dirty="0">
                          <a:latin typeface="Tahoma"/>
                          <a:cs typeface="Tahoma"/>
                        </a:rPr>
                        <a:t>Pre-tax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Income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09220" marR="63500">
                        <a:lnSpc>
                          <a:spcPts val="1030"/>
                        </a:lnSpc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Net 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Income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8895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ct val="95000"/>
                        </a:lnSpc>
                        <a:spcBef>
                          <a:spcPts val="375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Diluted Earnings </a:t>
                      </a:r>
                      <a:r>
                        <a:rPr sz="900" b="1" spc="-25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30" dirty="0">
                          <a:latin typeface="Tahoma"/>
                          <a:cs typeface="Tahoma"/>
                        </a:rPr>
                        <a:t>Share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47675">
                <a:tc>
                  <a:txBody>
                    <a:bodyPr/>
                    <a:lstStyle/>
                    <a:p>
                      <a:pPr marL="42545" marR="129539" algn="just">
                        <a:lnSpc>
                          <a:spcPct val="95000"/>
                        </a:lnSpc>
                        <a:spcBef>
                          <a:spcPts val="215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GAAP</a:t>
                      </a:r>
                      <a:r>
                        <a:rPr sz="900" b="1" spc="-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50" dirty="0">
                          <a:latin typeface="Tahoma"/>
                          <a:cs typeface="Tahoma"/>
                        </a:rPr>
                        <a:t>from </a:t>
                      </a:r>
                      <a:r>
                        <a:rPr sz="900" b="1" spc="-40" dirty="0">
                          <a:latin typeface="Tahoma"/>
                          <a:cs typeface="Tahoma"/>
                        </a:rPr>
                        <a:t>Continuing Operations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37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10" dirty="0">
                          <a:latin typeface="Tahoma"/>
                          <a:cs typeface="Tahoma"/>
                        </a:rPr>
                        <a:t>14.5B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86715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3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8.0B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55.2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1.2B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900" b="1" spc="-25" dirty="0">
                          <a:latin typeface="Tahoma"/>
                          <a:cs typeface="Tahoma"/>
                        </a:rPr>
                        <a:t>8.0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47320" algn="ctr">
                        <a:lnSpc>
                          <a:spcPct val="100000"/>
                        </a:lnSpc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9685" algn="r">
                        <a:lnSpc>
                          <a:spcPct val="100000"/>
                        </a:lnSpc>
                        <a:tabLst>
                          <a:tab pos="20256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1.1B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R="120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68300" marR="12065">
                        <a:lnSpc>
                          <a:spcPct val="100000"/>
                        </a:lnSpc>
                        <a:tabLst>
                          <a:tab pos="57848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1.12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05104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Year/Year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1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965"/>
                        </a:lnSpc>
                      </a:pPr>
                      <a:r>
                        <a:rPr sz="1350" spc="-30" baseline="-18518" dirty="0">
                          <a:latin typeface="Verdana"/>
                          <a:cs typeface="Verdana"/>
                        </a:rPr>
                        <a:t>%</a:t>
                      </a:r>
                      <a:r>
                        <a:rPr sz="550" spc="-20" dirty="0">
                          <a:latin typeface="Verdana"/>
                          <a:cs typeface="Verdana"/>
                        </a:rPr>
                        <a:t>(1)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4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1.7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8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0.5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0" dirty="0">
                          <a:latin typeface="Verdana"/>
                          <a:cs typeface="Verdana"/>
                        </a:rPr>
                        <a:t>(33)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965"/>
                        </a:lnSpc>
                      </a:pPr>
                      <a:r>
                        <a:rPr sz="1350" spc="-30" baseline="-18518" dirty="0">
                          <a:latin typeface="Verdana"/>
                          <a:cs typeface="Verdana"/>
                        </a:rPr>
                        <a:t>%</a:t>
                      </a:r>
                      <a:r>
                        <a:rPr sz="550" spc="-20" dirty="0">
                          <a:latin typeface="Verdana"/>
                          <a:cs typeface="Verdana"/>
                        </a:rPr>
                        <a:t>(2)</a:t>
                      </a:r>
                      <a:endParaRPr sz="55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20" dirty="0">
                          <a:latin typeface="Verdana"/>
                          <a:cs typeface="Verdana"/>
                        </a:rPr>
                        <a:t>(34)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2349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42545" marR="71120">
                        <a:lnSpc>
                          <a:spcPts val="900"/>
                        </a:lnSpc>
                        <a:spcBef>
                          <a:spcPts val="204"/>
                        </a:spcBef>
                      </a:pPr>
                      <a:r>
                        <a:rPr sz="900" b="1" spc="-10" dirty="0">
                          <a:latin typeface="Tahoma"/>
                          <a:cs typeface="Tahoma"/>
                        </a:rPr>
                        <a:t>Operating </a:t>
                      </a:r>
                      <a:r>
                        <a:rPr sz="900" b="1" spc="-65" dirty="0">
                          <a:latin typeface="Tahoma"/>
                          <a:cs typeface="Tahoma"/>
                        </a:rPr>
                        <a:t>(Non-</a:t>
                      </a:r>
                      <a:r>
                        <a:rPr sz="900" b="1" spc="-35" dirty="0">
                          <a:latin typeface="Tahoma"/>
                          <a:cs typeface="Tahoma"/>
                        </a:rPr>
                        <a:t>GAAP)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26034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3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8.2B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56.6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00" b="1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spc="4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1.7B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00" b="1" spc="-20" dirty="0">
                          <a:latin typeface="Tahoma"/>
                          <a:cs typeface="Tahoma"/>
                        </a:rPr>
                        <a:t>12.0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7320" algn="ctr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20256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1.5B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368300" marR="12065">
                        <a:lnSpc>
                          <a:spcPct val="100000"/>
                        </a:lnSpc>
                        <a:spcBef>
                          <a:spcPts val="805"/>
                        </a:spcBef>
                        <a:tabLst>
                          <a:tab pos="578485" algn="l"/>
                        </a:tabLst>
                      </a:pPr>
                      <a:r>
                        <a:rPr sz="9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9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900" b="1" spc="-20" dirty="0">
                          <a:latin typeface="Tahoma"/>
                          <a:cs typeface="Tahoma"/>
                        </a:rPr>
                        <a:t>1.60</a:t>
                      </a:r>
                      <a:endParaRPr sz="900">
                        <a:latin typeface="Tahoma"/>
                        <a:cs typeface="Tahoma"/>
                      </a:endParaRPr>
                    </a:p>
                  </a:txBody>
                  <a:tcPr marL="0" marR="0" marT="10223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94310">
                <a:tc>
                  <a:txBody>
                    <a:bodyPr/>
                    <a:lstStyle/>
                    <a:p>
                      <a:pPr marR="58419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latin typeface="Verdana"/>
                          <a:cs typeface="Verdana"/>
                        </a:rPr>
                        <a:t>Year/Year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4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034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1.9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5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0.5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Pts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68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(3)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25" dirty="0">
                          <a:latin typeface="Verdana"/>
                          <a:cs typeface="Verdana"/>
                        </a:rPr>
                        <a:t>(5)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50" dirty="0">
                          <a:latin typeface="Verdana"/>
                          <a:cs typeface="Verdana"/>
                        </a:rPr>
                        <a:t>%</a:t>
                      </a:r>
                      <a:endParaRPr sz="9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673100" y="7067778"/>
            <a:ext cx="6405245" cy="138874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340"/>
              </a:spcBef>
              <a:buSzPct val="93750"/>
              <a:buAutoNum type="arabicParenBoth"/>
              <a:tabLst>
                <a:tab pos="188595" algn="l"/>
              </a:tabLst>
            </a:pPr>
            <a:r>
              <a:rPr sz="800" spc="-85" dirty="0">
                <a:latin typeface="Verdana"/>
                <a:cs typeface="Verdana"/>
              </a:rPr>
              <a:t>2%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constant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currency.</a:t>
            </a:r>
            <a:endParaRPr sz="800">
              <a:latin typeface="Verdana"/>
              <a:cs typeface="Verdana"/>
            </a:endParaRPr>
          </a:p>
          <a:p>
            <a:pPr marL="164465" indent="-158750">
              <a:lnSpc>
                <a:spcPct val="100000"/>
              </a:lnSpc>
              <a:spcBef>
                <a:spcPts val="240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45" dirty="0">
                <a:latin typeface="Verdana"/>
                <a:cs typeface="Verdana"/>
              </a:rPr>
              <a:t>GAAP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net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includes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 </a:t>
            </a:r>
            <a:r>
              <a:rPr sz="800" spc="-50" dirty="0">
                <a:latin typeface="Verdana"/>
                <a:cs typeface="Verdana"/>
              </a:rPr>
              <a:t>benefit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taxes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due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resolution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certain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audit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matters.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800">
              <a:latin typeface="Verdana"/>
              <a:cs typeface="Verdana"/>
            </a:endParaRPr>
          </a:p>
          <a:p>
            <a:pPr marL="12700" marR="5080" indent="457200">
              <a:lnSpc>
                <a:spcPct val="93400"/>
              </a:lnSpc>
            </a:pPr>
            <a:r>
              <a:rPr sz="1100" spc="-70" dirty="0">
                <a:latin typeface="Verdana"/>
                <a:cs typeface="Verdana"/>
              </a:rPr>
              <a:t>“Revenue</a:t>
            </a:r>
            <a:r>
              <a:rPr sz="1100" spc="-85" dirty="0">
                <a:latin typeface="Verdana"/>
                <a:cs typeface="Verdana"/>
              </a:rPr>
              <a:t> growth,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once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again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led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by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Software, </a:t>
            </a:r>
            <a:r>
              <a:rPr sz="1100" spc="-65" dirty="0">
                <a:latin typeface="Verdana"/>
                <a:cs typeface="Verdana"/>
              </a:rPr>
              <a:t>combined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 </a:t>
            </a:r>
            <a:r>
              <a:rPr sz="1100" spc="-70" dirty="0">
                <a:latin typeface="Verdana"/>
                <a:cs typeface="Verdana"/>
              </a:rPr>
              <a:t>productivity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initiatives,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drove </a:t>
            </a:r>
            <a:r>
              <a:rPr sz="1100" spc="-60" dirty="0">
                <a:latin typeface="Verdana"/>
                <a:cs typeface="Verdana"/>
              </a:rPr>
              <a:t>significant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gross </a:t>
            </a:r>
            <a:r>
              <a:rPr sz="1100" spc="-90" dirty="0">
                <a:latin typeface="Verdana"/>
                <a:cs typeface="Verdana"/>
              </a:rPr>
              <a:t>margin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expansion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leverage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quarter,"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said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James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Kavanaugh, </a:t>
            </a: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senior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vice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president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chief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financial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officer.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"With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our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focus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fundamentals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our </a:t>
            </a:r>
            <a:r>
              <a:rPr sz="1100" spc="-65" dirty="0">
                <a:latin typeface="Verdana"/>
                <a:cs typeface="Verdana"/>
              </a:rPr>
              <a:t>business,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continue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maintain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strong </a:t>
            </a:r>
            <a:r>
              <a:rPr sz="1100" spc="-55" dirty="0">
                <a:latin typeface="Verdana"/>
                <a:cs typeface="Verdana"/>
              </a:rPr>
              <a:t>liquidity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position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yield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solid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flow.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This </a:t>
            </a:r>
            <a:r>
              <a:rPr sz="1100" spc="-60" dirty="0">
                <a:latin typeface="Verdana"/>
                <a:cs typeface="Verdana"/>
              </a:rPr>
              <a:t>enables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our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return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value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shareholders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through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dividends.”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445109"/>
            <a:ext cx="6313805" cy="89528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100" b="1" spc="-55" dirty="0">
                <a:latin typeface="Tahoma"/>
                <a:cs typeface="Tahoma"/>
              </a:rPr>
              <a:t>Segment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Results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for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First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Quarter</a:t>
            </a:r>
            <a:endParaRPr sz="11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60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5" dirty="0">
                <a:latin typeface="Verdana"/>
                <a:cs typeface="Verdana"/>
              </a:rPr>
              <a:t>Software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$6.3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SzPct val="90909"/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Hybrid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Cloud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(Red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Hat)</a:t>
            </a:r>
            <a:r>
              <a:rPr sz="1100" spc="-80" dirty="0">
                <a:latin typeface="Verdana"/>
                <a:cs typeface="Verdana"/>
              </a:rPr>
              <a:t> 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12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13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70" dirty="0">
                <a:latin typeface="Verdana"/>
                <a:cs typeface="Verdana"/>
              </a:rPr>
              <a:t>Automation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up</a:t>
            </a:r>
            <a:r>
              <a:rPr sz="1100" spc="17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15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5" dirty="0">
                <a:latin typeface="Verdana"/>
                <a:cs typeface="Verdana"/>
              </a:rPr>
              <a:t>Data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Transaction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Processing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flat,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0" dirty="0">
                <a:latin typeface="Verdana"/>
                <a:cs typeface="Verdana"/>
              </a:rPr>
              <a:t>Consulting</a:t>
            </a:r>
            <a:r>
              <a:rPr sz="1100" i="1" spc="-90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$5.1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85" dirty="0">
                <a:latin typeface="Verdana"/>
                <a:cs typeface="Verdana"/>
              </a:rPr>
              <a:t>Strategy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Technology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55" dirty="0">
                <a:latin typeface="Verdana"/>
                <a:cs typeface="Verdana"/>
              </a:rPr>
              <a:t>Intelligent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Operations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80" dirty="0">
                <a:latin typeface="Verdana"/>
                <a:cs typeface="Verdana"/>
              </a:rPr>
              <a:t>Infrastructure</a:t>
            </a:r>
            <a:r>
              <a:rPr sz="1100" i="1" spc="-75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$2.9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6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4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currency: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Hybrid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Infrastructure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9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7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100455" lvl="2" indent="-227965">
              <a:lnSpc>
                <a:spcPct val="100000"/>
              </a:lnSpc>
              <a:buSzPct val="90909"/>
              <a:buChar char="•"/>
              <a:tabLst>
                <a:tab pos="1100455" algn="l"/>
              </a:tabLst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20" dirty="0">
                <a:latin typeface="Verdana"/>
                <a:cs typeface="Verdana"/>
              </a:rPr>
              <a:t>Z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15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down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14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100455" lvl="2" indent="-227965">
              <a:lnSpc>
                <a:spcPct val="100000"/>
              </a:lnSpc>
              <a:buSzPct val="90909"/>
              <a:buChar char="•"/>
              <a:tabLst>
                <a:tab pos="1100455" algn="l"/>
              </a:tabLst>
            </a:pPr>
            <a:r>
              <a:rPr sz="1100" spc="-60" dirty="0">
                <a:latin typeface="Verdana"/>
                <a:cs typeface="Verdana"/>
              </a:rPr>
              <a:t>Distributed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5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4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412750" lvl="1" indent="-171450">
              <a:lnSpc>
                <a:spcPct val="100000"/>
              </a:lnSpc>
              <a:spcBef>
                <a:spcPts val="5"/>
              </a:spcBef>
              <a:buChar char="–"/>
              <a:tabLst>
                <a:tab pos="412750" algn="l"/>
              </a:tabLst>
            </a:pPr>
            <a:r>
              <a:rPr sz="1100" spc="-65" dirty="0">
                <a:latin typeface="Verdana"/>
                <a:cs typeface="Verdana"/>
              </a:rPr>
              <a:t>Infrastructure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Support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3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flat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320"/>
              </a:spcBef>
              <a:buFont typeface="Verdana"/>
              <a:buChar char="•"/>
              <a:tabLst>
                <a:tab pos="241300" algn="l"/>
              </a:tabLst>
            </a:pPr>
            <a:r>
              <a:rPr sz="1100" i="1" spc="-65" dirty="0">
                <a:latin typeface="Verdana"/>
                <a:cs typeface="Verdana"/>
              </a:rPr>
              <a:t>Financing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275" dirty="0">
                <a:latin typeface="Verdana"/>
                <a:cs typeface="Verdana"/>
              </a:rPr>
              <a:t>—</a:t>
            </a:r>
            <a:r>
              <a:rPr sz="1100" i="1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revenues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$0.2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percent,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percent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constant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35" dirty="0">
                <a:latin typeface="Tahoma"/>
                <a:cs typeface="Tahoma"/>
              </a:rPr>
              <a:t>Cash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Flow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and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Balance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Sheet</a:t>
            </a:r>
            <a:endParaRPr sz="1100">
              <a:latin typeface="Tahoma"/>
              <a:cs typeface="Tahoma"/>
            </a:endParaRPr>
          </a:p>
          <a:p>
            <a:pPr marL="12700" marR="73660" indent="457200">
              <a:lnSpc>
                <a:spcPct val="93200"/>
              </a:lnSpc>
              <a:spcBef>
                <a:spcPts val="685"/>
              </a:spcBef>
            </a:pPr>
            <a:r>
              <a:rPr sz="1100" spc="-60" dirty="0">
                <a:latin typeface="Verdana"/>
                <a:cs typeface="Verdana"/>
              </a:rPr>
              <a:t>In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first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quarter,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company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$4.4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billion,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$0.2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year. </a:t>
            </a:r>
            <a:r>
              <a:rPr sz="1100" spc="-40" dirty="0">
                <a:latin typeface="Verdana"/>
                <a:cs typeface="Verdana"/>
              </a:rPr>
              <a:t>IBM’s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flow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was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$2.0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$0.1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year.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The </a:t>
            </a:r>
            <a:r>
              <a:rPr sz="1100" spc="-80" dirty="0">
                <a:latin typeface="Verdana"/>
                <a:cs typeface="Verdana"/>
              </a:rPr>
              <a:t>company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returned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$1.5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shareholders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dividends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first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invested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ts val="1195"/>
              </a:lnSpc>
            </a:pPr>
            <a:r>
              <a:rPr sz="1100" spc="-65" dirty="0">
                <a:latin typeface="Verdana"/>
                <a:cs typeface="Verdana"/>
              </a:rPr>
              <a:t>$7.1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acquisitions,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75" dirty="0">
                <a:latin typeface="Verdana"/>
                <a:cs typeface="Verdana"/>
              </a:rPr>
              <a:t> the </a:t>
            </a:r>
            <a:r>
              <a:rPr sz="1100" spc="-60" dirty="0">
                <a:latin typeface="Verdana"/>
                <a:cs typeface="Verdana"/>
              </a:rPr>
              <a:t>acquisition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HashiCorp.</a:t>
            </a:r>
            <a:endParaRPr sz="1100">
              <a:latin typeface="Verdana"/>
              <a:cs typeface="Verdana"/>
            </a:endParaRPr>
          </a:p>
          <a:p>
            <a:pPr marL="12700" marR="133985" indent="457200">
              <a:lnSpc>
                <a:spcPts val="1320"/>
              </a:lnSpc>
              <a:spcBef>
                <a:spcPts val="5"/>
              </a:spcBef>
            </a:pP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ended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first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quarter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$17.6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cash,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restricted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marketable </a:t>
            </a:r>
            <a:r>
              <a:rPr sz="1100" spc="-60" dirty="0">
                <a:latin typeface="Verdana"/>
                <a:cs typeface="Verdana"/>
              </a:rPr>
              <a:t>securities,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$2.8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billion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year-</a:t>
            </a:r>
            <a:r>
              <a:rPr sz="1100" spc="-65" dirty="0">
                <a:latin typeface="Verdana"/>
                <a:cs typeface="Verdana"/>
              </a:rPr>
              <a:t>end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2024.</a:t>
            </a:r>
            <a:r>
              <a:rPr sz="1100" spc="-85" dirty="0">
                <a:latin typeface="Verdana"/>
                <a:cs typeface="Verdana"/>
              </a:rPr>
              <a:t> Debt,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Financing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debt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$10.0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billion, </a:t>
            </a:r>
            <a:r>
              <a:rPr sz="1100" spc="-55" dirty="0">
                <a:latin typeface="Verdana"/>
                <a:cs typeface="Verdana"/>
              </a:rPr>
              <a:t>totaled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$63.3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up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$8.3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billion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date.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100" b="1" spc="-10" dirty="0">
                <a:latin typeface="Tahoma"/>
                <a:cs typeface="Tahoma"/>
              </a:rPr>
              <a:t>Expectations</a:t>
            </a:r>
            <a:endParaRPr sz="1100">
              <a:latin typeface="Tahoma"/>
              <a:cs typeface="Tahoma"/>
            </a:endParaRPr>
          </a:p>
          <a:p>
            <a:pPr marL="241300" marR="280670" indent="-229235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1100" spc="-85" dirty="0">
                <a:latin typeface="Verdana"/>
                <a:cs typeface="Verdana"/>
              </a:rPr>
              <a:t>Revenue: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company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continues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expect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full-</a:t>
            </a:r>
            <a:r>
              <a:rPr sz="1100" spc="-75" dirty="0">
                <a:latin typeface="Verdana"/>
                <a:cs typeface="Verdana"/>
              </a:rPr>
              <a:t>year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constant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currency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revenue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growth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at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least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5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percent.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At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current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foreign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exchange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rates,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currency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expected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about</a:t>
            </a:r>
            <a:r>
              <a:rPr sz="1100" spc="-14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one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one-</a:t>
            </a:r>
            <a:r>
              <a:rPr sz="1100" spc="-70" dirty="0">
                <a:latin typeface="Verdana"/>
                <a:cs typeface="Verdana"/>
              </a:rPr>
              <a:t>and-</a:t>
            </a:r>
            <a:r>
              <a:rPr sz="1100" spc="-75" dirty="0">
                <a:latin typeface="Verdana"/>
                <a:cs typeface="Verdana"/>
              </a:rPr>
              <a:t>a-</a:t>
            </a:r>
            <a:r>
              <a:rPr sz="1100" spc="-55" dirty="0">
                <a:latin typeface="Verdana"/>
                <a:cs typeface="Verdana"/>
              </a:rPr>
              <a:t>half-point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tailwind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growth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for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466725" marR="80645" lvl="1" indent="-225425" algn="just">
              <a:lnSpc>
                <a:spcPct val="100000"/>
              </a:lnSpc>
              <a:spcBef>
                <a:spcPts val="75"/>
              </a:spcBef>
              <a:buFont typeface="Microsoft Sans Serif"/>
              <a:buChar char="–"/>
              <a:tabLst>
                <a:tab pos="469900" algn="l"/>
              </a:tabLst>
            </a:pPr>
            <a:r>
              <a:rPr sz="1100" spc="-110" dirty="0">
                <a:latin typeface="Verdana"/>
                <a:cs typeface="Verdana"/>
              </a:rPr>
              <a:t>The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company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expects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second-</a:t>
            </a:r>
            <a:r>
              <a:rPr sz="1100" spc="-85" dirty="0">
                <a:latin typeface="Verdana"/>
                <a:cs typeface="Verdana"/>
              </a:rPr>
              <a:t>quarter</a:t>
            </a:r>
            <a:r>
              <a:rPr sz="1100" spc="4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revenue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150" dirty="0">
                <a:latin typeface="Verdana"/>
                <a:cs typeface="Verdana"/>
              </a:rPr>
              <a:t>to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125" dirty="0">
                <a:latin typeface="Verdana"/>
                <a:cs typeface="Verdana"/>
              </a:rPr>
              <a:t>be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150" dirty="0">
                <a:latin typeface="Verdana"/>
                <a:cs typeface="Verdana"/>
              </a:rPr>
              <a:t>in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114" dirty="0">
                <a:latin typeface="Verdana"/>
                <a:cs typeface="Verdana"/>
              </a:rPr>
              <a:t>the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range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120" dirty="0">
                <a:latin typeface="Verdana"/>
                <a:cs typeface="Verdana"/>
              </a:rPr>
              <a:t>of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$16.40</a:t>
            </a:r>
            <a:r>
              <a:rPr sz="1100" spc="3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billion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150" dirty="0">
                <a:latin typeface="Verdana"/>
                <a:cs typeface="Verdana"/>
              </a:rPr>
              <a:t>to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$16.75 	billion.</a:t>
            </a:r>
            <a:endParaRPr sz="1100">
              <a:latin typeface="Verdana"/>
              <a:cs typeface="Verdana"/>
            </a:endParaRPr>
          </a:p>
          <a:p>
            <a:pPr marL="241300" marR="19685" indent="-229235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241300" algn="l"/>
              </a:tabLst>
            </a:pPr>
            <a:r>
              <a:rPr sz="1100" spc="-80" dirty="0">
                <a:latin typeface="Verdana"/>
                <a:cs typeface="Verdana"/>
              </a:rPr>
              <a:t>Free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cash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flow: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The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company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continues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165" dirty="0">
                <a:latin typeface="Verdana"/>
                <a:cs typeface="Verdana"/>
              </a:rPr>
              <a:t>to</a:t>
            </a:r>
            <a:r>
              <a:rPr sz="1100" spc="7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expect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about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$13.5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billion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40" dirty="0">
                <a:latin typeface="Verdana"/>
                <a:cs typeface="Verdana"/>
              </a:rPr>
              <a:t>in</a:t>
            </a:r>
            <a:r>
              <a:rPr sz="1100" spc="4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free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cash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flow</a:t>
            </a:r>
            <a:r>
              <a:rPr sz="1100" spc="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for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114" dirty="0">
                <a:latin typeface="Verdana"/>
                <a:cs typeface="Verdana"/>
              </a:rPr>
              <a:t>the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full </a:t>
            </a:r>
            <a:r>
              <a:rPr sz="1100" spc="-10" dirty="0">
                <a:latin typeface="Verdana"/>
                <a:cs typeface="Verdana"/>
              </a:rPr>
              <a:t>year.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100" b="1" spc="-40" dirty="0">
                <a:latin typeface="Tahoma"/>
                <a:cs typeface="Tahoma"/>
              </a:rPr>
              <a:t>Forward-</a:t>
            </a:r>
            <a:r>
              <a:rPr sz="1100" b="1" spc="-55" dirty="0">
                <a:latin typeface="Tahoma"/>
                <a:cs typeface="Tahoma"/>
              </a:rPr>
              <a:t>Looking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and</a:t>
            </a:r>
            <a:r>
              <a:rPr sz="1100" b="1" spc="-3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Cautionary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Statements</a:t>
            </a:r>
            <a:endParaRPr sz="1100">
              <a:latin typeface="Tahoma"/>
              <a:cs typeface="Tahoma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600"/>
              </a:spcBef>
            </a:pPr>
            <a:r>
              <a:rPr sz="1100" spc="-60" dirty="0">
                <a:latin typeface="Verdana"/>
                <a:cs typeface="Verdana"/>
              </a:rPr>
              <a:t>Except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historical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information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discussions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contained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herein,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contained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2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this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release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constitute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forward-looking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within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meaning</a:t>
            </a:r>
            <a:r>
              <a:rPr sz="1100" spc="2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2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2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Private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Securities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Litigation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Reform</a:t>
            </a:r>
            <a:r>
              <a:rPr sz="1100" spc="-45" dirty="0">
                <a:latin typeface="Verdana"/>
                <a:cs typeface="Verdana"/>
              </a:rPr>
              <a:t> Act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1995.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Forward-</a:t>
            </a:r>
            <a:r>
              <a:rPr sz="1100" spc="-55" dirty="0">
                <a:latin typeface="Verdana"/>
                <a:cs typeface="Verdana"/>
              </a:rPr>
              <a:t>looking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are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based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assumptions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regarding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future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business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financial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performance.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These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statements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involve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number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risks,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uncertainties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that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could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cause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actual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results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differ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materially,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including,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not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limited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to,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following: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downturn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economic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environment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client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spending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budgets;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innovation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initiatives;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damage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reputation;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from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investing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growth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opportunities;</a:t>
            </a:r>
            <a:r>
              <a:rPr sz="1100" spc="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4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intellectual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property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portfolio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prevent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competitive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offerings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company</a:t>
            </a:r>
            <a:r>
              <a:rPr sz="1100" spc="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obtain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necessary</a:t>
            </a:r>
            <a:r>
              <a:rPr sz="1100" spc="1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licenses;</a:t>
            </a:r>
            <a:r>
              <a:rPr sz="1100" spc="1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ability</a:t>
            </a:r>
            <a:r>
              <a:rPr sz="1100" spc="4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3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successfully</a:t>
            </a:r>
            <a:r>
              <a:rPr sz="1100" spc="40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manage</a:t>
            </a:r>
            <a:r>
              <a:rPr sz="1100" spc="4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acquisitions,</a:t>
            </a:r>
            <a:r>
              <a:rPr sz="1100" dirty="0">
                <a:latin typeface="Verdana"/>
                <a:cs typeface="Verdana"/>
              </a:rPr>
              <a:t>  </a:t>
            </a:r>
            <a:r>
              <a:rPr sz="1100" spc="-45" dirty="0">
                <a:latin typeface="Verdana"/>
                <a:cs typeface="Verdana"/>
              </a:rPr>
              <a:t>alliances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3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divestitures,</a:t>
            </a:r>
            <a:r>
              <a:rPr sz="1100" spc="3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-65" dirty="0">
                <a:latin typeface="Verdana"/>
                <a:cs typeface="Verdana"/>
              </a:rPr>
              <a:t> integration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challenges,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failure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achieve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objectives,</a:t>
            </a:r>
            <a:r>
              <a:rPr sz="1100" spc="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assumption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retention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liabilities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higher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debt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levels;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fluctuations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financial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results;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local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legal,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economic,</a:t>
            </a:r>
            <a:r>
              <a:rPr sz="1100" spc="-45" dirty="0">
                <a:latin typeface="Verdana"/>
                <a:cs typeface="Verdana"/>
              </a:rPr>
              <a:t> political,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health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conditions;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failure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meet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growth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productivity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objectives;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ineffective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012" y="520699"/>
            <a:ext cx="6314440" cy="740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 algn="just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latin typeface="Verdana"/>
                <a:cs typeface="Verdana"/>
              </a:rPr>
              <a:t>internal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controls;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accounting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estimates;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impairment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goodwill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amortizable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intangible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assets;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ability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attract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retain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key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employees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its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reliance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critical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skills;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relationships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critical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suppliers;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product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service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quality</a:t>
            </a:r>
            <a:r>
              <a:rPr sz="1100" spc="-65" dirty="0">
                <a:latin typeface="Verdana"/>
                <a:cs typeface="Verdana"/>
              </a:rPr>
              <a:t> issues;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development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18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AI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7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generative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AI,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including</a:t>
            </a:r>
            <a:r>
              <a:rPr sz="1100" spc="19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company's</a:t>
            </a:r>
            <a:r>
              <a:rPr sz="1100" spc="17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increased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offerings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use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AI-</a:t>
            </a:r>
            <a:r>
              <a:rPr sz="1100" spc="-55" dirty="0">
                <a:latin typeface="Verdana"/>
                <a:cs typeface="Verdana"/>
              </a:rPr>
              <a:t>based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technologies;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impacts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of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business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government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clients;</a:t>
            </a:r>
            <a:r>
              <a:rPr sz="1100" spc="-1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reliance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third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party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distribution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channels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ecosystems;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cybersecurity,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privacy,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AI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considerations;</a:t>
            </a:r>
            <a:r>
              <a:rPr sz="1100" spc="-70" dirty="0">
                <a:latin typeface="Verdana"/>
                <a:cs typeface="Verdana"/>
              </a:rPr>
              <a:t> adverse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effects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related</a:t>
            </a:r>
            <a:r>
              <a:rPr sz="1100" spc="14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climate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change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1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environmental</a:t>
            </a:r>
            <a:r>
              <a:rPr sz="1100" spc="13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matters;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tax</a:t>
            </a:r>
            <a:r>
              <a:rPr sz="1100" spc="15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matters;</a:t>
            </a:r>
            <a:r>
              <a:rPr sz="1100" spc="15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legal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proceedings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investigatory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risks;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2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pension</a:t>
            </a:r>
            <a:r>
              <a:rPr sz="1100" spc="27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plans;</a:t>
            </a:r>
            <a:r>
              <a:rPr sz="1100" spc="26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currency</a:t>
            </a:r>
            <a:r>
              <a:rPr sz="1100" spc="27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fluctuations</a:t>
            </a:r>
            <a:r>
              <a:rPr sz="1100" spc="26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customer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financing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risks;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impact</a:t>
            </a:r>
            <a:r>
              <a:rPr sz="1100" spc="-45" dirty="0">
                <a:latin typeface="Verdana"/>
                <a:cs typeface="Verdana"/>
              </a:rPr>
              <a:t> of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changes</a:t>
            </a:r>
            <a:r>
              <a:rPr sz="1100" spc="-50" dirty="0">
                <a:latin typeface="Verdana"/>
                <a:cs typeface="Verdana"/>
              </a:rPr>
              <a:t> in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market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liquidity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conditions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customer</a:t>
            </a:r>
            <a:r>
              <a:rPr sz="1100" spc="-50" dirty="0">
                <a:latin typeface="Verdana"/>
                <a:cs typeface="Verdana"/>
              </a:rPr>
              <a:t> credit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on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receivables;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risk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related</a:t>
            </a:r>
            <a:r>
              <a:rPr sz="1100" spc="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IBM</a:t>
            </a:r>
            <a:r>
              <a:rPr sz="1100" spc="114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securities;</a:t>
            </a:r>
            <a:r>
              <a:rPr sz="1100" spc="114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risks,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uncertainties</a:t>
            </a:r>
            <a:r>
              <a:rPr sz="1100" spc="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factors</a:t>
            </a:r>
            <a:r>
              <a:rPr sz="1100" spc="-45" dirty="0">
                <a:latin typeface="Verdana"/>
                <a:cs typeface="Verdana"/>
              </a:rPr>
              <a:t> discussed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10-</a:t>
            </a:r>
            <a:r>
              <a:rPr sz="1100" spc="-75" dirty="0">
                <a:latin typeface="Verdana"/>
                <a:cs typeface="Verdana"/>
              </a:rPr>
              <a:t>Qs,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10-</a:t>
            </a:r>
            <a:r>
              <a:rPr sz="1100" spc="-70" dirty="0">
                <a:latin typeface="Verdana"/>
                <a:cs typeface="Verdana"/>
              </a:rPr>
              <a:t>K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company’s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other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filings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with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U.S. </a:t>
            </a:r>
            <a:r>
              <a:rPr sz="1100" spc="-60" dirty="0">
                <a:latin typeface="Verdana"/>
                <a:cs typeface="Verdana"/>
              </a:rPr>
              <a:t>Securities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and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Exchange</a:t>
            </a:r>
            <a:r>
              <a:rPr sz="1100" spc="-13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Commission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or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materials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incorporated</a:t>
            </a:r>
            <a:r>
              <a:rPr sz="1100" spc="-13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therein</a:t>
            </a:r>
            <a:r>
              <a:rPr sz="1100" spc="-14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by</a:t>
            </a:r>
            <a:r>
              <a:rPr sz="1100" spc="-12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reference.</a:t>
            </a:r>
            <a:endParaRPr sz="1100">
              <a:latin typeface="Verdana"/>
              <a:cs typeface="Verdana"/>
            </a:endParaRPr>
          </a:p>
          <a:p>
            <a:pPr marL="12700" marR="5080" indent="457200" algn="just">
              <a:lnSpc>
                <a:spcPct val="100000"/>
              </a:lnSpc>
              <a:spcBef>
                <a:spcPts val="5"/>
              </a:spcBef>
            </a:pPr>
            <a:r>
              <a:rPr sz="1100" spc="-120" dirty="0">
                <a:latin typeface="Verdana"/>
                <a:cs typeface="Verdana"/>
              </a:rPr>
              <a:t>Any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forward-</a:t>
            </a:r>
            <a:r>
              <a:rPr sz="1100" spc="-75" dirty="0">
                <a:latin typeface="Verdana"/>
                <a:cs typeface="Verdana"/>
              </a:rPr>
              <a:t>looking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statement</a:t>
            </a:r>
            <a:r>
              <a:rPr sz="1100" spc="-2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in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this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release</a:t>
            </a:r>
            <a:r>
              <a:rPr sz="1100" spc="1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speaks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only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145" dirty="0">
                <a:latin typeface="Verdana"/>
                <a:cs typeface="Verdana"/>
              </a:rPr>
              <a:t>as</a:t>
            </a:r>
            <a:r>
              <a:rPr sz="1100" spc="5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of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the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date</a:t>
            </a:r>
            <a:r>
              <a:rPr sz="1100" dirty="0">
                <a:latin typeface="Verdana"/>
                <a:cs typeface="Verdana"/>
              </a:rPr>
              <a:t> </a:t>
            </a:r>
            <a:r>
              <a:rPr sz="1100" spc="-155" dirty="0">
                <a:latin typeface="Verdana"/>
                <a:cs typeface="Verdana"/>
              </a:rPr>
              <a:t>on</a:t>
            </a:r>
            <a:r>
              <a:rPr sz="1100" spc="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which</a:t>
            </a:r>
            <a:r>
              <a:rPr sz="1100" spc="25" dirty="0">
                <a:latin typeface="Verdana"/>
                <a:cs typeface="Verdana"/>
              </a:rPr>
              <a:t> </a:t>
            </a:r>
            <a:r>
              <a:rPr sz="1100" spc="-105" dirty="0">
                <a:latin typeface="Verdana"/>
                <a:cs typeface="Verdana"/>
              </a:rPr>
              <a:t>it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is</a:t>
            </a:r>
            <a:r>
              <a:rPr sz="1100" spc="2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made. </a:t>
            </a:r>
            <a:r>
              <a:rPr sz="1100" spc="-45" dirty="0">
                <a:latin typeface="Verdana"/>
                <a:cs typeface="Verdana"/>
              </a:rPr>
              <a:t>Except</a:t>
            </a:r>
            <a:r>
              <a:rPr sz="1100" spc="-5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as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required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by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law,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the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company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assumes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no</a:t>
            </a:r>
            <a:r>
              <a:rPr sz="1100" spc="-50" dirty="0">
                <a:latin typeface="Verdana"/>
                <a:cs typeface="Verdana"/>
              </a:rPr>
              <a:t> obligation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to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update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or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revise any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forward- </a:t>
            </a:r>
            <a:r>
              <a:rPr sz="1100" spc="-65" dirty="0">
                <a:latin typeface="Verdana"/>
                <a:cs typeface="Verdana"/>
              </a:rPr>
              <a:t>looking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statements.</a:t>
            </a:r>
            <a:endParaRPr sz="11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1205"/>
              </a:spcBef>
            </a:pPr>
            <a:r>
              <a:rPr sz="1100" b="1" spc="-45" dirty="0">
                <a:latin typeface="Tahoma"/>
                <a:cs typeface="Tahoma"/>
              </a:rPr>
              <a:t>Presentation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of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Information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in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this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Press </a:t>
            </a:r>
            <a:r>
              <a:rPr sz="1100" b="1" spc="-10" dirty="0">
                <a:latin typeface="Tahoma"/>
                <a:cs typeface="Tahoma"/>
              </a:rPr>
              <a:t>Release</a:t>
            </a:r>
            <a:endParaRPr sz="1100">
              <a:latin typeface="Tahoma"/>
              <a:cs typeface="Tahoma"/>
            </a:endParaRPr>
          </a:p>
          <a:p>
            <a:pPr marL="12700" marR="62865" indent="457200">
              <a:lnSpc>
                <a:spcPct val="100000"/>
              </a:lnSpc>
              <a:spcBef>
                <a:spcPts val="1100"/>
              </a:spcBef>
            </a:pP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generative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AI,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book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Software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transactional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revenue, </a:t>
            </a:r>
            <a:r>
              <a:rPr sz="1100" spc="-105" dirty="0">
                <a:latin typeface="Verdana"/>
                <a:cs typeface="Verdana"/>
              </a:rPr>
              <a:t>SaaS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Annual </a:t>
            </a:r>
            <a:r>
              <a:rPr sz="1100" spc="-65" dirty="0">
                <a:latin typeface="Verdana"/>
                <a:cs typeface="Verdana"/>
              </a:rPr>
              <a:t>Contract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Value </a:t>
            </a:r>
            <a:r>
              <a:rPr sz="1100" spc="-75" dirty="0">
                <a:latin typeface="Verdana"/>
                <a:cs typeface="Verdana"/>
              </a:rPr>
              <a:t>and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Consulting</a:t>
            </a:r>
            <a:r>
              <a:rPr sz="1100" spc="-80" dirty="0">
                <a:latin typeface="Verdana"/>
                <a:cs typeface="Verdana"/>
              </a:rPr>
              <a:t> signings.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generative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AI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book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business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further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defined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within </a:t>
            </a:r>
            <a:r>
              <a:rPr sz="1100" spc="-65" dirty="0">
                <a:latin typeface="Verdana"/>
                <a:cs typeface="Verdana"/>
              </a:rPr>
              <a:t>Exhibit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99.2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Form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8-</a:t>
            </a:r>
            <a:r>
              <a:rPr sz="1100" spc="-75" dirty="0">
                <a:latin typeface="Verdana"/>
                <a:cs typeface="Verdana"/>
              </a:rPr>
              <a:t>K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that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includes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release.</a:t>
            </a:r>
            <a:endParaRPr sz="1100">
              <a:latin typeface="Verdana"/>
              <a:cs typeface="Verdana"/>
            </a:endParaRPr>
          </a:p>
          <a:p>
            <a:pPr marL="12700" marR="66675" indent="457200">
              <a:lnSpc>
                <a:spcPct val="99700"/>
              </a:lnSpc>
              <a:spcBef>
                <a:spcPts val="1110"/>
              </a:spcBef>
            </a:pPr>
            <a:r>
              <a:rPr sz="1100" spc="-6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effort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70" dirty="0">
                <a:latin typeface="Verdana"/>
                <a:cs typeface="Verdana"/>
              </a:rPr>
              <a:t> provide investors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with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additional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information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regarding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70" dirty="0">
                <a:latin typeface="Verdana"/>
                <a:cs typeface="Verdana"/>
              </a:rPr>
              <a:t> company’s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results </a:t>
            </a:r>
            <a:r>
              <a:rPr sz="1100" spc="-65" dirty="0">
                <a:latin typeface="Verdana"/>
                <a:cs typeface="Verdana"/>
              </a:rPr>
              <a:t>as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determined</a:t>
            </a:r>
            <a:r>
              <a:rPr sz="1100" spc="-85" dirty="0">
                <a:latin typeface="Verdana"/>
                <a:cs typeface="Verdana"/>
              </a:rPr>
              <a:t> by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generally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accepted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accounting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principles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(GAAP),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company </a:t>
            </a:r>
            <a:r>
              <a:rPr sz="1100" spc="-75" dirty="0">
                <a:latin typeface="Verdana"/>
                <a:cs typeface="Verdana"/>
              </a:rPr>
              <a:t>has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also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disclosed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this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release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following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non-</a:t>
            </a:r>
            <a:r>
              <a:rPr sz="1100" spc="-55" dirty="0">
                <a:latin typeface="Verdana"/>
                <a:cs typeface="Verdana"/>
              </a:rPr>
              <a:t>GAAP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information,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which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management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believes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provides </a:t>
            </a:r>
            <a:r>
              <a:rPr sz="1100" spc="-55" dirty="0">
                <a:latin typeface="Verdana"/>
                <a:cs typeface="Verdana"/>
              </a:rPr>
              <a:t>useful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information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investors: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spc="-35" dirty="0">
                <a:latin typeface="Verdana"/>
                <a:cs typeface="Verdana"/>
              </a:rPr>
              <a:t>IBM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results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—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5" dirty="0">
                <a:latin typeface="Verdana"/>
                <a:cs typeface="Verdana"/>
              </a:rPr>
              <a:t>adjusting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currency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95" dirty="0">
                <a:latin typeface="Verdana"/>
                <a:cs typeface="Verdana"/>
              </a:rPr>
              <a:t>(i.e.,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constant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currency);</a:t>
            </a:r>
            <a:endParaRPr sz="1100">
              <a:latin typeface="Verdana"/>
              <a:cs typeface="Verdana"/>
            </a:endParaRPr>
          </a:p>
          <a:p>
            <a:pPr marL="241300" marR="283210" indent="-229235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0" dirty="0">
                <a:latin typeface="Verdana"/>
                <a:cs typeface="Verdana"/>
              </a:rPr>
              <a:t>presenting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operating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90" dirty="0">
                <a:latin typeface="Verdana"/>
                <a:cs typeface="Verdana"/>
              </a:rPr>
              <a:t>(non-</a:t>
            </a:r>
            <a:r>
              <a:rPr sz="1100" spc="-75" dirty="0">
                <a:latin typeface="Verdana"/>
                <a:cs typeface="Verdana"/>
              </a:rPr>
              <a:t>GAAP)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per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share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amounts </a:t>
            </a:r>
            <a:r>
              <a:rPr sz="1100" spc="-75" dirty="0">
                <a:latin typeface="Verdana"/>
                <a:cs typeface="Verdana"/>
              </a:rPr>
              <a:t>and </a:t>
            </a:r>
            <a:r>
              <a:rPr sz="1100" spc="-60" dirty="0">
                <a:latin typeface="Verdana"/>
                <a:cs typeface="Verdana"/>
              </a:rPr>
              <a:t>related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income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40" dirty="0">
                <a:latin typeface="Verdana"/>
                <a:cs typeface="Verdana"/>
              </a:rPr>
              <a:t>statement </a:t>
            </a:r>
            <a:r>
              <a:rPr sz="1100" spc="-10" dirty="0">
                <a:latin typeface="Verdana"/>
                <a:cs typeface="Verdana"/>
              </a:rPr>
              <a:t>items;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60" dirty="0">
                <a:latin typeface="Verdana"/>
                <a:cs typeface="Verdana"/>
              </a:rPr>
              <a:t>free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flow;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65" dirty="0">
                <a:latin typeface="Verdana"/>
                <a:cs typeface="Verdana"/>
              </a:rPr>
              <a:t>net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cash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operating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activities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excluding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IBM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Financing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receivables;</a:t>
            </a:r>
            <a:endParaRPr sz="11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1100" spc="-70" dirty="0">
                <a:latin typeface="Verdana"/>
                <a:cs typeface="Verdana"/>
              </a:rPr>
              <a:t>adjusted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EBITDA.</a:t>
            </a:r>
            <a:endParaRPr sz="1100">
              <a:latin typeface="Verdana"/>
              <a:cs typeface="Verdana"/>
            </a:endParaRPr>
          </a:p>
          <a:p>
            <a:pPr marL="12700" marR="57785" indent="457200">
              <a:lnSpc>
                <a:spcPct val="100000"/>
              </a:lnSpc>
              <a:spcBef>
                <a:spcPts val="1105"/>
              </a:spcBef>
            </a:pPr>
            <a:r>
              <a:rPr sz="1100" spc="-65" dirty="0">
                <a:latin typeface="Verdana"/>
                <a:cs typeface="Verdana"/>
              </a:rPr>
              <a:t>The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rationale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for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management’s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of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these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non-</a:t>
            </a:r>
            <a:r>
              <a:rPr sz="1100" spc="-60" dirty="0">
                <a:latin typeface="Verdana"/>
                <a:cs typeface="Verdana"/>
              </a:rPr>
              <a:t>GAAP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measures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Exhibit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99.2 </a:t>
            </a:r>
            <a:r>
              <a:rPr sz="1100" spc="-50" dirty="0">
                <a:latin typeface="Verdana"/>
                <a:cs typeface="Verdana"/>
              </a:rPr>
              <a:t>in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Form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8-</a:t>
            </a:r>
            <a:r>
              <a:rPr sz="1100" spc="-75" dirty="0">
                <a:latin typeface="Verdana"/>
                <a:cs typeface="Verdana"/>
              </a:rPr>
              <a:t>K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that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includes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this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release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and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being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submitted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today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to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the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SEC.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100" b="1" spc="-45" dirty="0">
                <a:latin typeface="Tahoma"/>
                <a:cs typeface="Tahoma"/>
              </a:rPr>
              <a:t>Conference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Call</a:t>
            </a:r>
            <a:r>
              <a:rPr sz="1100" b="1" spc="-40" dirty="0">
                <a:latin typeface="Tahoma"/>
                <a:cs typeface="Tahoma"/>
              </a:rPr>
              <a:t> and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Webcast</a:t>
            </a:r>
            <a:endParaRPr sz="1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1100" spc="-35" dirty="0">
                <a:latin typeface="Verdana"/>
                <a:cs typeface="Verdana"/>
              </a:rPr>
              <a:t>IBM’s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regular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quarterly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earnings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conference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35" dirty="0">
                <a:latin typeface="Verdana"/>
                <a:cs typeface="Verdana"/>
              </a:rPr>
              <a:t>call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45" dirty="0">
                <a:latin typeface="Verdana"/>
                <a:cs typeface="Verdana"/>
              </a:rPr>
              <a:t>is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scheduled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to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begin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114" dirty="0">
                <a:latin typeface="Verdana"/>
                <a:cs typeface="Verdana"/>
              </a:rPr>
              <a:t> </a:t>
            </a:r>
            <a:r>
              <a:rPr sz="1100" spc="-85" dirty="0">
                <a:latin typeface="Verdana"/>
                <a:cs typeface="Verdana"/>
              </a:rPr>
              <a:t>5:00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0" dirty="0">
                <a:latin typeface="Verdana"/>
                <a:cs typeface="Verdana"/>
              </a:rPr>
              <a:t>p.m.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ET,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today.</a:t>
            </a:r>
            <a:endParaRPr sz="1100">
              <a:latin typeface="Verdana"/>
              <a:cs typeface="Verdana"/>
            </a:endParaRPr>
          </a:p>
          <a:p>
            <a:pPr marL="12700" marR="172085">
              <a:lnSpc>
                <a:spcPct val="100000"/>
              </a:lnSpc>
            </a:pPr>
            <a:r>
              <a:rPr sz="1100" spc="-65" dirty="0">
                <a:latin typeface="Verdana"/>
                <a:cs typeface="Verdana"/>
              </a:rPr>
              <a:t>The Webcast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</a:t>
            </a:r>
            <a:r>
              <a:rPr sz="1100" spc="-5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be</a:t>
            </a:r>
            <a:r>
              <a:rPr sz="1100" spc="-3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accessed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via </a:t>
            </a:r>
            <a:r>
              <a:rPr sz="1100" spc="-85" dirty="0">
                <a:latin typeface="Verdana"/>
                <a:cs typeface="Verdana"/>
              </a:rPr>
              <a:t>a</a:t>
            </a:r>
            <a:r>
              <a:rPr sz="1100" spc="-55" dirty="0">
                <a:latin typeface="Verdana"/>
                <a:cs typeface="Verdana"/>
              </a:rPr>
              <a:t> link</a:t>
            </a:r>
            <a:r>
              <a:rPr sz="1100" spc="-45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at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https:/</a:t>
            </a:r>
            <a:r>
              <a:rPr sz="1100" spc="-80" dirty="0">
                <a:latin typeface="Verdana"/>
                <a:cs typeface="Verdana"/>
                <a:hlinkClick r:id="rId2"/>
              </a:rPr>
              <a:t>/www.ibm.com/investor/events/earnings-</a:t>
            </a:r>
            <a:r>
              <a:rPr sz="1100" spc="-10" dirty="0">
                <a:latin typeface="Verdana"/>
                <a:cs typeface="Verdana"/>
                <a:hlinkClick r:id="rId2"/>
              </a:rPr>
              <a:t>1q25.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Presentation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charts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30" dirty="0">
                <a:latin typeface="Verdana"/>
                <a:cs typeface="Verdana"/>
              </a:rPr>
              <a:t>will</a:t>
            </a:r>
            <a:r>
              <a:rPr sz="1100" spc="-95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be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available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shortly</a:t>
            </a:r>
            <a:r>
              <a:rPr sz="1100" spc="-10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before</a:t>
            </a:r>
            <a:r>
              <a:rPr sz="1100" spc="-75" dirty="0">
                <a:latin typeface="Verdana"/>
                <a:cs typeface="Verdana"/>
              </a:rPr>
              <a:t> the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Webcast.</a:t>
            </a:r>
            <a:endParaRPr sz="1100">
              <a:latin typeface="Verdana"/>
              <a:cs typeface="Verdana"/>
            </a:endParaRPr>
          </a:p>
          <a:p>
            <a:pPr marL="12700" marR="779145">
              <a:lnSpc>
                <a:spcPts val="1310"/>
              </a:lnSpc>
              <a:spcBef>
                <a:spcPts val="1160"/>
              </a:spcBef>
            </a:pPr>
            <a:r>
              <a:rPr sz="1100" b="1" spc="-30" dirty="0">
                <a:latin typeface="Tahoma"/>
                <a:cs typeface="Tahoma"/>
              </a:rPr>
              <a:t>Financial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Results</a:t>
            </a:r>
            <a:r>
              <a:rPr sz="1100" b="1" spc="-40" dirty="0">
                <a:latin typeface="Tahoma"/>
                <a:cs typeface="Tahoma"/>
              </a:rPr>
              <a:t> Below</a:t>
            </a:r>
            <a:r>
              <a:rPr sz="1100" b="1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Verdana"/>
                <a:cs typeface="Verdana"/>
              </a:rPr>
              <a:t>(certain</a:t>
            </a:r>
            <a:r>
              <a:rPr sz="1100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amounts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110" dirty="0">
                <a:latin typeface="Verdana"/>
                <a:cs typeface="Verdana"/>
              </a:rPr>
              <a:t>may </a:t>
            </a:r>
            <a:r>
              <a:rPr sz="1100" spc="-60" dirty="0">
                <a:latin typeface="Verdana"/>
                <a:cs typeface="Verdana"/>
              </a:rPr>
              <a:t>not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add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due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to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use</a:t>
            </a:r>
            <a:r>
              <a:rPr sz="1100" spc="-11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of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70" dirty="0">
                <a:latin typeface="Verdana"/>
                <a:cs typeface="Verdana"/>
              </a:rPr>
              <a:t>rounded</a:t>
            </a:r>
            <a:r>
              <a:rPr sz="1100" spc="-105" dirty="0">
                <a:latin typeface="Verdana"/>
                <a:cs typeface="Verdana"/>
              </a:rPr>
              <a:t> </a:t>
            </a:r>
            <a:r>
              <a:rPr sz="1100" spc="-60" dirty="0">
                <a:latin typeface="Verdana"/>
                <a:cs typeface="Verdana"/>
              </a:rPr>
              <a:t>numbers; </a:t>
            </a:r>
            <a:r>
              <a:rPr sz="1100" spc="-70" dirty="0">
                <a:latin typeface="Verdana"/>
                <a:cs typeface="Verdana"/>
              </a:rPr>
              <a:t>percentages </a:t>
            </a:r>
            <a:r>
              <a:rPr sz="1100" spc="-65" dirty="0">
                <a:latin typeface="Verdana"/>
                <a:cs typeface="Verdana"/>
              </a:rPr>
              <a:t>presented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80" dirty="0">
                <a:latin typeface="Verdana"/>
                <a:cs typeface="Verdana"/>
              </a:rPr>
              <a:t>are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spc="-55" dirty="0">
                <a:latin typeface="Verdana"/>
                <a:cs typeface="Verdana"/>
              </a:rPr>
              <a:t>calculated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75" dirty="0">
                <a:latin typeface="Verdana"/>
                <a:cs typeface="Verdana"/>
              </a:rPr>
              <a:t>from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65" dirty="0">
                <a:latin typeface="Verdana"/>
                <a:cs typeface="Verdana"/>
              </a:rPr>
              <a:t>the </a:t>
            </a:r>
            <a:r>
              <a:rPr sz="1100" spc="-75" dirty="0">
                <a:latin typeface="Verdana"/>
                <a:cs typeface="Verdana"/>
              </a:rPr>
              <a:t>underlying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whole-</a:t>
            </a:r>
            <a:r>
              <a:rPr sz="1100" spc="-55" dirty="0">
                <a:latin typeface="Verdana"/>
                <a:cs typeface="Verdana"/>
              </a:rPr>
              <a:t>dollar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amounts).</a:t>
            </a:r>
            <a:endParaRPr sz="11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1962" y="8113064"/>
          <a:ext cx="2771140" cy="1102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6910"/>
                <a:gridCol w="2017394"/>
              </a:tblGrid>
              <a:tr h="1981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-10" dirty="0">
                          <a:latin typeface="Verdana"/>
                          <a:cs typeface="Verdana"/>
                        </a:rPr>
                        <a:t>Contact: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100" spc="-25" dirty="0">
                          <a:latin typeface="Verdana"/>
                          <a:cs typeface="Verdana"/>
                        </a:rPr>
                        <a:t>IBM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3810" marB="0"/>
                </a:tc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spc="-90" dirty="0">
                          <a:latin typeface="Verdana"/>
                          <a:cs typeface="Verdana"/>
                        </a:rPr>
                        <a:t>Sarah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Meron,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347-891-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1770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20320" marB="0"/>
                </a:tc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100" spc="-30" dirty="0">
                          <a:latin typeface="Verdana"/>
                          <a:cs typeface="Verdana"/>
                          <a:hlinkClick r:id="rId3"/>
                        </a:rPr>
                        <a:t>sarah.meron@ibm.com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100" spc="-70" dirty="0">
                          <a:latin typeface="Verdana"/>
                          <a:cs typeface="Verdana"/>
                        </a:rPr>
                        <a:t>Tim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80" dirty="0">
                          <a:latin typeface="Verdana"/>
                          <a:cs typeface="Verdana"/>
                        </a:rPr>
                        <a:t>Davidson,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914-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844-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7847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52705" marB="0"/>
                </a:tc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ts val="1305"/>
                        </a:lnSpc>
                        <a:spcBef>
                          <a:spcPts val="155"/>
                        </a:spcBef>
                      </a:pPr>
                      <a:r>
                        <a:rPr sz="1100" spc="-20" dirty="0">
                          <a:latin typeface="Verdana"/>
                          <a:cs typeface="Verdana"/>
                          <a:hlinkClick r:id="rId4"/>
                        </a:rPr>
                        <a:t>tfdavids@us.ibm.com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1968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010" y="531368"/>
            <a:ext cx="2771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4254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COMPARATIVE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FINANCIAL</a:t>
            </a:r>
            <a:r>
              <a:rPr sz="800" b="1" spc="3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RESULTS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44905" y="1101077"/>
          <a:ext cx="6497955" cy="7694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7395"/>
                <a:gridCol w="762000"/>
                <a:gridCol w="668020"/>
                <a:gridCol w="273050"/>
                <a:gridCol w="159385"/>
              </a:tblGrid>
              <a:tr h="281305">
                <a:tc gridSpan="5">
                  <a:txBody>
                    <a:bodyPr/>
                    <a:lstStyle/>
                    <a:p>
                      <a:pPr marL="5172710" marR="514350" indent="-253365">
                        <a:lnSpc>
                          <a:spcPts val="900"/>
                        </a:lnSpc>
                        <a:spcBef>
                          <a:spcPts val="10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3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498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258445" algn="l"/>
                          <a:tab pos="762000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2025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438784" algn="l"/>
                          <a:tab pos="941705" algn="l"/>
                        </a:tabLst>
                      </a:pP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u="sng" spc="-3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2024</a:t>
                      </a:r>
                      <a:r>
                        <a:rPr sz="800" b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	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065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SEGMENT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Software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6,336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6273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5,899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Consulting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5,068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5,186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Infrastructure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2,886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3,076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Financing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430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Other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9690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61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71628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108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145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14,541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L="56642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14,462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3749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191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8,031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7,742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19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20979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2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Software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83.6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82.4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Consulting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27.3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25.3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Infrastructure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52.8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54.2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682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Financing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45.8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48.5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9558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GROSS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53.5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</a:tr>
              <a:tr h="19177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EXPENSE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OTHER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4,886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4,974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1,950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Intellectual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property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custom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development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(253)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(216)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(165)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(317)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430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359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455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71628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432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081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EXPENSE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OTHER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6,873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gridSpan="2"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6,669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8610">
                <a:tc>
                  <a:txBody>
                    <a:bodyPr/>
                    <a:lstStyle/>
                    <a:p>
                      <a:pPr marL="74295" marR="2417445">
                        <a:lnSpc>
                          <a:spcPts val="910"/>
                        </a:lnSpc>
                        <a:spcBef>
                          <a:spcPts val="39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OPERATIONS BEFORE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TAXES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925" algn="r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1,074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00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103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(502)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827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rate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75" dirty="0">
                          <a:latin typeface="Verdana"/>
                          <a:cs typeface="Verdana"/>
                        </a:rPr>
                        <a:t>(46.7)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9621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857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1,054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6273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1,575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85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859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DISCONTINUED</a:t>
                      </a:r>
                      <a:r>
                        <a:rPr sz="8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0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224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operations,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2034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INCOME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41402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1,055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6273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1,605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7625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43204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EARNINGS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SHARE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COMMON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STOCK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20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Assuming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Dilution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883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88340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0.03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TOTAL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1.12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98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688340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1.72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764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Basic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2400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4749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1.14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883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1.72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100"/>
                        </a:spcBef>
                        <a:tabLst>
                          <a:tab pos="688340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0.03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TOTAL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508634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1.14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98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ct val="100000"/>
                        </a:lnSpc>
                        <a:spcBef>
                          <a:spcPts val="55"/>
                        </a:spcBef>
                        <a:tabLst>
                          <a:tab pos="688340" algn="l"/>
                        </a:tabLst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r>
                        <a:rPr sz="800" u="sng" spc="-5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$</a:t>
                      </a: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1.75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2720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WEIGHTED-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AVERAGE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NUMBER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COMMON</a:t>
                      </a:r>
                      <a:r>
                        <a:rPr sz="80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SHARES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OUTSTANDING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(M’s)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319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Assuming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Dilution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945.4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gridSpan="2"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933.4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72415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Basic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928.0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gridSpan="2">
                  <a:txBody>
                    <a:bodyPr/>
                    <a:lstStyle/>
                    <a:p>
                      <a:pPr marR="254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917.2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144514" y="6637908"/>
            <a:ext cx="762000" cy="36830"/>
          </a:xfrm>
          <a:custGeom>
            <a:avLst/>
            <a:gdLst/>
            <a:ahLst/>
            <a:cxnLst/>
            <a:rect l="l" t="t" r="r" b="b"/>
            <a:pathLst>
              <a:path w="762000" h="36829">
                <a:moveTo>
                  <a:pt x="761987" y="24384"/>
                </a:moveTo>
                <a:lnTo>
                  <a:pt x="0" y="24384"/>
                </a:lnTo>
                <a:lnTo>
                  <a:pt x="0" y="36576"/>
                </a:lnTo>
                <a:lnTo>
                  <a:pt x="761987" y="36576"/>
                </a:lnTo>
                <a:lnTo>
                  <a:pt x="761987" y="24384"/>
                </a:lnTo>
                <a:close/>
              </a:path>
              <a:path w="762000" h="36829">
                <a:moveTo>
                  <a:pt x="761987" y="0"/>
                </a:moveTo>
                <a:lnTo>
                  <a:pt x="0" y="0"/>
                </a:lnTo>
                <a:lnTo>
                  <a:pt x="0" y="12192"/>
                </a:lnTo>
                <a:lnTo>
                  <a:pt x="761987" y="12192"/>
                </a:lnTo>
                <a:lnTo>
                  <a:pt x="7619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44514" y="7538592"/>
            <a:ext cx="762000" cy="12700"/>
          </a:xfrm>
          <a:custGeom>
            <a:avLst/>
            <a:gdLst/>
            <a:ahLst/>
            <a:cxnLst/>
            <a:rect l="l" t="t" r="r" b="b"/>
            <a:pathLst>
              <a:path w="762000" h="12700">
                <a:moveTo>
                  <a:pt x="761999" y="0"/>
                </a:moveTo>
                <a:lnTo>
                  <a:pt x="0" y="0"/>
                </a:lnTo>
                <a:lnTo>
                  <a:pt x="0" y="12192"/>
                </a:lnTo>
                <a:lnTo>
                  <a:pt x="761999" y="12192"/>
                </a:lnTo>
                <a:lnTo>
                  <a:pt x="7619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44514" y="8186674"/>
            <a:ext cx="762000" cy="12700"/>
          </a:xfrm>
          <a:custGeom>
            <a:avLst/>
            <a:gdLst/>
            <a:ahLst/>
            <a:cxnLst/>
            <a:rect l="l" t="t" r="r" b="b"/>
            <a:pathLst>
              <a:path w="762000" h="12700">
                <a:moveTo>
                  <a:pt x="761999" y="0"/>
                </a:moveTo>
                <a:lnTo>
                  <a:pt x="0" y="0"/>
                </a:lnTo>
                <a:lnTo>
                  <a:pt x="0" y="12191"/>
                </a:lnTo>
                <a:lnTo>
                  <a:pt x="761999" y="12191"/>
                </a:lnTo>
                <a:lnTo>
                  <a:pt x="7619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6655" y="8790127"/>
            <a:ext cx="1543050" cy="12700"/>
          </a:xfrm>
          <a:custGeom>
            <a:avLst/>
            <a:gdLst/>
            <a:ahLst/>
            <a:cxnLst/>
            <a:rect l="l" t="t" r="r" b="b"/>
            <a:pathLst>
              <a:path w="1543050" h="12700">
                <a:moveTo>
                  <a:pt x="1542542" y="0"/>
                </a:moveTo>
                <a:lnTo>
                  <a:pt x="0" y="0"/>
                </a:lnTo>
                <a:lnTo>
                  <a:pt x="0" y="12192"/>
                </a:lnTo>
                <a:lnTo>
                  <a:pt x="1542542" y="12192"/>
                </a:lnTo>
                <a:lnTo>
                  <a:pt x="15425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3100" y="8800286"/>
            <a:ext cx="43776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85" dirty="0">
                <a:latin typeface="Verdana"/>
                <a:cs typeface="Verdana"/>
              </a:rPr>
              <a:t>(1)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 </a:t>
            </a:r>
            <a:r>
              <a:rPr sz="800" spc="-50" dirty="0">
                <a:latin typeface="Verdana"/>
                <a:cs typeface="Verdana"/>
              </a:rPr>
              <a:t>benefit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taxes </a:t>
            </a:r>
            <a:r>
              <a:rPr sz="800" spc="-55" dirty="0">
                <a:latin typeface="Verdana"/>
                <a:cs typeface="Verdana"/>
              </a:rPr>
              <a:t>due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resolution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certain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audit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matters.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531368"/>
            <a:ext cx="2696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</a:t>
            </a:r>
            <a:r>
              <a:rPr sz="800" b="1" spc="-35" dirty="0">
                <a:latin typeface="Tahoma"/>
                <a:cs typeface="Tahoma"/>
              </a:rPr>
              <a:t>CONDENSED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CONSOLIDATED</a:t>
            </a:r>
            <a:r>
              <a:rPr sz="800" b="1" spc="2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BALANCE</a:t>
            </a:r>
            <a:r>
              <a:rPr sz="800" b="1" spc="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SHEET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0183" y="1094981"/>
          <a:ext cx="6363970" cy="8091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6605"/>
                <a:gridCol w="860425"/>
                <a:gridCol w="841375"/>
              </a:tblGrid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 marR="196215" indent="180975">
                        <a:lnSpc>
                          <a:spcPts val="910"/>
                        </a:lnSpc>
                        <a:spcBef>
                          <a:spcPts val="9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At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297180">
                        <a:lnSpc>
                          <a:spcPts val="880"/>
                        </a:lnSpc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73660" indent="278765">
                        <a:lnSpc>
                          <a:spcPts val="910"/>
                        </a:lnSpc>
                        <a:spcBef>
                          <a:spcPts val="9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At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December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  <a:p>
                      <a:pPr marL="304165">
                        <a:lnSpc>
                          <a:spcPts val="880"/>
                        </a:lnSpc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206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62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ASSETS: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Assets: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equivalents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184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11,035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184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13,947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Restricted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cash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126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214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Marketable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securities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6,430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644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Notes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accounts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trade,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5,857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6,804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Short-term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receivables,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5,715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7,159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accounts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receivable,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Inventories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1,431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1,289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1,074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959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Prepaid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expenses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and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current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2,520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35,336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8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34,482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8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Property,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plant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equipment,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5,742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5,731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</a:tr>
              <a:tr h="1517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right-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use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assets,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3,323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3,197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Long-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term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receivables,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4,920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5,353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Prepaid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pension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7,670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7,492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7,594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6,978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Goodwill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66,065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60,706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Intangibles,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12,392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10,660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Investments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sundry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1,856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22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Assets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549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145,667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549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137,175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LIABILITIES: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Liabilities: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44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Taxes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794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1,573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4794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2,033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765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Short-term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debt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6,913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5,089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Accounts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payable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3,585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4,032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15,057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13,907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798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7,179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7,313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716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Current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35,106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33,142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35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Long-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term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debt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56,371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49,884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Retirement-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related</a:t>
                      </a:r>
                      <a:r>
                        <a:rPr sz="8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obligations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9,536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9,432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Deferred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3,844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3,622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lease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2,753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2,655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liabilities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11,105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11,048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447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Liabilities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118,714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109,783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216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EQUITY: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98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843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Stockholders’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Equity: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573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70" dirty="0">
                          <a:latin typeface="Verdana"/>
                          <a:cs typeface="Verdana"/>
                        </a:rPr>
                        <a:t>Common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stock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61,913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61,380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Retained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earnings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61594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150,703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151,163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5240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Treasury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stock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at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cost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(170,160)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(169,968)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</a:tr>
              <a:tr h="14922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Accumulated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comprehensive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income/(loss)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(15,575)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(15,269)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70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Stockholders’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26,880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27,307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Noncontrolling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interests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4381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26,953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27,393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35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Total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Liabilities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Equity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7625" marB="0"/>
                </a:tc>
                <a:tc>
                  <a:txBody>
                    <a:bodyPr/>
                    <a:lstStyle/>
                    <a:p>
                      <a:pPr marR="59690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3549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145,667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375"/>
                        </a:spcBef>
                        <a:tabLst>
                          <a:tab pos="35496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137,175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531368"/>
            <a:ext cx="2696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FLOW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101077"/>
          <a:ext cx="6363970" cy="3872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9945"/>
                <a:gridCol w="835660"/>
                <a:gridCol w="811529"/>
              </a:tblGrid>
              <a:tr h="279400">
                <a:tc gridSpan="3">
                  <a:txBody>
                    <a:bodyPr/>
                    <a:lstStyle/>
                    <a:p>
                      <a:pPr marL="5225415" marR="328930" indent="-253365">
                        <a:lnSpc>
                          <a:spcPts val="900"/>
                        </a:lnSpc>
                        <a:spcBef>
                          <a:spcPts val="10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3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559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4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44830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1,055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44767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1,605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Depreciation/Amortization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Intangibles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1,177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86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Stock-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Compensation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320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Operating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liabilities/Other,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(2)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(350)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(785)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30" dirty="0">
                          <a:latin typeface="Verdana"/>
                          <a:cs typeface="Verdana"/>
                        </a:rPr>
                        <a:t>IBM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A/R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2,087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2457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 by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4830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4,370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4767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4,168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</a:tr>
              <a:tr h="2457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Capital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Expenditures,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payments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proceeds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(321)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Divestitures,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transferred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703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Acquisitions,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cash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acquired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(7,098)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(82)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Marketable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Securities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Investments,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(5,559)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(4,469)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2225" marB="0"/>
                </a:tc>
              </a:tr>
              <a:tr h="2457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by/(Used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Investing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33972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(12,979)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165"/>
                        </a:spcBef>
                        <a:tabLst>
                          <a:tab pos="4006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(4,210)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</a:tr>
              <a:tr h="2457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60" dirty="0">
                          <a:latin typeface="Verdana"/>
                          <a:cs typeface="Verdana"/>
                        </a:rPr>
                        <a:t>Debt,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payments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proceeds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7,092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3,382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Dividends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(1,549)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(1,522)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17018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Other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5080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(100)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2457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0" dirty="0">
                          <a:latin typeface="Tahoma"/>
                          <a:cs typeface="Tahoma"/>
                        </a:rPr>
                        <a:t>by/(Used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in)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Financing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711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48309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5,443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4767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1,877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</a:tr>
              <a:tr h="2457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35" dirty="0">
                          <a:latin typeface="Verdana"/>
                          <a:cs typeface="Verdana"/>
                        </a:rPr>
                        <a:t>Effect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Exchange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Rate changes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Cash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167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(159)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</a:tr>
              <a:tr h="26479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Cash,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Equivalents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Restricted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Cash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006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(2,999)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4767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1,676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43712" y="4968875"/>
            <a:ext cx="1533525" cy="12700"/>
          </a:xfrm>
          <a:custGeom>
            <a:avLst/>
            <a:gdLst/>
            <a:ahLst/>
            <a:cxnLst/>
            <a:rect l="l" t="t" r="r" b="b"/>
            <a:pathLst>
              <a:path w="1533525" h="12700">
                <a:moveTo>
                  <a:pt x="1533398" y="0"/>
                </a:moveTo>
                <a:lnTo>
                  <a:pt x="0" y="0"/>
                </a:lnTo>
                <a:lnTo>
                  <a:pt x="0" y="12191"/>
                </a:lnTo>
                <a:lnTo>
                  <a:pt x="1533398" y="12191"/>
                </a:lnTo>
                <a:lnTo>
                  <a:pt x="1533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1012" y="4929352"/>
            <a:ext cx="2841625" cy="3454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8595" indent="-175895">
              <a:lnSpc>
                <a:spcPct val="100000"/>
              </a:lnSpc>
              <a:spcBef>
                <a:spcPts val="400"/>
              </a:spcBef>
              <a:buAutoNum type="arabicParenBoth"/>
              <a:tabLst>
                <a:tab pos="188595" algn="l"/>
              </a:tabLst>
            </a:pPr>
            <a:r>
              <a:rPr sz="800" spc="-40" dirty="0">
                <a:latin typeface="Verdana"/>
                <a:cs typeface="Verdana"/>
              </a:rPr>
              <a:t>Includes </a:t>
            </a:r>
            <a:r>
              <a:rPr sz="800" spc="-55" dirty="0">
                <a:latin typeface="Verdana"/>
                <a:cs typeface="Verdana"/>
              </a:rPr>
              <a:t>operating</a:t>
            </a:r>
            <a:r>
              <a:rPr sz="800" spc="-40" dirty="0">
                <a:latin typeface="Verdana"/>
                <a:cs typeface="Verdana"/>
              </a:rPr>
              <a:t> lease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right-</a:t>
            </a:r>
            <a:r>
              <a:rPr sz="800" spc="-45" dirty="0">
                <a:latin typeface="Verdana"/>
                <a:cs typeface="Verdana"/>
              </a:rPr>
              <a:t>of-</a:t>
            </a:r>
            <a:r>
              <a:rPr sz="800" spc="-50" dirty="0">
                <a:latin typeface="Verdana"/>
                <a:cs typeface="Verdana"/>
              </a:rPr>
              <a:t>use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35" dirty="0">
                <a:latin typeface="Verdana"/>
                <a:cs typeface="Verdana"/>
              </a:rPr>
              <a:t> amortization.</a:t>
            </a:r>
            <a:endParaRPr sz="800">
              <a:latin typeface="Verdana"/>
              <a:cs typeface="Verdana"/>
            </a:endParaRPr>
          </a:p>
          <a:p>
            <a:pPr marL="188595" indent="-175895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8595" algn="l"/>
              </a:tabLst>
            </a:pP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reduction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reserves.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16810" y="531368"/>
            <a:ext cx="2940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 GAAP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NET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INCOME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3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ADJUSTED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EBITDA</a:t>
            </a:r>
            <a:r>
              <a:rPr sz="800" b="1" spc="-2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101077"/>
          <a:ext cx="6355080" cy="3477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6460"/>
                <a:gridCol w="495935"/>
                <a:gridCol w="48895"/>
                <a:gridCol w="529589"/>
                <a:gridCol w="508000"/>
              </a:tblGrid>
              <a:tr h="252095">
                <a:tc gridSpan="5">
                  <a:txBody>
                    <a:bodyPr/>
                    <a:lstStyle/>
                    <a:p>
                      <a:pPr marL="5249545" marR="295275" indent="-253365">
                        <a:lnSpc>
                          <a:spcPts val="800"/>
                        </a:lnSpc>
                        <a:spcBef>
                          <a:spcPts val="18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349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76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Billions)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27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Yr/Yr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as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reported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1.6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217804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(0.5)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Less: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discontinued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operations,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tax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55904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ops.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0.1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0.6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9875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Pre-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tax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continuing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operations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(GAAP)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1.2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1.1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</a:tr>
              <a:tr h="19939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Non-operating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adjustments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(before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tax)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Acquisition-related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charges</a:t>
                      </a:r>
                      <a:r>
                        <a:rPr sz="8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2489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Non-operating</a:t>
                      </a:r>
                      <a:r>
                        <a:rPr sz="8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retirement-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related</a:t>
                      </a:r>
                      <a:r>
                        <a:rPr sz="8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costs/(income)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33083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55" dirty="0">
                          <a:latin typeface="Tahoma"/>
                          <a:cs typeface="Tahoma"/>
                        </a:rPr>
                        <a:t>(non-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GAAP)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pre-tax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income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ops.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1.7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1.7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965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0.1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965" marB="0"/>
                </a:tc>
              </a:tr>
              <a:tr h="25336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287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2870" marB="0"/>
                </a:tc>
              </a:tr>
              <a:tr h="1727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Depreciation/Amortization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non-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acquired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intangible</a:t>
                      </a:r>
                      <a:r>
                        <a:rPr sz="8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assets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413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Stock-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based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compensation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Workforce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rebalancing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charges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24892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Corporate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(gains)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and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charges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(2)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0.0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2225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(0.2)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269240" algn="l"/>
                        </a:tabLst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	</a:t>
                      </a: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0.2</a:t>
                      </a:r>
                      <a:r>
                        <a:rPr sz="800" u="sng" spc="500" dirty="0">
                          <a:uFill>
                            <a:solidFill>
                              <a:srgbClr val="000000"/>
                            </a:solidFill>
                          </a:uFill>
                          <a:latin typeface="Verdana"/>
                          <a:cs typeface="Verdana"/>
                        </a:rPr>
                        <a:t> 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22987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790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Adjusted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EBITDA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919"/>
                        </a:lnSpc>
                        <a:spcBef>
                          <a:spcPts val="79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ts val="919"/>
                        </a:lnSpc>
                        <a:spcBef>
                          <a:spcPts val="790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919"/>
                        </a:lnSpc>
                        <a:spcBef>
                          <a:spcPts val="790"/>
                        </a:spcBef>
                        <a:tabLst>
                          <a:tab pos="309880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0.4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033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34568" y="4729606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1012" y="4709896"/>
            <a:ext cx="5003165" cy="330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64465" indent="-158750">
              <a:lnSpc>
                <a:spcPct val="100000"/>
              </a:lnSpc>
              <a:spcBef>
                <a:spcPts val="340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50" dirty="0">
                <a:latin typeface="Verdana"/>
                <a:cs typeface="Verdana"/>
              </a:rPr>
              <a:t>Primarily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amortization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acquired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intangible </a:t>
            </a:r>
            <a:r>
              <a:rPr sz="800" spc="-10" dirty="0">
                <a:latin typeface="Verdana"/>
                <a:cs typeface="Verdana"/>
              </a:rPr>
              <a:t>assets.</a:t>
            </a:r>
            <a:endParaRPr sz="800">
              <a:latin typeface="Verdana"/>
              <a:cs typeface="Verdana"/>
            </a:endParaRPr>
          </a:p>
          <a:p>
            <a:pPr marL="164465" indent="-158750">
              <a:lnSpc>
                <a:spcPct val="100000"/>
              </a:lnSpc>
              <a:spcBef>
                <a:spcPts val="240"/>
              </a:spcBef>
              <a:buSzPct val="93750"/>
              <a:buAutoNum type="arabicParenBoth"/>
              <a:tabLst>
                <a:tab pos="164465" algn="l"/>
              </a:tabLst>
            </a:pPr>
            <a:r>
              <a:rPr sz="800" spc="-55" dirty="0">
                <a:latin typeface="Verdana"/>
                <a:cs typeface="Verdana"/>
              </a:rPr>
              <a:t>Corporate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(gains)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charges </a:t>
            </a:r>
            <a:r>
              <a:rPr sz="800" spc="-50" dirty="0">
                <a:latin typeface="Verdana"/>
                <a:cs typeface="Verdana"/>
              </a:rPr>
              <a:t>primarily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unique </a:t>
            </a:r>
            <a:r>
              <a:rPr sz="800" spc="-50" dirty="0">
                <a:latin typeface="Verdana"/>
                <a:cs typeface="Verdana"/>
              </a:rPr>
              <a:t>corporate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actions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such</a:t>
            </a:r>
            <a:r>
              <a:rPr sz="800" spc="-50" dirty="0">
                <a:latin typeface="Verdana"/>
                <a:cs typeface="Verdana"/>
              </a:rPr>
              <a:t> as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gains </a:t>
            </a:r>
            <a:r>
              <a:rPr sz="800" spc="-60" dirty="0">
                <a:latin typeface="Verdana"/>
                <a:cs typeface="Verdana"/>
              </a:rPr>
              <a:t>on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divestitures.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9110" y="775208"/>
            <a:ext cx="269748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CORPORATION SEGMENT</a:t>
            </a:r>
            <a:r>
              <a:rPr sz="800" b="1" spc="-20" dirty="0">
                <a:latin typeface="Tahoma"/>
                <a:cs typeface="Tahoma"/>
              </a:rPr>
              <a:t> DATA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344917"/>
          <a:ext cx="6381115" cy="1311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635"/>
                <a:gridCol w="829310"/>
                <a:gridCol w="181610"/>
                <a:gridCol w="828039"/>
                <a:gridCol w="181610"/>
                <a:gridCol w="829944"/>
                <a:gridCol w="182245"/>
                <a:gridCol w="828039"/>
                <a:gridCol w="160654"/>
              </a:tblGrid>
              <a:tr h="163830">
                <a:tc gridSpan="9">
                  <a:txBody>
                    <a:bodyPr/>
                    <a:lstStyle/>
                    <a:p>
                      <a:pPr marL="33439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31,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6068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397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6,336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96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5,068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978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2,886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7848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1,847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7848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558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7861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8458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35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29.1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35.8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15494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(2.3)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(6.2)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6350" marB="0"/>
                </a:tc>
              </a:tr>
              <a:tr h="151130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Change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YTY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Revenue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Constant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Currency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(4.3)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919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4040759" y="1835150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39" h="9525">
                <a:moveTo>
                  <a:pt x="827836" y="0"/>
                </a:moveTo>
                <a:lnTo>
                  <a:pt x="0" y="0"/>
                </a:lnTo>
                <a:lnTo>
                  <a:pt x="0" y="9144"/>
                </a:lnTo>
                <a:lnTo>
                  <a:pt x="827836" y="9144"/>
                </a:lnTo>
                <a:lnTo>
                  <a:pt x="8278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49901" y="1835150"/>
            <a:ext cx="829944" cy="9525"/>
          </a:xfrm>
          <a:custGeom>
            <a:avLst/>
            <a:gdLst/>
            <a:ahLst/>
            <a:cxnLst/>
            <a:rect l="l" t="t" r="r" b="b"/>
            <a:pathLst>
              <a:path w="829945" h="9525">
                <a:moveTo>
                  <a:pt x="829360" y="0"/>
                </a:moveTo>
                <a:lnTo>
                  <a:pt x="0" y="0"/>
                </a:lnTo>
                <a:lnTo>
                  <a:pt x="0" y="9144"/>
                </a:lnTo>
                <a:lnTo>
                  <a:pt x="829360" y="9144"/>
                </a:lnTo>
                <a:lnTo>
                  <a:pt x="829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60694" y="1835150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40" h="9525">
                <a:moveTo>
                  <a:pt x="827531" y="0"/>
                </a:moveTo>
                <a:lnTo>
                  <a:pt x="0" y="0"/>
                </a:lnTo>
                <a:lnTo>
                  <a:pt x="0" y="9144"/>
                </a:lnTo>
                <a:lnTo>
                  <a:pt x="827531" y="9144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43712" y="3428606"/>
          <a:ext cx="6399530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635"/>
                <a:gridCol w="829310"/>
                <a:gridCol w="852804"/>
                <a:gridCol w="174625"/>
                <a:gridCol w="180975"/>
                <a:gridCol w="829310"/>
                <a:gridCol w="181610"/>
                <a:gridCol w="827405"/>
                <a:gridCol w="160020"/>
              </a:tblGrid>
              <a:tr h="162560">
                <a:tc gridSpan="9">
                  <a:txBody>
                    <a:bodyPr/>
                    <a:lstStyle/>
                    <a:p>
                      <a:pPr marL="334391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31,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321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ct val="100000"/>
                        </a:lnSpc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588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0701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Software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58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</a:pPr>
                      <a:r>
                        <a:rPr sz="800" b="1" spc="-30" dirty="0">
                          <a:latin typeface="Tahoma"/>
                          <a:cs typeface="Tahoma"/>
                        </a:rPr>
                        <a:t>Consulting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588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Infrastructure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58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60680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Financing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58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811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Revenue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5,899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9659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5,186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6978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3,076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75"/>
                        </a:spcBef>
                        <a:tabLst>
                          <a:tab pos="7848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193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Profit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4813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1,500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78486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424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7861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311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8458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92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50495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b="1" spc="-45" dirty="0">
                          <a:latin typeface="Tahoma"/>
                          <a:cs typeface="Tahoma"/>
                        </a:rPr>
                        <a:t>Segment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Profit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Margin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25.4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 marR="12065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47.7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16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5049901" y="3918839"/>
            <a:ext cx="829944" cy="9525"/>
          </a:xfrm>
          <a:custGeom>
            <a:avLst/>
            <a:gdLst/>
            <a:ahLst/>
            <a:cxnLst/>
            <a:rect l="l" t="t" r="r" b="b"/>
            <a:pathLst>
              <a:path w="829945" h="9525">
                <a:moveTo>
                  <a:pt x="829360" y="0"/>
                </a:moveTo>
                <a:lnTo>
                  <a:pt x="0" y="0"/>
                </a:lnTo>
                <a:lnTo>
                  <a:pt x="0" y="9144"/>
                </a:lnTo>
                <a:lnTo>
                  <a:pt x="829360" y="9144"/>
                </a:lnTo>
                <a:lnTo>
                  <a:pt x="8293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60694" y="3918839"/>
            <a:ext cx="828040" cy="9525"/>
          </a:xfrm>
          <a:custGeom>
            <a:avLst/>
            <a:gdLst/>
            <a:ahLst/>
            <a:cxnLst/>
            <a:rect l="l" t="t" r="r" b="b"/>
            <a:pathLst>
              <a:path w="828040" h="9525">
                <a:moveTo>
                  <a:pt x="827531" y="0"/>
                </a:moveTo>
                <a:lnTo>
                  <a:pt x="0" y="0"/>
                </a:lnTo>
                <a:lnTo>
                  <a:pt x="0" y="9144"/>
                </a:lnTo>
                <a:lnTo>
                  <a:pt x="827531" y="9144"/>
                </a:lnTo>
                <a:lnTo>
                  <a:pt x="8275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58314" y="531368"/>
            <a:ext cx="32569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800" b="1" spc="-20" dirty="0">
                <a:latin typeface="Tahoma"/>
                <a:cs typeface="Tahoma"/>
              </a:rPr>
              <a:t>U.S.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0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60" dirty="0">
                <a:latin typeface="Tahoma"/>
                <a:cs typeface="Tahoma"/>
              </a:rPr>
              <a:t>(Non-</a:t>
            </a:r>
            <a:r>
              <a:rPr sz="800" b="1" spc="-35" dirty="0">
                <a:latin typeface="Tahoma"/>
                <a:cs typeface="Tahoma"/>
              </a:rPr>
              <a:t>GAAP)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RESULTS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255270">
              <a:lnSpc>
                <a:spcPct val="100000"/>
              </a:lnSpc>
              <a:spcBef>
                <a:spcPts val="5"/>
              </a:spcBef>
            </a:pPr>
            <a:r>
              <a:rPr sz="800" b="1" spc="-40" dirty="0">
                <a:latin typeface="Tahoma"/>
                <a:cs typeface="Tahoma"/>
              </a:rPr>
              <a:t>(Unaudited;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Dollars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in</a:t>
            </a:r>
            <a:r>
              <a:rPr sz="800" b="1" spc="-25" dirty="0">
                <a:latin typeface="Tahoma"/>
                <a:cs typeface="Tahoma"/>
              </a:rPr>
              <a:t> millions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except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per</a:t>
            </a:r>
            <a:r>
              <a:rPr sz="800" b="1" spc="-30" dirty="0">
                <a:latin typeface="Tahoma"/>
                <a:cs typeface="Tahoma"/>
              </a:rPr>
              <a:t> share</a:t>
            </a:r>
            <a:r>
              <a:rPr sz="800" b="1" spc="-10" dirty="0">
                <a:latin typeface="Tahoma"/>
                <a:cs typeface="Tahoma"/>
              </a:rPr>
              <a:t> amounts)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8977" y="1107173"/>
          <a:ext cx="6950709" cy="32169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7740"/>
                <a:gridCol w="504825"/>
                <a:gridCol w="181610"/>
                <a:gridCol w="791210"/>
                <a:gridCol w="294004"/>
                <a:gridCol w="904875"/>
                <a:gridCol w="295275"/>
                <a:gridCol w="638175"/>
                <a:gridCol w="293370"/>
                <a:gridCol w="570864"/>
                <a:gridCol w="159384"/>
              </a:tblGrid>
              <a:tr h="156845">
                <a:tc gridSpan="11">
                  <a:txBody>
                    <a:bodyPr/>
                    <a:lstStyle/>
                    <a:p>
                      <a:pPr marL="360426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31,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94310">
                <a:tc gridSpan="11">
                  <a:txBody>
                    <a:bodyPr/>
                    <a:lstStyle/>
                    <a:p>
                      <a:pPr marL="394017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GAAP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19075" marR="29209" algn="ctr">
                        <a:lnSpc>
                          <a:spcPts val="919"/>
                        </a:lnSpc>
                        <a:spcBef>
                          <a:spcPts val="1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Acquisition- Related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Adjustments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67" baseline="33333" dirty="0">
                          <a:latin typeface="Tahoma"/>
                          <a:cs typeface="Tahoma"/>
                        </a:rPr>
                        <a:t>(1)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7985" marR="86360" algn="ctr">
                        <a:lnSpc>
                          <a:spcPts val="919"/>
                        </a:lnSpc>
                        <a:spcBef>
                          <a:spcPts val="17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Retirement- Related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Adjustments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67" baseline="33333" dirty="0">
                          <a:latin typeface="Tahoma"/>
                          <a:cs typeface="Tahoma"/>
                        </a:rPr>
                        <a:t>(2)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5925" marR="113664" indent="635" algn="ctr">
                        <a:lnSpc>
                          <a:spcPts val="910"/>
                        </a:lnSpc>
                        <a:spcBef>
                          <a:spcPts val="180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Tax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Reform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Impacts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0995" marR="39370" algn="ctr">
                        <a:lnSpc>
                          <a:spcPct val="95600"/>
                        </a:lnSpc>
                        <a:spcBef>
                          <a:spcPts val="15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(Non- 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9685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01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8,031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7480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201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0788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81406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511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8,232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55.2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56.6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4,886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1120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(353)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0788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81406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511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4,533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1,950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(4)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1,946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(165)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(23)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(187)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6,873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(357)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(23)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6,494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1,158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557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1,738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81940">
                <a:tc>
                  <a:txBody>
                    <a:bodyPr/>
                    <a:lstStyle/>
                    <a:p>
                      <a:pPr marL="31750" marR="397510">
                        <a:lnSpc>
                          <a:spcPts val="910"/>
                        </a:lnSpc>
                        <a:spcBef>
                          <a:spcPts val="290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</a:tr>
              <a:tr h="1657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24511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103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7480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128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9725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9994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(12)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83185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6400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221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8.9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12.7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1,054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480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429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03568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099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9565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(2)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511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1,517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12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</a:tr>
              <a:tr h="262890">
                <a:tc>
                  <a:txBody>
                    <a:bodyPr/>
                    <a:lstStyle/>
                    <a:p>
                      <a:pPr marL="31750" marR="438784">
                        <a:lnSpc>
                          <a:spcPts val="910"/>
                        </a:lnSpc>
                        <a:spcBef>
                          <a:spcPts val="15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905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2178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1.12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0965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7207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0.45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09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9474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09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6692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0.00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09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795"/>
                        </a:spcBef>
                        <a:tabLst>
                          <a:tab pos="6121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1.60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09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382390" y="1861057"/>
            <a:ext cx="791845" cy="9525"/>
          </a:xfrm>
          <a:custGeom>
            <a:avLst/>
            <a:gdLst/>
            <a:ahLst/>
            <a:cxnLst/>
            <a:rect l="l" t="t" r="r" b="b"/>
            <a:pathLst>
              <a:path w="791845" h="9525">
                <a:moveTo>
                  <a:pt x="791260" y="0"/>
                </a:moveTo>
                <a:lnTo>
                  <a:pt x="0" y="0"/>
                </a:lnTo>
                <a:lnTo>
                  <a:pt x="0" y="9144"/>
                </a:lnTo>
                <a:lnTo>
                  <a:pt x="791260" y="9144"/>
                </a:lnTo>
                <a:lnTo>
                  <a:pt x="791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67733" y="1861057"/>
            <a:ext cx="905510" cy="9525"/>
          </a:xfrm>
          <a:custGeom>
            <a:avLst/>
            <a:gdLst/>
            <a:ahLst/>
            <a:cxnLst/>
            <a:rect l="l" t="t" r="r" b="b"/>
            <a:pathLst>
              <a:path w="905510" h="9525">
                <a:moveTo>
                  <a:pt x="905256" y="0"/>
                </a:moveTo>
                <a:lnTo>
                  <a:pt x="0" y="0"/>
                </a:lnTo>
                <a:lnTo>
                  <a:pt x="0" y="9144"/>
                </a:lnTo>
                <a:lnTo>
                  <a:pt x="905256" y="9144"/>
                </a:lnTo>
                <a:lnTo>
                  <a:pt x="9052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68645" y="1861057"/>
            <a:ext cx="639445" cy="9525"/>
          </a:xfrm>
          <a:custGeom>
            <a:avLst/>
            <a:gdLst/>
            <a:ahLst/>
            <a:cxnLst/>
            <a:rect l="l" t="t" r="r" b="b"/>
            <a:pathLst>
              <a:path w="639445" h="9525">
                <a:moveTo>
                  <a:pt x="638860" y="0"/>
                </a:moveTo>
                <a:lnTo>
                  <a:pt x="0" y="0"/>
                </a:lnTo>
                <a:lnTo>
                  <a:pt x="0" y="9144"/>
                </a:lnTo>
                <a:lnTo>
                  <a:pt x="638860" y="9144"/>
                </a:lnTo>
                <a:lnTo>
                  <a:pt x="638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01714" y="1861057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  <a:lnTo>
                  <a:pt x="0" y="9144"/>
                </a:lnTo>
                <a:lnTo>
                  <a:pt x="571500" y="9144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16306" y="4498454"/>
          <a:ext cx="6993255" cy="3400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0285"/>
                <a:gridCol w="504189"/>
                <a:gridCol w="180975"/>
                <a:gridCol w="790575"/>
                <a:gridCol w="293370"/>
                <a:gridCol w="904239"/>
                <a:gridCol w="294639"/>
                <a:gridCol w="637539"/>
                <a:gridCol w="292735"/>
                <a:gridCol w="570229"/>
                <a:gridCol w="158750"/>
              </a:tblGrid>
              <a:tr h="156845">
                <a:tc gridSpan="11">
                  <a:txBody>
                    <a:bodyPr/>
                    <a:lstStyle/>
                    <a:p>
                      <a:pPr marL="3646804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31,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31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92405">
                <a:tc gridSpan="11">
                  <a:txBody>
                    <a:bodyPr/>
                    <a:lstStyle/>
                    <a:p>
                      <a:pPr marL="39827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Continuing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Operations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08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GAAP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19075" marR="29209" algn="ctr">
                        <a:lnSpc>
                          <a:spcPts val="919"/>
                        </a:lnSpc>
                        <a:spcBef>
                          <a:spcPts val="18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Acquisition- Related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Adjustments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75" baseline="33333" dirty="0">
                          <a:latin typeface="Tahoma"/>
                          <a:cs typeface="Tahoma"/>
                        </a:rPr>
                        <a:t>(1)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7985" marR="86360" algn="ctr">
                        <a:lnSpc>
                          <a:spcPts val="919"/>
                        </a:lnSpc>
                        <a:spcBef>
                          <a:spcPts val="185"/>
                        </a:spcBef>
                      </a:pPr>
                      <a:r>
                        <a:rPr sz="800" b="1" spc="-10" dirty="0">
                          <a:latin typeface="Tahoma"/>
                          <a:cs typeface="Tahoma"/>
                        </a:rPr>
                        <a:t>Retirement- Related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Adjustments</a:t>
                      </a:r>
                      <a:r>
                        <a:rPr sz="8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75" baseline="33333" dirty="0">
                          <a:latin typeface="Tahoma"/>
                          <a:cs typeface="Tahoma"/>
                        </a:rPr>
                        <a:t>(2)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2349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8300" marR="63500" indent="-1905" algn="ctr">
                        <a:lnSpc>
                          <a:spcPts val="910"/>
                        </a:lnSpc>
                        <a:spcBef>
                          <a:spcPts val="19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Tax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Reform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Impacts</a:t>
                      </a:r>
                      <a:r>
                        <a:rPr sz="800" b="1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750" b="1" spc="-89" baseline="33333" dirty="0">
                          <a:latin typeface="Tahoma"/>
                          <a:cs typeface="Tahoma"/>
                        </a:rPr>
                        <a:t>(4)</a:t>
                      </a:r>
                      <a:endParaRPr sz="750" baseline="33333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0995" marR="39370" algn="ctr">
                        <a:lnSpc>
                          <a:spcPct val="95600"/>
                        </a:lnSpc>
                        <a:spcBef>
                          <a:spcPts val="1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(Non- GAAP)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209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018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Profit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7,742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7480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170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10788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81406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135"/>
                        </a:spcBef>
                        <a:tabLst>
                          <a:tab pos="5511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7,913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7970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Gross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Profit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Margin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53.5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54.7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70" marB="0"/>
                </a:tc>
              </a:tr>
              <a:tr h="1809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SG&amp;A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4,974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gridSpan="2"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71120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(268)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107886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81406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209"/>
                        </a:spcBef>
                        <a:tabLst>
                          <a:tab pos="5511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4,706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R&amp;D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1,796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(Income)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(317)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(50)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(96)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(463)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0" dirty="0">
                          <a:latin typeface="Verdana"/>
                          <a:cs typeface="Verdana"/>
                        </a:rPr>
                        <a:t>Total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Expense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Other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(Income)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6,669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(318)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(96)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6,255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1,074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488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96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1,658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81305">
                <a:tc>
                  <a:txBody>
                    <a:bodyPr/>
                    <a:lstStyle/>
                    <a:p>
                      <a:pPr marL="74295" marR="397510">
                        <a:lnSpc>
                          <a:spcPts val="910"/>
                        </a:lnSpc>
                        <a:spcBef>
                          <a:spcPts val="28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Pre-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Margin</a:t>
                      </a:r>
                      <a:r>
                        <a:rPr sz="8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7.4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—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11.5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</a:tr>
              <a:tr h="16510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(3)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19939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(502)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7480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142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109664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7099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448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95"/>
                        </a:spcBef>
                        <a:tabLst>
                          <a:tab pos="7010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94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20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340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Effective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Tax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Rate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(46.7)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22.3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3.0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27.0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5.6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6669" marB="0"/>
                </a:tc>
              </a:tr>
              <a:tr h="1809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spc="4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1,575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7480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346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103568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91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0995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67373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(448)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215"/>
                        </a:spcBef>
                        <a:tabLst>
                          <a:tab pos="55118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1,564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80975"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Income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Margin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 Continuing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2.4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0.6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(3.1)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7366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pts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10.8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%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7305" marB="0"/>
                </a:tc>
              </a:tr>
              <a:tr h="400050">
                <a:tc>
                  <a:txBody>
                    <a:bodyPr/>
                    <a:lstStyle/>
                    <a:p>
                      <a:pPr marL="74295" marR="438784">
                        <a:lnSpc>
                          <a:spcPts val="910"/>
                        </a:lnSpc>
                        <a:spcBef>
                          <a:spcPts val="285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Diluted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Earnings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Per </a:t>
                      </a:r>
                      <a:r>
                        <a:rPr sz="800" spc="-80" dirty="0">
                          <a:latin typeface="Verdana"/>
                          <a:cs typeface="Verdana"/>
                        </a:rPr>
                        <a:t>Share: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75"/>
                        </a:spcBef>
                        <a:tabLst>
                          <a:tab pos="217804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1.69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 gridSpan="2"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875"/>
                        </a:spcBef>
                        <a:tabLst>
                          <a:tab pos="720725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0.37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875"/>
                        </a:spcBef>
                        <a:tabLst>
                          <a:tab pos="947419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0.10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40995">
                        <a:lnSpc>
                          <a:spcPct val="100000"/>
                        </a:lnSpc>
                        <a:spcBef>
                          <a:spcPts val="875"/>
                        </a:spcBef>
                        <a:tabLst>
                          <a:tab pos="64643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(0.48)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ct val="100000"/>
                        </a:lnSpc>
                        <a:spcBef>
                          <a:spcPts val="875"/>
                        </a:spcBef>
                        <a:tabLst>
                          <a:tab pos="612140" algn="l"/>
                        </a:tabLst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$</a:t>
                      </a:r>
                      <a:r>
                        <a:rPr sz="800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800" spc="-20" dirty="0">
                          <a:latin typeface="Verdana"/>
                          <a:cs typeface="Verdana"/>
                        </a:rPr>
                        <a:t>1.68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1112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3382390" y="5252339"/>
            <a:ext cx="791845" cy="9525"/>
          </a:xfrm>
          <a:custGeom>
            <a:avLst/>
            <a:gdLst/>
            <a:ahLst/>
            <a:cxnLst/>
            <a:rect l="l" t="t" r="r" b="b"/>
            <a:pathLst>
              <a:path w="791845" h="9525">
                <a:moveTo>
                  <a:pt x="791260" y="0"/>
                </a:moveTo>
                <a:lnTo>
                  <a:pt x="0" y="0"/>
                </a:lnTo>
                <a:lnTo>
                  <a:pt x="0" y="9144"/>
                </a:lnTo>
                <a:lnTo>
                  <a:pt x="791260" y="9144"/>
                </a:lnTo>
                <a:lnTo>
                  <a:pt x="791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67733" y="5252339"/>
            <a:ext cx="905510" cy="9525"/>
          </a:xfrm>
          <a:custGeom>
            <a:avLst/>
            <a:gdLst/>
            <a:ahLst/>
            <a:cxnLst/>
            <a:rect l="l" t="t" r="r" b="b"/>
            <a:pathLst>
              <a:path w="905510" h="9525">
                <a:moveTo>
                  <a:pt x="905256" y="0"/>
                </a:moveTo>
                <a:lnTo>
                  <a:pt x="0" y="0"/>
                </a:lnTo>
                <a:lnTo>
                  <a:pt x="0" y="9144"/>
                </a:lnTo>
                <a:lnTo>
                  <a:pt x="905256" y="9144"/>
                </a:lnTo>
                <a:lnTo>
                  <a:pt x="9052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68645" y="5252339"/>
            <a:ext cx="639445" cy="9525"/>
          </a:xfrm>
          <a:custGeom>
            <a:avLst/>
            <a:gdLst/>
            <a:ahLst/>
            <a:cxnLst/>
            <a:rect l="l" t="t" r="r" b="b"/>
            <a:pathLst>
              <a:path w="639445" h="9525">
                <a:moveTo>
                  <a:pt x="638860" y="0"/>
                </a:moveTo>
                <a:lnTo>
                  <a:pt x="0" y="0"/>
                </a:lnTo>
                <a:lnTo>
                  <a:pt x="0" y="9144"/>
                </a:lnTo>
                <a:lnTo>
                  <a:pt x="638860" y="9144"/>
                </a:lnTo>
                <a:lnTo>
                  <a:pt x="6388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601714" y="5252339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571500" y="0"/>
                </a:moveTo>
                <a:lnTo>
                  <a:pt x="0" y="0"/>
                </a:lnTo>
                <a:lnTo>
                  <a:pt x="0" y="9144"/>
                </a:lnTo>
                <a:lnTo>
                  <a:pt x="571500" y="9144"/>
                </a:lnTo>
                <a:lnTo>
                  <a:pt x="571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8055" y="7892541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2"/>
                </a:lnTo>
                <a:lnTo>
                  <a:pt x="1266748" y="12192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4500" y="7902702"/>
            <a:ext cx="688340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99695" indent="-171450" algn="just">
              <a:lnSpc>
                <a:spcPct val="100000"/>
              </a:lnSpc>
              <a:spcBef>
                <a:spcPts val="100"/>
              </a:spcBef>
              <a:buAutoNum type="arabicParenBoth"/>
              <a:tabLst>
                <a:tab pos="184785" algn="l"/>
              </a:tabLst>
            </a:pPr>
            <a:r>
              <a:rPr sz="800" spc="-35" dirty="0">
                <a:latin typeface="Verdana"/>
                <a:cs typeface="Verdana"/>
              </a:rPr>
              <a:t>Includes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amortization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of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acquired</a:t>
            </a:r>
            <a:r>
              <a:rPr sz="800" spc="-114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intangible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assets,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in-process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65" dirty="0">
                <a:latin typeface="Verdana"/>
                <a:cs typeface="Verdana"/>
              </a:rPr>
              <a:t>R&amp;D,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transaction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costs,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applicable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retention,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restructuring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and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related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expenses,</a:t>
            </a:r>
            <a:r>
              <a:rPr sz="800" spc="-70" dirty="0">
                <a:latin typeface="Verdana"/>
                <a:cs typeface="Verdana"/>
              </a:rPr>
              <a:t> 	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charges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related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acquisition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integration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and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pre-closing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charges,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such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financing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costs.</a:t>
            </a:r>
            <a:r>
              <a:rPr sz="800" spc="-8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2024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also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loss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8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$50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million</a:t>
            </a:r>
            <a:r>
              <a:rPr sz="800" spc="-114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on</a:t>
            </a:r>
            <a:r>
              <a:rPr sz="800" spc="-9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foreign</a:t>
            </a:r>
            <a:r>
              <a:rPr sz="800" spc="-35" dirty="0">
                <a:latin typeface="Verdana"/>
                <a:cs typeface="Verdana"/>
              </a:rPr>
              <a:t> 	</a:t>
            </a:r>
            <a:r>
              <a:rPr sz="800" spc="-55" dirty="0">
                <a:latin typeface="Verdana"/>
                <a:cs typeface="Verdana"/>
              </a:rPr>
              <a:t>exchange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derivative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contracts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entered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into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by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the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company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prior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to</a:t>
            </a:r>
            <a:r>
              <a:rPr sz="800" spc="-11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the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acquisition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of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StreamSets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and</a:t>
            </a:r>
            <a:r>
              <a:rPr sz="800" spc="-10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webMethods</a:t>
            </a:r>
            <a:r>
              <a:rPr sz="800" spc="-10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from</a:t>
            </a:r>
            <a:r>
              <a:rPr sz="800" spc="-9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Software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AG.</a:t>
            </a:r>
            <a:endParaRPr sz="800">
              <a:latin typeface="Verdana"/>
              <a:cs typeface="Verdana"/>
            </a:endParaRPr>
          </a:p>
          <a:p>
            <a:pPr marL="183515" marR="5080" indent="-171450">
              <a:lnSpc>
                <a:spcPct val="100000"/>
              </a:lnSpc>
              <a:spcBef>
                <a:spcPts val="305"/>
              </a:spcBef>
              <a:buAutoNum type="arabicParenBoth"/>
              <a:tabLst>
                <a:tab pos="184785" algn="l"/>
              </a:tabLst>
            </a:pP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55" dirty="0">
                <a:latin typeface="Verdana"/>
                <a:cs typeface="Verdana"/>
              </a:rPr>
              <a:t> amortization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prior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service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costs,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interest </a:t>
            </a:r>
            <a:r>
              <a:rPr sz="800" spc="-45" dirty="0">
                <a:latin typeface="Verdana"/>
                <a:cs typeface="Verdana"/>
              </a:rPr>
              <a:t>cost,</a:t>
            </a:r>
            <a:r>
              <a:rPr sz="800" spc="-50" dirty="0">
                <a:latin typeface="Verdana"/>
                <a:cs typeface="Verdana"/>
              </a:rPr>
              <a:t> expected</a:t>
            </a:r>
            <a:r>
              <a:rPr sz="800" spc="-55" dirty="0">
                <a:latin typeface="Verdana"/>
                <a:cs typeface="Verdana"/>
              </a:rPr>
              <a:t> return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on</a:t>
            </a:r>
            <a:r>
              <a:rPr sz="80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plan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assets,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amortized </a:t>
            </a:r>
            <a:r>
              <a:rPr sz="800" spc="-45" dirty="0">
                <a:latin typeface="Verdana"/>
                <a:cs typeface="Verdana"/>
              </a:rPr>
              <a:t>actuarial </a:t>
            </a:r>
            <a:r>
              <a:rPr sz="800" spc="-50" dirty="0">
                <a:latin typeface="Verdana"/>
                <a:cs typeface="Verdana"/>
              </a:rPr>
              <a:t>gains/losses,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any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20" dirty="0">
                <a:latin typeface="Verdana"/>
                <a:cs typeface="Verdana"/>
              </a:rPr>
              <a:t>plan 	</a:t>
            </a:r>
            <a:r>
              <a:rPr sz="800" spc="-50" dirty="0">
                <a:latin typeface="Verdana"/>
                <a:cs typeface="Verdana"/>
              </a:rPr>
              <a:t>curtailments/settlements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pension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insolvency</a:t>
            </a:r>
            <a:r>
              <a:rPr sz="800" spc="-35" dirty="0">
                <a:latin typeface="Verdana"/>
                <a:cs typeface="Verdana"/>
              </a:rPr>
              <a:t> costs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costs.</a:t>
            </a:r>
            <a:endParaRPr sz="800">
              <a:latin typeface="Verdana"/>
              <a:cs typeface="Verdana"/>
            </a:endParaRPr>
          </a:p>
          <a:p>
            <a:pPr marL="183515" marR="70485" indent="-171450">
              <a:lnSpc>
                <a:spcPct val="100000"/>
              </a:lnSpc>
              <a:spcBef>
                <a:spcPts val="300"/>
              </a:spcBef>
              <a:buAutoNum type="arabicParenBoth"/>
              <a:tabLst>
                <a:tab pos="184785" algn="l"/>
              </a:tabLst>
            </a:pP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</a:t>
            </a:r>
            <a:r>
              <a:rPr sz="800" spc="-55" dirty="0">
                <a:latin typeface="Verdana"/>
                <a:cs typeface="Verdana"/>
              </a:rPr>
              <a:t> on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operating </a:t>
            </a:r>
            <a:r>
              <a:rPr sz="800" spc="-70" dirty="0">
                <a:latin typeface="Verdana"/>
                <a:cs typeface="Verdana"/>
              </a:rPr>
              <a:t>(non-</a:t>
            </a:r>
            <a:r>
              <a:rPr sz="800" spc="-60" dirty="0">
                <a:latin typeface="Verdana"/>
                <a:cs typeface="Verdana"/>
              </a:rPr>
              <a:t>GAAP)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pre-</a:t>
            </a:r>
            <a:r>
              <a:rPr sz="800" spc="-60" dirty="0">
                <a:latin typeface="Verdana"/>
                <a:cs typeface="Verdana"/>
              </a:rPr>
              <a:t>tax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income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continuing</a:t>
            </a:r>
            <a:r>
              <a:rPr sz="800" spc="-50" dirty="0">
                <a:latin typeface="Verdana"/>
                <a:cs typeface="Verdana"/>
              </a:rPr>
              <a:t> operations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is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calculated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under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60" dirty="0">
                <a:latin typeface="Verdana"/>
                <a:cs typeface="Verdana"/>
              </a:rPr>
              <a:t> same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accounting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principles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applied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25" dirty="0">
                <a:latin typeface="Verdana"/>
                <a:cs typeface="Verdana"/>
              </a:rPr>
              <a:t>to 	</a:t>
            </a:r>
            <a:r>
              <a:rPr sz="800" spc="-50" dirty="0">
                <a:latin typeface="Verdana"/>
                <a:cs typeface="Verdana"/>
              </a:rPr>
              <a:t>the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GAAP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pre-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income.</a:t>
            </a:r>
            <a:endParaRPr sz="800">
              <a:latin typeface="Verdana"/>
              <a:cs typeface="Verdana"/>
            </a:endParaRPr>
          </a:p>
          <a:p>
            <a:pPr marL="184150" indent="-171450">
              <a:lnSpc>
                <a:spcPct val="100000"/>
              </a:lnSpc>
              <a:spcBef>
                <a:spcPts val="295"/>
              </a:spcBef>
              <a:buAutoNum type="arabicParenBoth"/>
              <a:tabLst>
                <a:tab pos="184150" algn="l"/>
              </a:tabLst>
            </a:pPr>
            <a:r>
              <a:rPr sz="800" spc="-40" dirty="0">
                <a:latin typeface="Verdana"/>
                <a:cs typeface="Verdana"/>
              </a:rPr>
              <a:t>2024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includes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benefit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from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income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taxes due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to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</a:t>
            </a:r>
            <a:r>
              <a:rPr sz="800" spc="-50" dirty="0">
                <a:latin typeface="Verdana"/>
                <a:cs typeface="Verdana"/>
              </a:rPr>
              <a:t> resolution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certain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tax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audit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matters.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60777" y="531368"/>
            <a:ext cx="34518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OPERATING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40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TO</a:t>
            </a:r>
            <a:r>
              <a:rPr sz="800" b="1" spc="-20" dirty="0">
                <a:latin typeface="Tahoma"/>
                <a:cs typeface="Tahoma"/>
              </a:rPr>
              <a:t> FREE</a:t>
            </a:r>
            <a:r>
              <a:rPr sz="800" b="1" spc="-3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1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20" dirty="0">
                <a:latin typeface="Tahoma"/>
                <a:cs typeface="Tahoma"/>
              </a:rPr>
              <a:t> RECONCILIATION</a:t>
            </a:r>
            <a:endParaRPr sz="800">
              <a:latin typeface="Tahoma"/>
              <a:cs typeface="Tahoma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427213"/>
          <a:ext cx="6355080" cy="1901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635"/>
                <a:gridCol w="669925"/>
                <a:gridCol w="654685"/>
              </a:tblGrid>
              <a:tr h="287020">
                <a:tc gridSpan="3">
                  <a:txBody>
                    <a:bodyPr/>
                    <a:lstStyle/>
                    <a:p>
                      <a:pPr marL="5379085" marR="165100" indent="-253365">
                        <a:lnSpc>
                          <a:spcPts val="919"/>
                        </a:lnSpc>
                        <a:spcBef>
                          <a:spcPts val="8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Ended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79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7018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Millions)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762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Cash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5" dirty="0">
                          <a:latin typeface="Tahoma"/>
                          <a:cs typeface="Tahoma"/>
                        </a:rPr>
                        <a:t>Operations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per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GAAP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2863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4,370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ct val="100000"/>
                        </a:lnSpc>
                        <a:spcBef>
                          <a:spcPts val="50"/>
                        </a:spcBef>
                        <a:tabLst>
                          <a:tab pos="2863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4,168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635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65" dirty="0">
                          <a:latin typeface="Verdana"/>
                          <a:cs typeface="Verdana"/>
                        </a:rPr>
                        <a:t>Less: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change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8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IBM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2,087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1,897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103505" marB="0"/>
                </a:tc>
              </a:tr>
              <a:tr h="3219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from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activities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excl.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IBM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Financing</a:t>
                      </a:r>
                      <a:r>
                        <a:rPr sz="8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receivables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R="6540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2,283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2,271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</a:tr>
              <a:tr h="32702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Capital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Expenditures,</a:t>
                      </a:r>
                      <a:r>
                        <a:rPr sz="8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net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R="43180" algn="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(321)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R="12700" algn="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(361)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790" marB="0"/>
                </a:tc>
              </a:tr>
              <a:tr h="231775">
                <a:tc>
                  <a:txBody>
                    <a:bodyPr/>
                    <a:lstStyle/>
                    <a:p>
                      <a:pPr marL="33020">
                        <a:lnSpc>
                          <a:spcPts val="919"/>
                        </a:lnSpc>
                        <a:spcBef>
                          <a:spcPts val="805"/>
                        </a:spcBef>
                      </a:pPr>
                      <a:r>
                        <a:rPr sz="800" b="1" spc="-25" dirty="0">
                          <a:latin typeface="Tahoma"/>
                          <a:cs typeface="Tahoma"/>
                        </a:rPr>
                        <a:t>Free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Flow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R="64135" algn="r">
                        <a:lnSpc>
                          <a:spcPts val="919"/>
                        </a:lnSpc>
                        <a:spcBef>
                          <a:spcPts val="805"/>
                        </a:spcBef>
                        <a:tabLst>
                          <a:tab pos="2863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1,962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919"/>
                        </a:lnSpc>
                        <a:spcBef>
                          <a:spcPts val="805"/>
                        </a:spcBef>
                        <a:tabLst>
                          <a:tab pos="28638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1,910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0223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8773" y="531368"/>
            <a:ext cx="35147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800" b="1" spc="-35" dirty="0">
                <a:latin typeface="Tahoma"/>
                <a:cs typeface="Tahoma"/>
              </a:rPr>
              <a:t>INTERNATIONAL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BUSINESS</a:t>
            </a:r>
            <a:r>
              <a:rPr sz="800" b="1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MACHINES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10" dirty="0">
                <a:latin typeface="Tahoma"/>
                <a:cs typeface="Tahoma"/>
              </a:rPr>
              <a:t>CORPORATION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800" b="1" spc="-10" dirty="0">
                <a:latin typeface="Tahoma"/>
                <a:cs typeface="Tahoma"/>
              </a:rPr>
              <a:t>GAAP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OPERATING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CASH</a:t>
            </a:r>
            <a:r>
              <a:rPr sz="800" b="1" spc="-5" dirty="0">
                <a:latin typeface="Tahoma"/>
                <a:cs typeface="Tahoma"/>
              </a:rPr>
              <a:t> </a:t>
            </a:r>
            <a:r>
              <a:rPr sz="800" b="1" spc="-45" dirty="0">
                <a:latin typeface="Tahoma"/>
                <a:cs typeface="Tahoma"/>
              </a:rPr>
              <a:t>FLOW</a:t>
            </a:r>
            <a:r>
              <a:rPr sz="800" b="1" spc="-25" dirty="0">
                <a:latin typeface="Tahoma"/>
                <a:cs typeface="Tahoma"/>
              </a:rPr>
              <a:t> </a:t>
            </a:r>
            <a:r>
              <a:rPr sz="800" b="1" spc="-35" dirty="0">
                <a:latin typeface="Tahoma"/>
                <a:cs typeface="Tahoma"/>
              </a:rPr>
              <a:t>TO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5" dirty="0">
                <a:latin typeface="Tahoma"/>
                <a:cs typeface="Tahoma"/>
              </a:rPr>
              <a:t>ADJUSTED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30" dirty="0">
                <a:latin typeface="Tahoma"/>
                <a:cs typeface="Tahoma"/>
              </a:rPr>
              <a:t>EBITDA</a:t>
            </a:r>
            <a:r>
              <a:rPr sz="800" b="1" spc="-10" dirty="0">
                <a:latin typeface="Tahoma"/>
                <a:cs typeface="Tahoma"/>
              </a:rPr>
              <a:t> </a:t>
            </a:r>
            <a:r>
              <a:rPr sz="800" b="1" spc="-20" dirty="0">
                <a:latin typeface="Tahoma"/>
                <a:cs typeface="Tahoma"/>
              </a:rPr>
              <a:t>RECONCILIATION</a:t>
            </a:r>
            <a:endParaRPr sz="8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  <a:spcBef>
                <a:spcPts val="5"/>
              </a:spcBef>
            </a:pPr>
            <a:r>
              <a:rPr sz="800" b="1" spc="-10" dirty="0">
                <a:latin typeface="Tahoma"/>
                <a:cs typeface="Tahoma"/>
              </a:rPr>
              <a:t>(Unaudited)</a:t>
            </a:r>
            <a:endParaRPr sz="8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712" y="1101077"/>
          <a:ext cx="6363970" cy="2280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2080"/>
                <a:gridCol w="524510"/>
                <a:gridCol w="552450"/>
              </a:tblGrid>
              <a:tr h="279400">
                <a:tc gridSpan="3">
                  <a:txBody>
                    <a:bodyPr/>
                    <a:lstStyle/>
                    <a:p>
                      <a:pPr marL="5511800" marR="41910" indent="-253365">
                        <a:lnSpc>
                          <a:spcPts val="900"/>
                        </a:lnSpc>
                        <a:spcBef>
                          <a:spcPts val="105"/>
                        </a:spcBef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Three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5" dirty="0">
                          <a:latin typeface="Tahoma"/>
                          <a:cs typeface="Tahoma"/>
                        </a:rPr>
                        <a:t>Months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Ended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March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31,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1333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8910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(Dollars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in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Billions)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2025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20" dirty="0">
                          <a:latin typeface="Tahoma"/>
                          <a:cs typeface="Tahoma"/>
                        </a:rPr>
                        <a:t>2024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b="1" spc="-40" dirty="0">
                          <a:latin typeface="Tahoma"/>
                          <a:cs typeface="Tahoma"/>
                        </a:rPr>
                        <a:t>Net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Cash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Provided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30" dirty="0">
                          <a:latin typeface="Tahoma"/>
                          <a:cs typeface="Tahoma"/>
                        </a:rPr>
                        <a:t>by</a:t>
                      </a:r>
                      <a:r>
                        <a:rPr sz="800" b="1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40" dirty="0">
                          <a:latin typeface="Tahoma"/>
                          <a:cs typeface="Tahoma"/>
                        </a:rPr>
                        <a:t>Operating</a:t>
                      </a:r>
                      <a:r>
                        <a:rPr sz="800" b="1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Activities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4.4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4290" algn="r">
                        <a:lnSpc>
                          <a:spcPct val="100000"/>
                        </a:lnSpc>
                        <a:spcBef>
                          <a:spcPts val="65"/>
                        </a:spcBef>
                        <a:tabLst>
                          <a:tab pos="3028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4.2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825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800" spc="-20" dirty="0">
                          <a:latin typeface="Verdana"/>
                          <a:cs typeface="Verdana"/>
                        </a:rPr>
                        <a:t>Add: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90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Net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interest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expense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0.3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0.2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2457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Provision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for/(Benefit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5" dirty="0">
                          <a:latin typeface="Verdana"/>
                          <a:cs typeface="Verdana"/>
                        </a:rPr>
                        <a:t>from)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 income</a:t>
                      </a:r>
                      <a:r>
                        <a:rPr sz="8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taxes</a:t>
                      </a:r>
                      <a:r>
                        <a:rPr sz="8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continuing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operations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0.1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(0.5)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245745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800" spc="-45" dirty="0">
                          <a:latin typeface="Verdana"/>
                          <a:cs typeface="Verdana"/>
                        </a:rPr>
                        <a:t>Less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change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25" dirty="0">
                          <a:latin typeface="Verdana"/>
                          <a:cs typeface="Verdana"/>
                        </a:rPr>
                        <a:t>in: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971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16954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50" dirty="0">
                          <a:latin typeface="Verdana"/>
                          <a:cs typeface="Verdana"/>
                        </a:rPr>
                        <a:t>Financing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10" dirty="0">
                          <a:latin typeface="Verdana"/>
                          <a:cs typeface="Verdana"/>
                        </a:rPr>
                        <a:t>receivables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6476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2.1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800" spc="-25" dirty="0">
                          <a:latin typeface="Verdana"/>
                          <a:cs typeface="Verdana"/>
                        </a:rPr>
                        <a:t>1.9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1590" marB="0"/>
                </a:tc>
              </a:tr>
              <a:tr h="26987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55" dirty="0">
                          <a:latin typeface="Verdana"/>
                          <a:cs typeface="Verdana"/>
                        </a:rPr>
                        <a:t>Other 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assets</a:t>
                      </a:r>
                      <a:r>
                        <a:rPr sz="8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5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800" spc="-45" dirty="0">
                          <a:latin typeface="Verdana"/>
                          <a:cs typeface="Verdana"/>
                        </a:rPr>
                        <a:t> liabilities/other,</a:t>
                      </a:r>
                      <a:r>
                        <a:rPr sz="8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800" spc="-50" dirty="0">
                          <a:latin typeface="Verdana"/>
                          <a:cs typeface="Verdana"/>
                        </a:rPr>
                        <a:t>net</a:t>
                      </a:r>
                      <a:r>
                        <a:rPr sz="8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50" spc="-37" baseline="33333" dirty="0">
                          <a:latin typeface="Verdana"/>
                          <a:cs typeface="Verdana"/>
                        </a:rPr>
                        <a:t>(1)</a:t>
                      </a:r>
                      <a:endParaRPr sz="750" baseline="33333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4445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(0.7)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  <a:tc>
                  <a:txBody>
                    <a:bodyPr/>
                    <a:lstStyle/>
                    <a:p>
                      <a:pPr marR="1397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800" spc="-10" dirty="0">
                          <a:latin typeface="Verdana"/>
                          <a:cs typeface="Verdana"/>
                        </a:rPr>
                        <a:t>(1.0)</a:t>
                      </a:r>
                      <a:endParaRPr sz="800">
                        <a:latin typeface="Verdana"/>
                        <a:cs typeface="Verdana"/>
                      </a:endParaRPr>
                    </a:p>
                  </a:txBody>
                  <a:tcPr marL="0" marR="0" marT="20955" marB="0"/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3020">
                        <a:lnSpc>
                          <a:spcPts val="919"/>
                        </a:lnSpc>
                      </a:pPr>
                      <a:r>
                        <a:rPr sz="800" b="1" spc="-35" dirty="0">
                          <a:latin typeface="Tahoma"/>
                          <a:cs typeface="Tahoma"/>
                        </a:rPr>
                        <a:t>Adjusted</a:t>
                      </a:r>
                      <a:r>
                        <a:rPr sz="8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800" b="1" spc="-10" dirty="0">
                          <a:latin typeface="Tahoma"/>
                          <a:cs typeface="Tahoma"/>
                        </a:rPr>
                        <a:t>EBITDA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64769" algn="r">
                        <a:lnSpc>
                          <a:spcPts val="919"/>
                        </a:lnSpc>
                        <a:tabLst>
                          <a:tab pos="2647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3.4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4290" algn="r">
                        <a:lnSpc>
                          <a:spcPts val="919"/>
                        </a:lnSpc>
                        <a:tabLst>
                          <a:tab pos="302895" algn="l"/>
                        </a:tabLst>
                      </a:pPr>
                      <a:r>
                        <a:rPr sz="800" b="1" spc="-50" dirty="0">
                          <a:latin typeface="Tahoma"/>
                          <a:cs typeface="Tahoma"/>
                        </a:rPr>
                        <a:t>$</a:t>
                      </a:r>
                      <a:r>
                        <a:rPr sz="800" b="1" dirty="0">
                          <a:latin typeface="Tahoma"/>
                          <a:cs typeface="Tahoma"/>
                        </a:rPr>
                        <a:t>	</a:t>
                      </a:r>
                      <a:r>
                        <a:rPr sz="800" b="1" spc="-25" dirty="0">
                          <a:latin typeface="Tahoma"/>
                          <a:cs typeface="Tahoma"/>
                        </a:rPr>
                        <a:t>3.0</a:t>
                      </a:r>
                      <a:endParaRPr sz="800">
                        <a:latin typeface="Tahoma"/>
                        <a:cs typeface="Tahoma"/>
                      </a:endParaRPr>
                    </a:p>
                  </a:txBody>
                  <a:tcPr marL="0" marR="0" marT="5080" marB="0"/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734568" y="3525647"/>
            <a:ext cx="1266825" cy="12700"/>
          </a:xfrm>
          <a:custGeom>
            <a:avLst/>
            <a:gdLst/>
            <a:ahLst/>
            <a:cxnLst/>
            <a:rect l="l" t="t" r="r" b="b"/>
            <a:pathLst>
              <a:path w="1266825" h="12700">
                <a:moveTo>
                  <a:pt x="1266748" y="0"/>
                </a:moveTo>
                <a:lnTo>
                  <a:pt x="0" y="0"/>
                </a:lnTo>
                <a:lnTo>
                  <a:pt x="0" y="12191"/>
                </a:lnTo>
                <a:lnTo>
                  <a:pt x="1266748" y="12191"/>
                </a:lnTo>
                <a:lnTo>
                  <a:pt x="1266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1012" y="3535807"/>
            <a:ext cx="619379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sz="800" spc="-55" dirty="0">
                <a:latin typeface="Verdana"/>
                <a:cs typeface="Verdana"/>
              </a:rPr>
              <a:t>(1)</a:t>
            </a:r>
            <a:r>
              <a:rPr sz="800" spc="12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Other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and </a:t>
            </a:r>
            <a:r>
              <a:rPr sz="800" spc="-45" dirty="0">
                <a:latin typeface="Verdana"/>
                <a:cs typeface="Verdana"/>
              </a:rPr>
              <a:t>liabilities/other,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net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mainly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consists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of</a:t>
            </a:r>
            <a:r>
              <a:rPr sz="800" spc="-55" dirty="0">
                <a:latin typeface="Verdana"/>
                <a:cs typeface="Verdana"/>
              </a:rPr>
              <a:t> Operating</a:t>
            </a:r>
            <a:r>
              <a:rPr sz="800" spc="-6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assets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55" dirty="0">
                <a:latin typeface="Verdana"/>
                <a:cs typeface="Verdana"/>
              </a:rPr>
              <a:t> </a:t>
            </a:r>
            <a:r>
              <a:rPr sz="800" spc="-45" dirty="0">
                <a:latin typeface="Verdana"/>
                <a:cs typeface="Verdana"/>
              </a:rPr>
              <a:t>liabilities/Other,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net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in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the </a:t>
            </a:r>
            <a:r>
              <a:rPr sz="800" spc="-60" dirty="0">
                <a:latin typeface="Verdana"/>
                <a:cs typeface="Verdana"/>
              </a:rPr>
              <a:t>Cash</a:t>
            </a:r>
            <a:r>
              <a:rPr sz="800" spc="-70" dirty="0">
                <a:latin typeface="Verdana"/>
                <a:cs typeface="Verdana"/>
              </a:rPr>
              <a:t> </a:t>
            </a:r>
            <a:r>
              <a:rPr sz="800" spc="-35" dirty="0">
                <a:latin typeface="Verdana"/>
                <a:cs typeface="Verdana"/>
              </a:rPr>
              <a:t>Flow</a:t>
            </a:r>
            <a:r>
              <a:rPr sz="800" spc="-75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chart,</a:t>
            </a:r>
            <a:r>
              <a:rPr sz="800" spc="-60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workforce </a:t>
            </a:r>
            <a:r>
              <a:rPr sz="800" spc="-50" dirty="0">
                <a:latin typeface="Verdana"/>
                <a:cs typeface="Verdana"/>
              </a:rPr>
              <a:t>rebalancing</a:t>
            </a:r>
            <a:r>
              <a:rPr sz="800" spc="-55" dirty="0">
                <a:latin typeface="Verdana"/>
                <a:cs typeface="Verdana"/>
              </a:rPr>
              <a:t> charges,</a:t>
            </a:r>
            <a:r>
              <a:rPr sz="800" spc="-5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non-</a:t>
            </a:r>
            <a:r>
              <a:rPr sz="800" spc="-55" dirty="0">
                <a:latin typeface="Verdana"/>
                <a:cs typeface="Verdana"/>
              </a:rPr>
              <a:t>operating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impacts</a:t>
            </a:r>
            <a:r>
              <a:rPr sz="800" spc="-25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and</a:t>
            </a:r>
            <a:r>
              <a:rPr sz="800" spc="-40" dirty="0">
                <a:latin typeface="Verdana"/>
                <a:cs typeface="Verdana"/>
              </a:rPr>
              <a:t> </a:t>
            </a:r>
            <a:r>
              <a:rPr sz="800" spc="-50" dirty="0">
                <a:latin typeface="Verdana"/>
                <a:cs typeface="Verdana"/>
              </a:rPr>
              <a:t>corporate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70" dirty="0">
                <a:latin typeface="Verdana"/>
                <a:cs typeface="Verdana"/>
              </a:rPr>
              <a:t>(gains)</a:t>
            </a:r>
            <a:r>
              <a:rPr sz="800" spc="-55" dirty="0">
                <a:latin typeface="Verdana"/>
                <a:cs typeface="Verdana"/>
              </a:rPr>
              <a:t> and</a:t>
            </a:r>
            <a:r>
              <a:rPr sz="800" spc="-4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charges.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3011</Words>
  <Application>Microsoft Office PowerPoint</Application>
  <PresentationFormat>Custom</PresentationFormat>
  <Paragraphs>893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 MT</vt:lpstr>
      <vt:lpstr>Calibri</vt:lpstr>
      <vt:lpstr>Microsoft Sans Serif</vt:lpstr>
      <vt:lpstr>Tahoma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IBM-1Q25-Press-Release</dc:title>
  <dc:creator>IBM</dc:creator>
  <cp:lastModifiedBy>Microsoft account</cp:lastModifiedBy>
  <cp:revision>1</cp:revision>
  <dcterms:created xsi:type="dcterms:W3CDTF">2025-12-14T13:08:17Z</dcterms:created>
  <dcterms:modified xsi:type="dcterms:W3CDTF">2025-12-14T13:08:58Z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2025-04-23T00:00:00Z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2025-12-14T00:00:00Z</vt:filetime>
  </property>
  <property fmtid="{D5CDD505-2E9C-101B-9397-08002B2CF9AE}" pid="5" name="Producer">
    <vt:lpwstr>Microsoft® Word for Microsoft 365</vt:lpwstr>
  </property>
</Properties>
</file>