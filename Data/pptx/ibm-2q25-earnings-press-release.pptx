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243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bm.com/investor/events/earnings-2q25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tfdavids@us.ibm.com" TargetMode="External"/><Relationship Id="rId2" Type="http://schemas.openxmlformats.org/officeDocument/2006/relationships/hyperlink" Target="mailto:sarah.meron@ibm.com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520699"/>
            <a:ext cx="6407150" cy="436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algn="ctr">
              <a:lnSpc>
                <a:spcPct val="100000"/>
              </a:lnSpc>
              <a:spcBef>
                <a:spcPts val="100"/>
              </a:spcBef>
            </a:pPr>
            <a:r>
              <a:rPr sz="1100" b="1" spc="-55" dirty="0">
                <a:latin typeface="Tahoma"/>
                <a:cs typeface="Tahoma"/>
              </a:rPr>
              <a:t>IBM</a:t>
            </a:r>
            <a:r>
              <a:rPr sz="1100" b="1" spc="-30" dirty="0">
                <a:latin typeface="Tahoma"/>
                <a:cs typeface="Tahoma"/>
              </a:rPr>
              <a:t> RELEASES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SECOND-</a:t>
            </a:r>
            <a:r>
              <a:rPr sz="1100" b="1" spc="-45" dirty="0">
                <a:latin typeface="Tahoma"/>
                <a:cs typeface="Tahoma"/>
              </a:rPr>
              <a:t>QUARTER</a:t>
            </a:r>
            <a:r>
              <a:rPr sz="1100" b="1" spc="-2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RESULTS</a:t>
            </a:r>
            <a:endParaRPr sz="1100">
              <a:latin typeface="Tahoma"/>
              <a:cs typeface="Tahoma"/>
            </a:endParaRPr>
          </a:p>
          <a:p>
            <a:pPr marL="96520" marR="71120" algn="ctr">
              <a:lnSpc>
                <a:spcPct val="100000"/>
              </a:lnSpc>
              <a:spcBef>
                <a:spcPts val="20"/>
              </a:spcBef>
            </a:pPr>
            <a:r>
              <a:rPr sz="1000" b="1" spc="-35" dirty="0">
                <a:latin typeface="Tahoma"/>
                <a:cs typeface="Tahoma"/>
              </a:rPr>
              <a:t>Results</a:t>
            </a:r>
            <a:r>
              <a:rPr sz="1000" b="1" spc="-20" dirty="0">
                <a:latin typeface="Tahoma"/>
                <a:cs typeface="Tahoma"/>
              </a:rPr>
              <a:t> led</a:t>
            </a:r>
            <a:r>
              <a:rPr sz="1000" b="1" spc="-10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Tahoma"/>
                <a:cs typeface="Tahoma"/>
              </a:rPr>
              <a:t>by</a:t>
            </a:r>
            <a:r>
              <a:rPr sz="1000" b="1" spc="-2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Software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and</a:t>
            </a:r>
            <a:r>
              <a:rPr sz="1000" b="1" spc="-1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Infrastructure</a:t>
            </a:r>
            <a:r>
              <a:rPr sz="1000" b="1" spc="-15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revenue</a:t>
            </a:r>
            <a:r>
              <a:rPr sz="1000" b="1" spc="-30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growth;</a:t>
            </a:r>
            <a:r>
              <a:rPr sz="1000" b="1" spc="25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Strong</a:t>
            </a:r>
            <a:r>
              <a:rPr sz="1000" b="1" spc="-20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margin</a:t>
            </a:r>
            <a:r>
              <a:rPr sz="1000" b="1" spc="-1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expansion;</a:t>
            </a:r>
            <a:r>
              <a:rPr sz="1000" b="1" spc="-20" dirty="0">
                <a:latin typeface="Tahoma"/>
                <a:cs typeface="Tahoma"/>
              </a:rPr>
              <a:t> </a:t>
            </a:r>
            <a:r>
              <a:rPr sz="1000" b="1" spc="-35" dirty="0">
                <a:latin typeface="Tahoma"/>
                <a:cs typeface="Tahoma"/>
              </a:rPr>
              <a:t>Raises</a:t>
            </a:r>
            <a:r>
              <a:rPr sz="1000" b="1" spc="-2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outlook</a:t>
            </a:r>
            <a:r>
              <a:rPr sz="1000" b="1" spc="-15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Tahoma"/>
                <a:cs typeface="Tahoma"/>
              </a:rPr>
              <a:t>for </a:t>
            </a:r>
            <a:r>
              <a:rPr sz="1000" b="1" spc="-35" dirty="0">
                <a:latin typeface="Tahoma"/>
                <a:cs typeface="Tahoma"/>
              </a:rPr>
              <a:t>profit</a:t>
            </a:r>
            <a:r>
              <a:rPr sz="1000" b="1" spc="-45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Tahoma"/>
                <a:cs typeface="Tahoma"/>
              </a:rPr>
              <a:t>and free</a:t>
            </a:r>
            <a:r>
              <a:rPr sz="1000" b="1" spc="-55" dirty="0">
                <a:latin typeface="Tahoma"/>
                <a:cs typeface="Tahoma"/>
              </a:rPr>
              <a:t> </a:t>
            </a:r>
            <a:r>
              <a:rPr sz="1000" b="1" spc="-30" dirty="0">
                <a:latin typeface="Tahoma"/>
                <a:cs typeface="Tahoma"/>
              </a:rPr>
              <a:t>cash</a:t>
            </a:r>
            <a:r>
              <a:rPr sz="1000" b="1" spc="-35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ahoma"/>
                <a:cs typeface="Tahoma"/>
              </a:rPr>
              <a:t>flow</a:t>
            </a:r>
            <a:endParaRPr sz="1000">
              <a:latin typeface="Tahoma"/>
              <a:cs typeface="Tahoma"/>
            </a:endParaRPr>
          </a:p>
          <a:p>
            <a:pPr marL="12700" marR="280035" indent="457200">
              <a:lnSpc>
                <a:spcPct val="100000"/>
              </a:lnSpc>
              <a:spcBef>
                <a:spcPts val="1185"/>
              </a:spcBef>
            </a:pPr>
            <a:r>
              <a:rPr sz="1100" spc="-70" dirty="0">
                <a:latin typeface="Verdana"/>
                <a:cs typeface="Verdana"/>
              </a:rPr>
              <a:t>ARMONK,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N.Y.,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July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23,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2025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. .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.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IBM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5" dirty="0">
                <a:latin typeface="Verdana"/>
                <a:cs typeface="Verdana"/>
              </a:rPr>
              <a:t>(NYSE: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IBM)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today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announced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second-</a:t>
            </a:r>
            <a:r>
              <a:rPr sz="1100" spc="-75" dirty="0">
                <a:latin typeface="Verdana"/>
                <a:cs typeface="Verdana"/>
              </a:rPr>
              <a:t>quarter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2025 </a:t>
            </a:r>
            <a:r>
              <a:rPr sz="1100" spc="-75" dirty="0">
                <a:latin typeface="Verdana"/>
                <a:cs typeface="Verdana"/>
              </a:rPr>
              <a:t>earnings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results.</a:t>
            </a:r>
            <a:endParaRPr sz="11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</a:pPr>
            <a:r>
              <a:rPr sz="1100" spc="-55" dirty="0">
                <a:latin typeface="Verdana"/>
                <a:cs typeface="Verdana"/>
              </a:rPr>
              <a:t>“We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once</a:t>
            </a:r>
            <a:r>
              <a:rPr sz="1100" spc="-85" dirty="0">
                <a:latin typeface="Verdana"/>
                <a:cs typeface="Verdana"/>
              </a:rPr>
              <a:t> again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exceeded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expectations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revenue, </a:t>
            </a:r>
            <a:r>
              <a:rPr sz="1100" spc="-55" dirty="0">
                <a:latin typeface="Verdana"/>
                <a:cs typeface="Verdana"/>
              </a:rPr>
              <a:t>profit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flow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quarter.</a:t>
            </a:r>
            <a:endParaRPr sz="11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</a:pPr>
            <a:r>
              <a:rPr sz="1100" spc="-35" dirty="0">
                <a:latin typeface="Verdana"/>
                <a:cs typeface="Verdana"/>
              </a:rPr>
              <a:t>IBM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remains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highly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differentiated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market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because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our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deep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innovation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domain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expertise, </a:t>
            </a:r>
            <a:r>
              <a:rPr sz="1100" spc="-65" dirty="0">
                <a:latin typeface="Verdana"/>
                <a:cs typeface="Verdana"/>
              </a:rPr>
              <a:t>both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crucial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helping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clients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deploy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scale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AI. </a:t>
            </a:r>
            <a:r>
              <a:rPr sz="1100" spc="-85" dirty="0">
                <a:latin typeface="Verdana"/>
                <a:cs typeface="Verdana"/>
              </a:rPr>
              <a:t>Our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generative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AI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book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business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continues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to </a:t>
            </a:r>
            <a:r>
              <a:rPr sz="1100" spc="-55" dirty="0">
                <a:latin typeface="Verdana"/>
                <a:cs typeface="Verdana"/>
              </a:rPr>
              <a:t>accelerate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now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stands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85" dirty="0">
                <a:latin typeface="Verdana"/>
                <a:cs typeface="Verdana"/>
              </a:rPr>
              <a:t> more </a:t>
            </a:r>
            <a:r>
              <a:rPr sz="1100" spc="-80" dirty="0">
                <a:latin typeface="Verdana"/>
                <a:cs typeface="Verdana"/>
              </a:rPr>
              <a:t>than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$7.5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billion,"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said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Arvind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Krishna,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IBM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chairman,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president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chief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executive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officer.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"With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our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strong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first-</a:t>
            </a:r>
            <a:r>
              <a:rPr sz="1100" spc="-55" dirty="0">
                <a:latin typeface="Verdana"/>
                <a:cs typeface="Verdana"/>
              </a:rPr>
              <a:t>half</a:t>
            </a:r>
            <a:r>
              <a:rPr sz="1100" spc="-75" dirty="0">
                <a:latin typeface="Verdana"/>
                <a:cs typeface="Verdana"/>
              </a:rPr>
              <a:t> performance,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we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are </a:t>
            </a:r>
            <a:r>
              <a:rPr sz="1100" spc="-70" dirty="0">
                <a:latin typeface="Verdana"/>
                <a:cs typeface="Verdana"/>
              </a:rPr>
              <a:t>raising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our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full-</a:t>
            </a:r>
            <a:r>
              <a:rPr sz="1100" spc="-20" dirty="0">
                <a:latin typeface="Verdana"/>
                <a:cs typeface="Verdana"/>
              </a:rPr>
              <a:t>year</a:t>
            </a:r>
            <a:r>
              <a:rPr sz="1100" spc="5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outlook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flow,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which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we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expect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exceed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$13.5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billion.”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100" b="1" spc="-40" dirty="0">
                <a:latin typeface="Tahoma"/>
                <a:cs typeface="Tahoma"/>
              </a:rPr>
              <a:t>Second-</a:t>
            </a:r>
            <a:r>
              <a:rPr sz="1100" b="1" spc="-50" dirty="0">
                <a:latin typeface="Tahoma"/>
                <a:cs typeface="Tahoma"/>
              </a:rPr>
              <a:t>Quarter</a:t>
            </a:r>
            <a:r>
              <a:rPr sz="1100" b="1" spc="2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Highlights</a:t>
            </a:r>
            <a:endParaRPr sz="11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Char char="•"/>
              <a:tabLst>
                <a:tab pos="241300" algn="l"/>
              </a:tabLst>
            </a:pPr>
            <a:r>
              <a:rPr sz="1100" spc="-10" dirty="0">
                <a:latin typeface="Verdana"/>
                <a:cs typeface="Verdana"/>
              </a:rPr>
              <a:t>Revenue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80" dirty="0">
                <a:latin typeface="Verdana"/>
                <a:cs typeface="Verdana"/>
              </a:rPr>
              <a:t>Revenue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$17.0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billion,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8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5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spcBef>
                <a:spcPts val="5"/>
              </a:spcBef>
              <a:buChar char="–"/>
              <a:tabLst>
                <a:tab pos="412750" algn="l"/>
              </a:tabLst>
            </a:pPr>
            <a:r>
              <a:rPr sz="1100" spc="-75" dirty="0">
                <a:latin typeface="Verdana"/>
                <a:cs typeface="Verdana"/>
              </a:rPr>
              <a:t>Software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10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8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Consulting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3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flat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Infrastructure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revenue up </a:t>
            </a:r>
            <a:r>
              <a:rPr sz="1100" spc="-50" dirty="0">
                <a:latin typeface="Verdana"/>
                <a:cs typeface="Verdana"/>
              </a:rPr>
              <a:t>14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11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spcBef>
                <a:spcPts val="300"/>
              </a:spcBef>
              <a:buChar char="•"/>
              <a:tabLst>
                <a:tab pos="184785" algn="l"/>
              </a:tabLst>
            </a:pPr>
            <a:r>
              <a:rPr sz="1100" spc="-10" dirty="0">
                <a:latin typeface="Verdana"/>
                <a:cs typeface="Verdana"/>
              </a:rPr>
              <a:t>Profit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Gross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Profit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Margin: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GAAP:</a:t>
            </a:r>
            <a:r>
              <a:rPr sz="1100" spc="-65" dirty="0">
                <a:latin typeface="Verdana"/>
                <a:cs typeface="Verdana"/>
              </a:rPr>
              <a:t> 58.8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200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basis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points;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Operating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(Non-</a:t>
            </a:r>
            <a:r>
              <a:rPr sz="1100" spc="-10" dirty="0">
                <a:latin typeface="Verdana"/>
                <a:cs typeface="Verdana"/>
              </a:rPr>
              <a:t>GAAP):</a:t>
            </a:r>
            <a:endParaRPr sz="1100">
              <a:latin typeface="Verdana"/>
              <a:cs typeface="Verdana"/>
            </a:endParaRPr>
          </a:p>
          <a:p>
            <a:pPr marL="413384">
              <a:lnSpc>
                <a:spcPct val="100000"/>
              </a:lnSpc>
            </a:pPr>
            <a:r>
              <a:rPr sz="1100" spc="-65" dirty="0">
                <a:latin typeface="Verdana"/>
                <a:cs typeface="Verdana"/>
              </a:rPr>
              <a:t>60.1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230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basis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points</a:t>
            </a:r>
            <a:endParaRPr sz="1100">
              <a:latin typeface="Verdana"/>
              <a:cs typeface="Verdana"/>
            </a:endParaRPr>
          </a:p>
          <a:p>
            <a:pPr marL="2413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–</a:t>
            </a:r>
            <a:r>
              <a:rPr sz="1100" spc="3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Pre-</a:t>
            </a:r>
            <a:r>
              <a:rPr sz="1100" spc="-85" dirty="0">
                <a:latin typeface="Verdana"/>
                <a:cs typeface="Verdana"/>
              </a:rPr>
              <a:t>Tax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Income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Margin: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GAAP: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15.3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120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basis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points;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Operating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(Non-</a:t>
            </a:r>
            <a:r>
              <a:rPr sz="1100" spc="-10" dirty="0">
                <a:latin typeface="Verdana"/>
                <a:cs typeface="Verdana"/>
              </a:rPr>
              <a:t>GAAP):</a:t>
            </a:r>
            <a:endParaRPr sz="1100">
              <a:latin typeface="Verdana"/>
              <a:cs typeface="Verdana"/>
            </a:endParaRPr>
          </a:p>
          <a:p>
            <a:pPr marL="413384">
              <a:lnSpc>
                <a:spcPct val="100000"/>
              </a:lnSpc>
            </a:pPr>
            <a:r>
              <a:rPr sz="1100" spc="-65" dirty="0">
                <a:latin typeface="Verdana"/>
                <a:cs typeface="Verdana"/>
              </a:rPr>
              <a:t>18.8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110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basis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points</a:t>
            </a:r>
            <a:endParaRPr sz="11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spcBef>
                <a:spcPts val="300"/>
              </a:spcBef>
              <a:buChar char="•"/>
              <a:tabLst>
                <a:tab pos="184785" algn="l"/>
              </a:tabLst>
            </a:pPr>
            <a:r>
              <a:rPr sz="1100" spc="-75" dirty="0">
                <a:latin typeface="Verdana"/>
                <a:cs typeface="Verdana"/>
              </a:rPr>
              <a:t>Cash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Flow</a:t>
            </a:r>
            <a:endParaRPr sz="1100">
              <a:latin typeface="Verdana"/>
              <a:cs typeface="Verdana"/>
            </a:endParaRPr>
          </a:p>
          <a:p>
            <a:pPr marL="2413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–</a:t>
            </a:r>
            <a:r>
              <a:rPr sz="1100" spc="3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Year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date,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net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from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operating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activities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$6.1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billion;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flow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$4.8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billion</a:t>
            </a:r>
            <a:endParaRPr sz="1100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81227" y="5138077"/>
          <a:ext cx="6416667" cy="17805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3430"/>
                <a:gridCol w="566420"/>
                <a:gridCol w="439419"/>
                <a:gridCol w="380364"/>
                <a:gridCol w="328930"/>
                <a:gridCol w="414019"/>
                <a:gridCol w="269875"/>
                <a:gridCol w="520699"/>
                <a:gridCol w="313689"/>
                <a:gridCol w="415289"/>
                <a:gridCol w="281939"/>
                <a:gridCol w="588010"/>
                <a:gridCol w="407670"/>
                <a:gridCol w="495935"/>
                <a:gridCol w="220979"/>
              </a:tblGrid>
              <a:tr h="194945">
                <a:tc gridSpan="15">
                  <a:txBody>
                    <a:bodyPr/>
                    <a:lstStyle/>
                    <a:p>
                      <a:pPr marL="1838325">
                        <a:lnSpc>
                          <a:spcPts val="1170"/>
                        </a:lnSpc>
                      </a:pPr>
                      <a:r>
                        <a:rPr sz="950" b="1" spc="-45" dirty="0">
                          <a:latin typeface="Tahoma"/>
                          <a:cs typeface="Tahoma"/>
                        </a:rPr>
                        <a:t>SECOND</a:t>
                      </a:r>
                      <a:r>
                        <a:rPr sz="1000" spc="-4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50" b="1" spc="-45" dirty="0">
                          <a:latin typeface="Tahoma"/>
                          <a:cs typeface="Tahoma"/>
                        </a:rPr>
                        <a:t>QUARTER</a:t>
                      </a:r>
                      <a:r>
                        <a:rPr sz="95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b="1" spc="-40" dirty="0">
                          <a:latin typeface="Tahoma"/>
                          <a:cs typeface="Tahoma"/>
                        </a:rPr>
                        <a:t>2025</a:t>
                      </a:r>
                      <a:r>
                        <a:rPr sz="95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b="1" spc="-55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95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b="1" spc="-40" dirty="0">
                          <a:latin typeface="Tahoma"/>
                          <a:cs typeface="Tahoma"/>
                        </a:rPr>
                        <a:t>STATEMENT</a:t>
                      </a:r>
                      <a:r>
                        <a:rPr sz="95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b="1" spc="-10" dirty="0">
                          <a:latin typeface="Tahoma"/>
                          <a:cs typeface="Tahoma"/>
                        </a:rPr>
                        <a:t>SUMMARY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654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20955" algn="r">
                        <a:lnSpc>
                          <a:spcPct val="100000"/>
                        </a:lnSpc>
                      </a:pPr>
                      <a:r>
                        <a:rPr sz="9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87985" marR="115570">
                        <a:lnSpc>
                          <a:spcPts val="1030"/>
                        </a:lnSpc>
                      </a:pPr>
                      <a:r>
                        <a:rPr sz="900" b="1" spc="-35" dirty="0">
                          <a:latin typeface="Tahoma"/>
                          <a:cs typeface="Tahoma"/>
                        </a:rPr>
                        <a:t>Gross </a:t>
                      </a:r>
                      <a:r>
                        <a:rPr sz="900" b="1" spc="-30" dirty="0">
                          <a:latin typeface="Tahoma"/>
                          <a:cs typeface="Tahoma"/>
                        </a:rPr>
                        <a:t>Profit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889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just">
                        <a:lnSpc>
                          <a:spcPct val="95000"/>
                        </a:lnSpc>
                        <a:spcBef>
                          <a:spcPts val="380"/>
                        </a:spcBef>
                      </a:pPr>
                      <a:r>
                        <a:rPr sz="900" b="1" spc="-10" dirty="0">
                          <a:latin typeface="Tahoma"/>
                          <a:cs typeface="Tahoma"/>
                        </a:rPr>
                        <a:t>Gross Profit </a:t>
                      </a:r>
                      <a:r>
                        <a:rPr sz="900" b="1" spc="-55" dirty="0">
                          <a:latin typeface="Tahoma"/>
                          <a:cs typeface="Tahoma"/>
                        </a:rPr>
                        <a:t>Margin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0010" marR="25400">
                        <a:lnSpc>
                          <a:spcPts val="1030"/>
                        </a:lnSpc>
                      </a:pPr>
                      <a:r>
                        <a:rPr sz="900" b="1" spc="-35" dirty="0">
                          <a:latin typeface="Tahoma"/>
                          <a:cs typeface="Tahoma"/>
                        </a:rPr>
                        <a:t>Pre-tax </a:t>
                      </a:r>
                      <a:r>
                        <a:rPr sz="900" b="1" spc="-50" dirty="0">
                          <a:latin typeface="Tahoma"/>
                          <a:cs typeface="Tahoma"/>
                        </a:rPr>
                        <a:t>Income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" algn="just">
                        <a:lnSpc>
                          <a:spcPct val="95000"/>
                        </a:lnSpc>
                        <a:spcBef>
                          <a:spcPts val="380"/>
                        </a:spcBef>
                      </a:pPr>
                      <a:r>
                        <a:rPr sz="900" b="1" spc="-35" dirty="0">
                          <a:latin typeface="Tahoma"/>
                          <a:cs typeface="Tahoma"/>
                        </a:rPr>
                        <a:t>Pre-tax </a:t>
                      </a:r>
                      <a:r>
                        <a:rPr sz="900" b="1" spc="-50" dirty="0">
                          <a:latin typeface="Tahoma"/>
                          <a:cs typeface="Tahoma"/>
                        </a:rPr>
                        <a:t>Income </a:t>
                      </a:r>
                      <a:r>
                        <a:rPr sz="900" b="1" spc="-10" dirty="0">
                          <a:latin typeface="Tahoma"/>
                          <a:cs typeface="Tahoma"/>
                        </a:rPr>
                        <a:t>Margin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82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9220" marR="63500">
                        <a:lnSpc>
                          <a:spcPts val="1030"/>
                        </a:lnSpc>
                      </a:pPr>
                      <a:r>
                        <a:rPr sz="900" b="1" spc="-25" dirty="0">
                          <a:latin typeface="Tahoma"/>
                          <a:cs typeface="Tahoma"/>
                        </a:rPr>
                        <a:t>Net </a:t>
                      </a:r>
                      <a:r>
                        <a:rPr sz="900" b="1" spc="-50" dirty="0">
                          <a:latin typeface="Tahoma"/>
                          <a:cs typeface="Tahoma"/>
                        </a:rPr>
                        <a:t>Income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8895" marB="0"/>
                </a:tc>
                <a:tc gridSpan="2">
                  <a:txBody>
                    <a:bodyPr/>
                    <a:lstStyle/>
                    <a:p>
                      <a:pPr marL="370205">
                        <a:lnSpc>
                          <a:spcPct val="95000"/>
                        </a:lnSpc>
                        <a:spcBef>
                          <a:spcPts val="380"/>
                        </a:spcBef>
                      </a:pPr>
                      <a:r>
                        <a:rPr sz="900" b="1" spc="-10" dirty="0">
                          <a:latin typeface="Tahoma"/>
                          <a:cs typeface="Tahoma"/>
                        </a:rPr>
                        <a:t>Diluted Earnings </a:t>
                      </a:r>
                      <a:r>
                        <a:rPr sz="900" b="1" spc="-25" dirty="0">
                          <a:latin typeface="Tahoma"/>
                          <a:cs typeface="Tahoma"/>
                        </a:rPr>
                        <a:t>Per</a:t>
                      </a:r>
                      <a:r>
                        <a:rPr sz="900" b="1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30" dirty="0">
                          <a:latin typeface="Tahoma"/>
                          <a:cs typeface="Tahoma"/>
                        </a:rPr>
                        <a:t>Share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826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47675">
                <a:tc>
                  <a:txBody>
                    <a:bodyPr/>
                    <a:lstStyle/>
                    <a:p>
                      <a:pPr marL="42545" marR="129539" algn="just">
                        <a:lnSpc>
                          <a:spcPct val="95000"/>
                        </a:lnSpc>
                        <a:spcBef>
                          <a:spcPts val="215"/>
                        </a:spcBef>
                      </a:pPr>
                      <a:r>
                        <a:rPr sz="900" b="1" spc="-10" dirty="0">
                          <a:latin typeface="Tahoma"/>
                          <a:cs typeface="Tahoma"/>
                        </a:rPr>
                        <a:t>GAAP</a:t>
                      </a:r>
                      <a:r>
                        <a:rPr sz="900" b="1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50" dirty="0">
                          <a:latin typeface="Tahoma"/>
                          <a:cs typeface="Tahoma"/>
                        </a:rPr>
                        <a:t>from </a:t>
                      </a:r>
                      <a:r>
                        <a:rPr sz="900" b="1" spc="-40" dirty="0">
                          <a:latin typeface="Tahoma"/>
                          <a:cs typeface="Tahoma"/>
                        </a:rPr>
                        <a:t>Continuing Operations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</a:pPr>
                      <a:r>
                        <a:rPr sz="900" b="1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3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10" dirty="0">
                          <a:latin typeface="Tahoma"/>
                          <a:cs typeface="Tahoma"/>
                        </a:rPr>
                        <a:t>17.0B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86715">
                        <a:lnSpc>
                          <a:spcPct val="100000"/>
                        </a:lnSpc>
                      </a:pPr>
                      <a:r>
                        <a:rPr sz="900" b="1" spc="-4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10" dirty="0">
                          <a:latin typeface="Tahoma"/>
                          <a:cs typeface="Tahoma"/>
                        </a:rPr>
                        <a:t>10.0B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</a:pPr>
                      <a:r>
                        <a:rPr sz="900" b="1" spc="-20" dirty="0">
                          <a:latin typeface="Tahoma"/>
                          <a:cs typeface="Tahoma"/>
                        </a:rPr>
                        <a:t>58.8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7305">
                        <a:lnSpc>
                          <a:spcPct val="100000"/>
                        </a:lnSpc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</a:pPr>
                      <a:r>
                        <a:rPr sz="900" b="1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4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2.6B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900" b="1" spc="-20" dirty="0">
                          <a:latin typeface="Tahoma"/>
                          <a:cs typeface="Tahoma"/>
                        </a:rPr>
                        <a:t>15.3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47320" algn="ctr">
                        <a:lnSpc>
                          <a:spcPct val="100000"/>
                        </a:lnSpc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  <a:tabLst>
                          <a:tab pos="202565" algn="l"/>
                        </a:tabLst>
                      </a:pPr>
                      <a:r>
                        <a:rPr sz="9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2.2B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68300" marR="12065">
                        <a:lnSpc>
                          <a:spcPct val="100000"/>
                        </a:lnSpc>
                        <a:tabLst>
                          <a:tab pos="578485" algn="l"/>
                        </a:tabLst>
                      </a:pPr>
                      <a:r>
                        <a:rPr sz="9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2.31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05104"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10" dirty="0">
                          <a:latin typeface="Verdana"/>
                          <a:cs typeface="Verdana"/>
                        </a:rPr>
                        <a:t>Year/Year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8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ts val="969"/>
                        </a:lnSpc>
                      </a:pPr>
                      <a:r>
                        <a:rPr sz="1350" spc="-30" baseline="-18518" dirty="0">
                          <a:latin typeface="Verdana"/>
                          <a:cs typeface="Verdana"/>
                        </a:rPr>
                        <a:t>%</a:t>
                      </a:r>
                      <a:r>
                        <a:rPr sz="550" spc="-20" dirty="0">
                          <a:latin typeface="Verdana"/>
                          <a:cs typeface="Verdana"/>
                        </a:rPr>
                        <a:t>(1)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11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2.0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Pts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17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1.2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Pts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20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18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42545" marR="71120">
                        <a:lnSpc>
                          <a:spcPts val="900"/>
                        </a:lnSpc>
                        <a:spcBef>
                          <a:spcPts val="200"/>
                        </a:spcBef>
                      </a:pPr>
                      <a:r>
                        <a:rPr sz="900" b="1" spc="-10" dirty="0">
                          <a:latin typeface="Tahoma"/>
                          <a:cs typeface="Tahoma"/>
                        </a:rPr>
                        <a:t>Operating </a:t>
                      </a:r>
                      <a:r>
                        <a:rPr sz="900" b="1" spc="-65" dirty="0">
                          <a:latin typeface="Tahoma"/>
                          <a:cs typeface="Tahoma"/>
                        </a:rPr>
                        <a:t>(Non-</a:t>
                      </a:r>
                      <a:r>
                        <a:rPr sz="900" b="1" spc="-35" dirty="0">
                          <a:latin typeface="Tahoma"/>
                          <a:cs typeface="Tahoma"/>
                        </a:rPr>
                        <a:t>GAAP)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38671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b="1" spc="-4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-11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10" dirty="0">
                          <a:latin typeface="Tahoma"/>
                          <a:cs typeface="Tahoma"/>
                        </a:rPr>
                        <a:t>10.2B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0160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b="1" spc="-20" dirty="0">
                          <a:latin typeface="Tahoma"/>
                          <a:cs typeface="Tahoma"/>
                        </a:rPr>
                        <a:t>60.1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0160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0160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b="1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4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3.2B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0160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b="1" spc="-20" dirty="0">
                          <a:latin typeface="Tahoma"/>
                          <a:cs typeface="Tahoma"/>
                        </a:rPr>
                        <a:t>18.8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0160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7320" algn="ctr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0160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800"/>
                        </a:spcBef>
                        <a:tabLst>
                          <a:tab pos="202565" algn="l"/>
                        </a:tabLst>
                      </a:pPr>
                      <a:r>
                        <a:rPr sz="9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2.7B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0160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368300" marR="12065">
                        <a:lnSpc>
                          <a:spcPct val="100000"/>
                        </a:lnSpc>
                        <a:spcBef>
                          <a:spcPts val="800"/>
                        </a:spcBef>
                        <a:tabLst>
                          <a:tab pos="578485" algn="l"/>
                        </a:tabLst>
                      </a:pPr>
                      <a:r>
                        <a:rPr sz="9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2.80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0160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10" dirty="0">
                          <a:latin typeface="Verdana"/>
                          <a:cs typeface="Verdana"/>
                        </a:rPr>
                        <a:t>Year/Year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12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2.3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Pts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15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1.1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Pts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17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15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73100" y="6891908"/>
            <a:ext cx="6363335" cy="1401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40" dirty="0">
                <a:latin typeface="Verdana"/>
                <a:cs typeface="Verdana"/>
              </a:rPr>
              <a:t>(1)</a:t>
            </a:r>
            <a:r>
              <a:rPr sz="800" spc="70" dirty="0">
                <a:latin typeface="Verdana"/>
                <a:cs typeface="Verdana"/>
              </a:rPr>
              <a:t> </a:t>
            </a:r>
            <a:r>
              <a:rPr sz="800" spc="-85" dirty="0">
                <a:latin typeface="Verdana"/>
                <a:cs typeface="Verdana"/>
              </a:rPr>
              <a:t>5%</a:t>
            </a:r>
            <a:r>
              <a:rPr sz="800" spc="-9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at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constant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currency.</a:t>
            </a:r>
            <a:endParaRPr sz="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800">
              <a:latin typeface="Verdana"/>
              <a:cs typeface="Verdana"/>
            </a:endParaRPr>
          </a:p>
          <a:p>
            <a:pPr marL="12700" marR="5080" indent="457200">
              <a:lnSpc>
                <a:spcPct val="93500"/>
              </a:lnSpc>
            </a:pPr>
            <a:r>
              <a:rPr sz="1100" spc="-50" dirty="0">
                <a:latin typeface="Verdana"/>
                <a:cs typeface="Verdana"/>
              </a:rPr>
              <a:t>“The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innovation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we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are</a:t>
            </a:r>
            <a:r>
              <a:rPr sz="1100" spc="-80" dirty="0">
                <a:latin typeface="Verdana"/>
                <a:cs typeface="Verdana"/>
              </a:rPr>
              <a:t> bringing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market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across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portfolio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continues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resonate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with </a:t>
            </a:r>
            <a:r>
              <a:rPr sz="1100" spc="-45" dirty="0">
                <a:latin typeface="Verdana"/>
                <a:cs typeface="Verdana"/>
              </a:rPr>
              <a:t>clients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they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scale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their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AI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adoption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investments.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As</a:t>
            </a:r>
            <a:r>
              <a:rPr sz="1100" spc="-85" dirty="0">
                <a:latin typeface="Verdana"/>
                <a:cs typeface="Verdana"/>
              </a:rPr>
              <a:t> a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result,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revenue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growth,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portfolio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mix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and </a:t>
            </a:r>
            <a:r>
              <a:rPr sz="1100" spc="-75" dirty="0">
                <a:latin typeface="Verdana"/>
                <a:cs typeface="Verdana"/>
              </a:rPr>
              <a:t>ongoing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productivity</a:t>
            </a:r>
            <a:r>
              <a:rPr sz="1100" spc="-6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initiatives </a:t>
            </a:r>
            <a:r>
              <a:rPr sz="1100" spc="-80" dirty="0">
                <a:latin typeface="Verdana"/>
                <a:cs typeface="Verdana"/>
              </a:rPr>
              <a:t>drove</a:t>
            </a:r>
            <a:r>
              <a:rPr sz="1100" spc="-60" dirty="0">
                <a:latin typeface="Verdana"/>
                <a:cs typeface="Verdana"/>
              </a:rPr>
              <a:t> significant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margin </a:t>
            </a:r>
            <a:r>
              <a:rPr sz="1100" spc="-65" dirty="0">
                <a:latin typeface="Verdana"/>
                <a:cs typeface="Verdana"/>
              </a:rPr>
              <a:t>expansion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 </a:t>
            </a:r>
            <a:r>
              <a:rPr sz="1100" spc="-55" dirty="0">
                <a:latin typeface="Verdana"/>
                <a:cs typeface="Verdana"/>
              </a:rPr>
              <a:t>double-</a:t>
            </a:r>
            <a:r>
              <a:rPr sz="1100" spc="-60" dirty="0">
                <a:latin typeface="Verdana"/>
                <a:cs typeface="Verdana"/>
              </a:rPr>
              <a:t>digit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profit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growth," </a:t>
            </a:r>
            <a:r>
              <a:rPr sz="1100" spc="-60" dirty="0">
                <a:latin typeface="Verdana"/>
                <a:cs typeface="Verdana"/>
              </a:rPr>
              <a:t>said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James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95" dirty="0">
                <a:latin typeface="Verdana"/>
                <a:cs typeface="Verdana"/>
              </a:rPr>
              <a:t>Kavanaugh,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IBM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senior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vice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president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chief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financial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officer.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"This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combination </a:t>
            </a:r>
            <a:r>
              <a:rPr sz="1100" spc="-60" dirty="0">
                <a:latin typeface="Verdana"/>
                <a:cs typeface="Verdana"/>
              </a:rPr>
              <a:t>delivered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solid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flow,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fueling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our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ability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invest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business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return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value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to </a:t>
            </a:r>
            <a:r>
              <a:rPr sz="1100" spc="-65" dirty="0">
                <a:latin typeface="Verdana"/>
                <a:cs typeface="Verdana"/>
              </a:rPr>
              <a:t>shareholders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through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dividends.”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012" y="445109"/>
            <a:ext cx="6311900" cy="90157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100" b="1" spc="-55" dirty="0">
                <a:latin typeface="Tahoma"/>
                <a:cs typeface="Tahoma"/>
              </a:rPr>
              <a:t>Segment</a:t>
            </a:r>
            <a:r>
              <a:rPr sz="1100" b="1" spc="-35" dirty="0">
                <a:latin typeface="Tahoma"/>
                <a:cs typeface="Tahoma"/>
              </a:rPr>
              <a:t> Results</a:t>
            </a:r>
            <a:r>
              <a:rPr sz="1100" b="1" spc="-45" dirty="0">
                <a:latin typeface="Tahoma"/>
                <a:cs typeface="Tahoma"/>
              </a:rPr>
              <a:t> for</a:t>
            </a:r>
            <a:r>
              <a:rPr sz="1100" b="1" spc="-20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ahoma"/>
                <a:cs typeface="Tahoma"/>
              </a:rPr>
              <a:t>Second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Quarter</a:t>
            </a:r>
            <a:endParaRPr sz="11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Verdana"/>
              <a:buChar char="•"/>
              <a:tabLst>
                <a:tab pos="241300" algn="l"/>
              </a:tabLst>
            </a:pPr>
            <a:r>
              <a:rPr sz="1100" i="1" spc="-85" dirty="0">
                <a:latin typeface="Verdana"/>
                <a:cs typeface="Verdana"/>
              </a:rPr>
              <a:t>Software</a:t>
            </a:r>
            <a:r>
              <a:rPr sz="1100" i="1" spc="-90" dirty="0">
                <a:latin typeface="Verdana"/>
                <a:cs typeface="Verdana"/>
              </a:rPr>
              <a:t> </a:t>
            </a:r>
            <a:r>
              <a:rPr sz="1100" i="1" spc="-275" dirty="0">
                <a:latin typeface="Verdana"/>
                <a:cs typeface="Verdana"/>
              </a:rPr>
              <a:t>—</a:t>
            </a:r>
            <a:r>
              <a:rPr sz="1100" i="1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$7.4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10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8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currency: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SzPct val="90909"/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Hybrid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Cloud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(Red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Hat)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up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16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14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70" dirty="0">
                <a:latin typeface="Verdana"/>
                <a:cs typeface="Verdana"/>
              </a:rPr>
              <a:t>Automation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16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14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85" dirty="0">
                <a:latin typeface="Verdana"/>
                <a:cs typeface="Verdana"/>
              </a:rPr>
              <a:t>Data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9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7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Transaction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Processing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320"/>
              </a:spcBef>
              <a:buFont typeface="Verdana"/>
              <a:buChar char="•"/>
              <a:tabLst>
                <a:tab pos="241300" algn="l"/>
              </a:tabLst>
            </a:pPr>
            <a:r>
              <a:rPr sz="1100" i="1" spc="-80" dirty="0">
                <a:latin typeface="Verdana"/>
                <a:cs typeface="Verdana"/>
              </a:rPr>
              <a:t>Consulting</a:t>
            </a:r>
            <a:r>
              <a:rPr sz="1100" i="1" spc="-110" dirty="0">
                <a:latin typeface="Verdana"/>
                <a:cs typeface="Verdana"/>
              </a:rPr>
              <a:t> </a:t>
            </a:r>
            <a:r>
              <a:rPr sz="1100" i="1" spc="-275" dirty="0">
                <a:latin typeface="Verdana"/>
                <a:cs typeface="Verdana"/>
              </a:rPr>
              <a:t>—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revenues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$5.3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3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flat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currency: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85" dirty="0">
                <a:latin typeface="Verdana"/>
                <a:cs typeface="Verdana"/>
              </a:rPr>
              <a:t>Strategy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Technology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percent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55" dirty="0">
                <a:latin typeface="Verdana"/>
                <a:cs typeface="Verdana"/>
              </a:rPr>
              <a:t>Intelligent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Operations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up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5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320"/>
              </a:spcBef>
              <a:buFont typeface="Verdana"/>
              <a:buChar char="•"/>
              <a:tabLst>
                <a:tab pos="241300" algn="l"/>
              </a:tabLst>
            </a:pPr>
            <a:r>
              <a:rPr sz="1100" i="1" spc="-80" dirty="0">
                <a:latin typeface="Verdana"/>
                <a:cs typeface="Verdana"/>
              </a:rPr>
              <a:t>Infrastructure </a:t>
            </a:r>
            <a:r>
              <a:rPr sz="1100" i="1" spc="-275" dirty="0">
                <a:latin typeface="Verdana"/>
                <a:cs typeface="Verdana"/>
              </a:rPr>
              <a:t>—</a:t>
            </a:r>
            <a:r>
              <a:rPr sz="1100" i="1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revenues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$4.1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14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11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currency: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Hybrid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Infrastructure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21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19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</a:t>
            </a:r>
            <a:r>
              <a:rPr sz="1100" spc="-75" dirty="0">
                <a:latin typeface="Verdana"/>
                <a:cs typeface="Verdana"/>
              </a:rPr>
              <a:t> at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1100455" lvl="2" indent="-227965">
              <a:lnSpc>
                <a:spcPct val="100000"/>
              </a:lnSpc>
              <a:buSzPct val="90909"/>
              <a:buChar char="•"/>
              <a:tabLst>
                <a:tab pos="1100455" algn="l"/>
              </a:tabLst>
            </a:pPr>
            <a:r>
              <a:rPr sz="1100" spc="-35" dirty="0">
                <a:latin typeface="Verdana"/>
                <a:cs typeface="Verdana"/>
              </a:rPr>
              <a:t>IBM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20" dirty="0">
                <a:latin typeface="Verdana"/>
                <a:cs typeface="Verdana"/>
              </a:rPr>
              <a:t>Z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70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67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1100455" lvl="2" indent="-227965">
              <a:lnSpc>
                <a:spcPct val="100000"/>
              </a:lnSpc>
              <a:buSzPct val="90909"/>
              <a:buChar char="•"/>
              <a:tabLst>
                <a:tab pos="1100455" algn="l"/>
              </a:tabLst>
            </a:pPr>
            <a:r>
              <a:rPr sz="1100" spc="-60" dirty="0">
                <a:latin typeface="Verdana"/>
                <a:cs typeface="Verdana"/>
              </a:rPr>
              <a:t>Distributed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Infrastructure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 </a:t>
            </a:r>
            <a:r>
              <a:rPr sz="1100" spc="-50" dirty="0">
                <a:latin typeface="Verdana"/>
                <a:cs typeface="Verdana"/>
              </a:rPr>
              <a:t>15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17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spcBef>
                <a:spcPts val="5"/>
              </a:spcBef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Infrastructure</a:t>
            </a:r>
            <a:r>
              <a:rPr sz="1100" spc="-80" dirty="0">
                <a:latin typeface="Verdana"/>
                <a:cs typeface="Verdana"/>
              </a:rPr>
              <a:t> Support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3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320"/>
              </a:spcBef>
              <a:buFont typeface="Verdana"/>
              <a:buChar char="•"/>
              <a:tabLst>
                <a:tab pos="241300" algn="l"/>
              </a:tabLst>
            </a:pPr>
            <a:r>
              <a:rPr sz="1100" i="1" spc="-65" dirty="0">
                <a:latin typeface="Verdana"/>
                <a:cs typeface="Verdana"/>
              </a:rPr>
              <a:t>Financing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-275" dirty="0">
                <a:latin typeface="Verdana"/>
                <a:cs typeface="Verdana"/>
              </a:rPr>
              <a:t>—</a:t>
            </a:r>
            <a:r>
              <a:rPr sz="1100" i="1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$0.2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down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3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100" b="1" spc="-35" dirty="0">
                <a:latin typeface="Tahoma"/>
                <a:cs typeface="Tahoma"/>
              </a:rPr>
              <a:t>Cash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ahoma"/>
                <a:cs typeface="Tahoma"/>
              </a:rPr>
              <a:t>Flow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ahoma"/>
                <a:cs typeface="Tahoma"/>
              </a:rPr>
              <a:t>and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Tahoma"/>
                <a:cs typeface="Tahoma"/>
              </a:rPr>
              <a:t>Balance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Sheet</a:t>
            </a:r>
            <a:endParaRPr sz="1100">
              <a:latin typeface="Tahoma"/>
              <a:cs typeface="Tahoma"/>
            </a:endParaRPr>
          </a:p>
          <a:p>
            <a:pPr marL="469900">
              <a:lnSpc>
                <a:spcPts val="1280"/>
              </a:lnSpc>
              <a:spcBef>
                <a:spcPts val="600"/>
              </a:spcBef>
            </a:pPr>
            <a:r>
              <a:rPr sz="1100" spc="-60" dirty="0">
                <a:latin typeface="Verdana"/>
                <a:cs typeface="Verdana"/>
              </a:rPr>
              <a:t>In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second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quarter,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company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generated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net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from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operating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activities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of</a:t>
            </a:r>
            <a:endParaRPr sz="1100">
              <a:latin typeface="Verdana"/>
              <a:cs typeface="Verdana"/>
            </a:endParaRPr>
          </a:p>
          <a:p>
            <a:pPr marL="12700" marR="9525">
              <a:lnSpc>
                <a:spcPts val="1220"/>
              </a:lnSpc>
              <a:spcBef>
                <a:spcPts val="80"/>
              </a:spcBef>
            </a:pPr>
            <a:r>
              <a:rPr sz="1100" spc="-65" dirty="0">
                <a:latin typeface="Verdana"/>
                <a:cs typeface="Verdana"/>
              </a:rPr>
              <a:t>$1.7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$0.4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year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year.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IBM’s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flow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was</a:t>
            </a:r>
            <a:r>
              <a:rPr sz="1100" spc="-70" dirty="0">
                <a:latin typeface="Verdana"/>
                <a:cs typeface="Verdana"/>
              </a:rPr>
              <a:t> $2.8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$0.2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year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year.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80" dirty="0">
                <a:latin typeface="Verdana"/>
                <a:cs typeface="Verdana"/>
              </a:rPr>
              <a:t> company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returned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$1.6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shareholders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dividends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second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quarter.</a:t>
            </a:r>
            <a:endParaRPr sz="1100">
              <a:latin typeface="Verdana"/>
              <a:cs typeface="Verdana"/>
            </a:endParaRPr>
          </a:p>
          <a:p>
            <a:pPr marL="469900">
              <a:lnSpc>
                <a:spcPts val="1215"/>
              </a:lnSpc>
            </a:pP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first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six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months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year, </a:t>
            </a:r>
            <a:r>
              <a:rPr sz="1100" spc="-75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company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generated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net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from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operating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activities</a:t>
            </a:r>
            <a:endParaRPr sz="1100">
              <a:latin typeface="Verdana"/>
              <a:cs typeface="Verdana"/>
            </a:endParaRPr>
          </a:p>
          <a:p>
            <a:pPr marL="12700" marR="163195">
              <a:lnSpc>
                <a:spcPct val="100000"/>
              </a:lnSpc>
            </a:pP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$6.1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$0.2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year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90" dirty="0">
                <a:latin typeface="Verdana"/>
                <a:cs typeface="Verdana"/>
              </a:rPr>
              <a:t> year.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IBM's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flow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was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$4.8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$0.3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billion </a:t>
            </a:r>
            <a:r>
              <a:rPr sz="1100" spc="-80" dirty="0">
                <a:latin typeface="Verdana"/>
                <a:cs typeface="Verdana"/>
              </a:rPr>
              <a:t>year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year.</a:t>
            </a:r>
            <a:endParaRPr sz="1100">
              <a:latin typeface="Verdana"/>
              <a:cs typeface="Verdana"/>
            </a:endParaRPr>
          </a:p>
          <a:p>
            <a:pPr marL="12700" marR="129539" indent="457200">
              <a:lnSpc>
                <a:spcPct val="100000"/>
              </a:lnSpc>
            </a:pPr>
            <a:r>
              <a:rPr sz="1100" spc="-35" dirty="0">
                <a:latin typeface="Verdana"/>
                <a:cs typeface="Verdana"/>
              </a:rPr>
              <a:t>IBM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ended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second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quarter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with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$15.5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cash,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restricted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marketable </a:t>
            </a:r>
            <a:r>
              <a:rPr sz="1100" spc="-60" dirty="0">
                <a:latin typeface="Verdana"/>
                <a:cs typeface="Verdana"/>
              </a:rPr>
              <a:t>securities,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$0.7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billion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from</a:t>
            </a:r>
            <a:r>
              <a:rPr sz="1100" spc="-85" dirty="0">
                <a:latin typeface="Verdana"/>
                <a:cs typeface="Verdana"/>
              </a:rPr>
              <a:t> year-</a:t>
            </a:r>
            <a:r>
              <a:rPr sz="1100" spc="-65" dirty="0">
                <a:latin typeface="Verdana"/>
                <a:cs typeface="Verdana"/>
              </a:rPr>
              <a:t>end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2024.</a:t>
            </a:r>
            <a:r>
              <a:rPr sz="1100" spc="-85" dirty="0">
                <a:latin typeface="Verdana"/>
                <a:cs typeface="Verdana"/>
              </a:rPr>
              <a:t> Debt, </a:t>
            </a:r>
            <a:r>
              <a:rPr sz="1100" spc="-60" dirty="0">
                <a:latin typeface="Verdana"/>
                <a:cs typeface="Verdana"/>
              </a:rPr>
              <a:t>including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IBM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Financing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debt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$11.7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billion, </a:t>
            </a:r>
            <a:r>
              <a:rPr sz="1100" spc="-55" dirty="0">
                <a:latin typeface="Verdana"/>
                <a:cs typeface="Verdana"/>
              </a:rPr>
              <a:t>totaled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$64.2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$9.2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year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date.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100" b="1" spc="-25" dirty="0">
                <a:latin typeface="Tahoma"/>
                <a:cs typeface="Tahoma"/>
              </a:rPr>
              <a:t>Full-</a:t>
            </a:r>
            <a:r>
              <a:rPr sz="1100" b="1" spc="-35" dirty="0">
                <a:latin typeface="Tahoma"/>
                <a:cs typeface="Tahoma"/>
              </a:rPr>
              <a:t>Year</a:t>
            </a:r>
            <a:r>
              <a:rPr sz="1100" b="1" spc="-3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2025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Expectations</a:t>
            </a:r>
            <a:endParaRPr sz="11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sz="1100" spc="-90" dirty="0">
                <a:latin typeface="Verdana"/>
                <a:cs typeface="Verdana"/>
              </a:rPr>
              <a:t>Revenue: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company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continues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expect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constant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currency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revenue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growth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least</a:t>
            </a:r>
            <a:endParaRPr sz="1100">
              <a:latin typeface="Verdana"/>
              <a:cs typeface="Verdana"/>
            </a:endParaRPr>
          </a:p>
          <a:p>
            <a:pPr marL="241300" marR="36830">
              <a:lnSpc>
                <a:spcPct val="100000"/>
              </a:lnSpc>
            </a:pPr>
            <a:r>
              <a:rPr sz="1100" spc="-50" dirty="0">
                <a:latin typeface="Verdana"/>
                <a:cs typeface="Verdana"/>
              </a:rPr>
              <a:t>5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percent.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current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foreign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exchange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rates,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currency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is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expected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be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about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a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one-</a:t>
            </a:r>
            <a:r>
              <a:rPr sz="1100" spc="-75" dirty="0">
                <a:latin typeface="Verdana"/>
                <a:cs typeface="Verdana"/>
              </a:rPr>
              <a:t>and-</a:t>
            </a:r>
            <a:r>
              <a:rPr sz="1100" spc="-80" dirty="0">
                <a:latin typeface="Verdana"/>
                <a:cs typeface="Verdana"/>
              </a:rPr>
              <a:t>a-</a:t>
            </a:r>
            <a:r>
              <a:rPr sz="1100" spc="-10" dirty="0">
                <a:latin typeface="Verdana"/>
                <a:cs typeface="Verdana"/>
              </a:rPr>
              <a:t>half- </a:t>
            </a:r>
            <a:r>
              <a:rPr sz="1100" spc="-60" dirty="0">
                <a:latin typeface="Verdana"/>
                <a:cs typeface="Verdana"/>
              </a:rPr>
              <a:t>point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tailwind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growth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year.</a:t>
            </a:r>
            <a:endParaRPr sz="1100">
              <a:latin typeface="Verdana"/>
              <a:cs typeface="Verdana"/>
            </a:endParaRPr>
          </a:p>
          <a:p>
            <a:pPr marL="241300" marR="176530" indent="-229235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sz="1100" spc="-55" dirty="0">
                <a:latin typeface="Verdana"/>
                <a:cs typeface="Verdana"/>
              </a:rPr>
              <a:t>Free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flow: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company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now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expects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more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than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$13.5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flow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full </a:t>
            </a:r>
            <a:r>
              <a:rPr sz="1100" spc="-10" dirty="0">
                <a:latin typeface="Verdana"/>
                <a:cs typeface="Verdana"/>
              </a:rPr>
              <a:t>year.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100" b="1" spc="-45" dirty="0">
                <a:latin typeface="Tahoma"/>
                <a:cs typeface="Tahoma"/>
              </a:rPr>
              <a:t>Dividend</a:t>
            </a:r>
            <a:r>
              <a:rPr sz="1100" b="1" spc="-1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Declaration</a:t>
            </a:r>
            <a:endParaRPr sz="1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1100" spc="-85" dirty="0">
                <a:latin typeface="Verdana"/>
                <a:cs typeface="Verdana"/>
              </a:rPr>
              <a:t>On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July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23,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2025,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IBM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board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directors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approved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a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regular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quarterly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dividend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of</a:t>
            </a:r>
            <a:endParaRPr sz="1100">
              <a:latin typeface="Verdana"/>
              <a:cs typeface="Verdana"/>
            </a:endParaRPr>
          </a:p>
          <a:p>
            <a:pPr marL="12700" marR="130810">
              <a:lnSpc>
                <a:spcPct val="100000"/>
              </a:lnSpc>
            </a:pPr>
            <a:r>
              <a:rPr sz="1100" spc="-65" dirty="0">
                <a:latin typeface="Verdana"/>
                <a:cs typeface="Verdana"/>
              </a:rPr>
              <a:t>$1.68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common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share,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stockholders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record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on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August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8,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2025.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With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payment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the </a:t>
            </a:r>
            <a:r>
              <a:rPr sz="1100" spc="-75" dirty="0">
                <a:latin typeface="Verdana"/>
                <a:cs typeface="Verdana"/>
              </a:rPr>
              <a:t>September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10,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2025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dividend,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IBM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30" dirty="0">
                <a:latin typeface="Verdana"/>
                <a:cs typeface="Verdana"/>
              </a:rPr>
              <a:t>will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have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paid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consecutive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quarterly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dividends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every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year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since 1916.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100" b="1" spc="-40" dirty="0">
                <a:latin typeface="Tahoma"/>
                <a:cs typeface="Tahoma"/>
              </a:rPr>
              <a:t>Forward-</a:t>
            </a:r>
            <a:r>
              <a:rPr sz="1100" b="1" spc="-55" dirty="0">
                <a:latin typeface="Tahoma"/>
                <a:cs typeface="Tahoma"/>
              </a:rPr>
              <a:t>Looking</a:t>
            </a:r>
            <a:r>
              <a:rPr sz="1100" b="1" spc="-30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ahoma"/>
                <a:cs typeface="Tahoma"/>
              </a:rPr>
              <a:t>and</a:t>
            </a:r>
            <a:r>
              <a:rPr sz="1100" b="1" spc="-30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Tahoma"/>
                <a:cs typeface="Tahoma"/>
              </a:rPr>
              <a:t>Cautionary</a:t>
            </a:r>
            <a:r>
              <a:rPr sz="1100" b="1" spc="-2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Statements</a:t>
            </a:r>
            <a:endParaRPr sz="1100">
              <a:latin typeface="Tahoma"/>
              <a:cs typeface="Tahoma"/>
            </a:endParaRPr>
          </a:p>
          <a:p>
            <a:pPr marL="12700" marR="5080" indent="457200" algn="just">
              <a:lnSpc>
                <a:spcPct val="100000"/>
              </a:lnSpc>
              <a:spcBef>
                <a:spcPts val="600"/>
              </a:spcBef>
            </a:pPr>
            <a:r>
              <a:rPr sz="1100" spc="-60" dirty="0">
                <a:latin typeface="Verdana"/>
                <a:cs typeface="Verdana"/>
              </a:rPr>
              <a:t>Except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for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historical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information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discussions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contained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herein,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statements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contained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24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this</a:t>
            </a:r>
            <a:r>
              <a:rPr sz="1100" spc="2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release</a:t>
            </a:r>
            <a:r>
              <a:rPr sz="1100" spc="250" dirty="0">
                <a:latin typeface="Verdana"/>
                <a:cs typeface="Verdana"/>
              </a:rPr>
              <a:t> </a:t>
            </a:r>
            <a:r>
              <a:rPr sz="1100" spc="-110" dirty="0">
                <a:latin typeface="Verdana"/>
                <a:cs typeface="Verdana"/>
              </a:rPr>
              <a:t>may</a:t>
            </a:r>
            <a:r>
              <a:rPr sz="1100" spc="2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constitute</a:t>
            </a:r>
            <a:r>
              <a:rPr sz="1100" spc="25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forward-looking</a:t>
            </a:r>
            <a:r>
              <a:rPr sz="1100" spc="25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statements</a:t>
            </a:r>
            <a:r>
              <a:rPr sz="1100" spc="23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within</a:t>
            </a:r>
            <a:r>
              <a:rPr sz="1100" spc="23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25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meaning</a:t>
            </a:r>
            <a:r>
              <a:rPr sz="1100" spc="23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2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25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Private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Securities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Litigation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Reform</a:t>
            </a:r>
            <a:r>
              <a:rPr sz="1100" spc="-45" dirty="0">
                <a:latin typeface="Verdana"/>
                <a:cs typeface="Verdana"/>
              </a:rPr>
              <a:t> Act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1995.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Forward-</a:t>
            </a:r>
            <a:r>
              <a:rPr sz="1100" spc="-55" dirty="0">
                <a:latin typeface="Verdana"/>
                <a:cs typeface="Verdana"/>
              </a:rPr>
              <a:t>looking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statements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are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based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on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current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assumptions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regarding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future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business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financial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performance.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These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statements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involve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number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risks,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uncertainties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other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factors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that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could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cause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actual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results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differ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materially,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including,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but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not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limited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to,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following: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downturn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economic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environment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client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spending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budgets;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failure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innovation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initiatives;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damage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reputation;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risks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012" y="520699"/>
            <a:ext cx="6314440" cy="7780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55" algn="just">
              <a:lnSpc>
                <a:spcPct val="100000"/>
              </a:lnSpc>
              <a:spcBef>
                <a:spcPts val="100"/>
              </a:spcBef>
            </a:pPr>
            <a:r>
              <a:rPr sz="1100" spc="-70" dirty="0">
                <a:latin typeface="Verdana"/>
                <a:cs typeface="Verdana"/>
              </a:rPr>
              <a:t>from</a:t>
            </a:r>
            <a:r>
              <a:rPr sz="1100" spc="5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investing</a:t>
            </a:r>
            <a:r>
              <a:rPr sz="1100" spc="6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5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growth</a:t>
            </a:r>
            <a:r>
              <a:rPr sz="1100" spc="5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opportunities;</a:t>
            </a:r>
            <a:r>
              <a:rPr sz="1100" spc="4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failure</a:t>
            </a:r>
            <a:r>
              <a:rPr sz="1100" spc="4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5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5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5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intellectual</a:t>
            </a:r>
            <a:r>
              <a:rPr sz="1100" spc="5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property</a:t>
            </a:r>
            <a:r>
              <a:rPr sz="1100" spc="5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portfolio</a:t>
            </a:r>
            <a:r>
              <a:rPr sz="1100" spc="6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prevent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competitive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offerings</a:t>
            </a:r>
            <a:r>
              <a:rPr sz="1100" spc="1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13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failure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1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13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company</a:t>
            </a:r>
            <a:r>
              <a:rPr sz="1100" spc="1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obtain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necessary</a:t>
            </a:r>
            <a:r>
              <a:rPr sz="1100" spc="1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licenses;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3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ability</a:t>
            </a:r>
            <a:r>
              <a:rPr sz="1100" spc="4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3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successfully</a:t>
            </a:r>
            <a:r>
              <a:rPr sz="1100" spc="40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manage</a:t>
            </a:r>
            <a:r>
              <a:rPr sz="1100" spc="4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acquisitions,</a:t>
            </a:r>
            <a:r>
              <a:rPr sz="1100" dirty="0">
                <a:latin typeface="Verdana"/>
                <a:cs typeface="Verdana"/>
              </a:rPr>
              <a:t>  </a:t>
            </a:r>
            <a:r>
              <a:rPr sz="1100" spc="-45" dirty="0">
                <a:latin typeface="Verdana"/>
                <a:cs typeface="Verdana"/>
              </a:rPr>
              <a:t>alliances</a:t>
            </a:r>
            <a:r>
              <a:rPr sz="1100" spc="3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3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divestitures,</a:t>
            </a:r>
            <a:r>
              <a:rPr sz="1100" spc="3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including</a:t>
            </a:r>
            <a:r>
              <a:rPr sz="1100" spc="-65" dirty="0">
                <a:latin typeface="Verdana"/>
                <a:cs typeface="Verdana"/>
              </a:rPr>
              <a:t> integration</a:t>
            </a:r>
            <a:r>
              <a:rPr sz="1100" spc="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challenges,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failure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achieve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objectives,</a:t>
            </a:r>
            <a:r>
              <a:rPr sz="1100" spc="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assumption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or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retention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liabilities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higher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debt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levels;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fluctuations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financial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results;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impact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local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legal,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economic,</a:t>
            </a:r>
            <a:r>
              <a:rPr sz="1100" spc="-45" dirty="0">
                <a:latin typeface="Verdana"/>
                <a:cs typeface="Verdana"/>
              </a:rPr>
              <a:t> political,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health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other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conditions;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failure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meet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growth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productivity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objectives;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ineffective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internal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controls;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use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accounting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estimates;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impairment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goodwill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or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amortizable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intangible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assets;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ability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attract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retain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key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employees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45" dirty="0">
                <a:latin typeface="Verdana"/>
                <a:cs typeface="Verdana"/>
              </a:rPr>
              <a:t> its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reliance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critical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skills;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impacts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relationships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with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critical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suppliers;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product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service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quality</a:t>
            </a:r>
            <a:r>
              <a:rPr sz="1100" spc="-65" dirty="0">
                <a:latin typeface="Verdana"/>
                <a:cs typeface="Verdana"/>
              </a:rPr>
              <a:t> issues;</a:t>
            </a:r>
            <a:r>
              <a:rPr sz="1100" spc="1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1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development</a:t>
            </a:r>
            <a:r>
              <a:rPr sz="1100" spc="1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18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use</a:t>
            </a:r>
            <a:r>
              <a:rPr sz="1100" spc="18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17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AI</a:t>
            </a:r>
            <a:r>
              <a:rPr sz="1100" spc="17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17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generative</a:t>
            </a:r>
            <a:r>
              <a:rPr sz="1100" spc="1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AI,</a:t>
            </a:r>
            <a:r>
              <a:rPr sz="1100" spc="1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including</a:t>
            </a:r>
            <a:r>
              <a:rPr sz="1100" spc="1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17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company's</a:t>
            </a:r>
            <a:r>
              <a:rPr sz="1100" spc="17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increased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offerings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use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AI-</a:t>
            </a:r>
            <a:r>
              <a:rPr sz="1100" spc="-55" dirty="0">
                <a:latin typeface="Verdana"/>
                <a:cs typeface="Verdana"/>
              </a:rPr>
              <a:t>based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technologies;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impacts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business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with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government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clients;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reliance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on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third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party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distribution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channels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ecosystems;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cybersecurity,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privacy,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45" dirty="0">
                <a:latin typeface="Verdana"/>
                <a:cs typeface="Verdana"/>
              </a:rPr>
              <a:t> AI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considerations;</a:t>
            </a:r>
            <a:r>
              <a:rPr sz="1100" spc="-70" dirty="0">
                <a:latin typeface="Verdana"/>
                <a:cs typeface="Verdana"/>
              </a:rPr>
              <a:t> adverse</a:t>
            </a:r>
            <a:r>
              <a:rPr sz="1100" spc="15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effects</a:t>
            </a:r>
            <a:r>
              <a:rPr sz="1100" spc="15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related</a:t>
            </a:r>
            <a:r>
              <a:rPr sz="1100" spc="1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15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climate</a:t>
            </a:r>
            <a:r>
              <a:rPr sz="1100" spc="15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change</a:t>
            </a:r>
            <a:r>
              <a:rPr sz="1100" spc="15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14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other</a:t>
            </a:r>
            <a:r>
              <a:rPr sz="1100" spc="14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environmental</a:t>
            </a:r>
            <a:r>
              <a:rPr sz="1100" spc="13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matters;</a:t>
            </a:r>
            <a:r>
              <a:rPr sz="1100" spc="15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tax</a:t>
            </a:r>
            <a:r>
              <a:rPr sz="1100" spc="15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matters;</a:t>
            </a:r>
            <a:r>
              <a:rPr sz="1100" spc="15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legal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proceedings</a:t>
            </a:r>
            <a:r>
              <a:rPr sz="1100" spc="27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27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investigatory</a:t>
            </a:r>
            <a:r>
              <a:rPr sz="1100" spc="27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risks;</a:t>
            </a:r>
            <a:r>
              <a:rPr sz="1100" spc="27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27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2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pension</a:t>
            </a:r>
            <a:r>
              <a:rPr sz="1100" spc="27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plans;</a:t>
            </a:r>
            <a:r>
              <a:rPr sz="1100" spc="26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currency</a:t>
            </a:r>
            <a:r>
              <a:rPr sz="1100" spc="27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fluctuations</a:t>
            </a:r>
            <a:r>
              <a:rPr sz="1100" spc="26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customer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financing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risks;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impact</a:t>
            </a:r>
            <a:r>
              <a:rPr sz="1100" spc="-45" dirty="0">
                <a:latin typeface="Verdana"/>
                <a:cs typeface="Verdana"/>
              </a:rPr>
              <a:t> of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changes</a:t>
            </a:r>
            <a:r>
              <a:rPr sz="1100" spc="-50" dirty="0">
                <a:latin typeface="Verdana"/>
                <a:cs typeface="Verdana"/>
              </a:rPr>
              <a:t> in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market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liquidity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conditions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customer</a:t>
            </a:r>
            <a:r>
              <a:rPr sz="1100" spc="-50" dirty="0">
                <a:latin typeface="Verdana"/>
                <a:cs typeface="Verdana"/>
              </a:rPr>
              <a:t> credit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risk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on</a:t>
            </a:r>
            <a:r>
              <a:rPr sz="1100" spc="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receivables;</a:t>
            </a:r>
            <a:r>
              <a:rPr sz="1100" spc="1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risk</a:t>
            </a:r>
            <a:r>
              <a:rPr sz="1100" spc="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factors</a:t>
            </a:r>
            <a:r>
              <a:rPr sz="1100" spc="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related</a:t>
            </a:r>
            <a:r>
              <a:rPr sz="1100" spc="10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11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IBM</a:t>
            </a:r>
            <a:r>
              <a:rPr sz="1100" spc="114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securities;</a:t>
            </a:r>
            <a:r>
              <a:rPr sz="1100" spc="114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other</a:t>
            </a:r>
            <a:r>
              <a:rPr sz="1100" spc="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risks,</a:t>
            </a:r>
            <a:r>
              <a:rPr sz="1100" spc="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uncertainties</a:t>
            </a:r>
            <a:r>
              <a:rPr sz="1100" spc="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factors</a:t>
            </a:r>
            <a:r>
              <a:rPr sz="1100" spc="-45" dirty="0">
                <a:latin typeface="Verdana"/>
                <a:cs typeface="Verdana"/>
              </a:rPr>
              <a:t> discussed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Form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10-</a:t>
            </a:r>
            <a:r>
              <a:rPr sz="1100" spc="-75" dirty="0">
                <a:latin typeface="Verdana"/>
                <a:cs typeface="Verdana"/>
              </a:rPr>
              <a:t>Qs,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Form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10-</a:t>
            </a:r>
            <a:r>
              <a:rPr sz="1100" spc="-70" dirty="0">
                <a:latin typeface="Verdana"/>
                <a:cs typeface="Verdana"/>
              </a:rPr>
              <a:t>K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other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filings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with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U.S. </a:t>
            </a:r>
            <a:r>
              <a:rPr sz="1100" spc="-60" dirty="0">
                <a:latin typeface="Verdana"/>
                <a:cs typeface="Verdana"/>
              </a:rPr>
              <a:t>Securities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Exchange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Commission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or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materials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incorporated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therein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by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reference.</a:t>
            </a:r>
            <a:endParaRPr sz="1100">
              <a:latin typeface="Verdana"/>
              <a:cs typeface="Verdana"/>
            </a:endParaRPr>
          </a:p>
          <a:p>
            <a:pPr marL="12700" marR="5080" indent="457200" algn="just">
              <a:lnSpc>
                <a:spcPct val="100000"/>
              </a:lnSpc>
              <a:spcBef>
                <a:spcPts val="10"/>
              </a:spcBef>
            </a:pPr>
            <a:r>
              <a:rPr sz="1100" spc="-120" dirty="0">
                <a:latin typeface="Verdana"/>
                <a:cs typeface="Verdana"/>
              </a:rPr>
              <a:t>Any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forward-</a:t>
            </a:r>
            <a:r>
              <a:rPr sz="1100" spc="-75" dirty="0">
                <a:latin typeface="Verdana"/>
                <a:cs typeface="Verdana"/>
              </a:rPr>
              <a:t>looking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statement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110" dirty="0">
                <a:latin typeface="Verdana"/>
                <a:cs typeface="Verdana"/>
              </a:rPr>
              <a:t>in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this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release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speaks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only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145" dirty="0">
                <a:latin typeface="Verdana"/>
                <a:cs typeface="Verdana"/>
              </a:rPr>
              <a:t>as</a:t>
            </a:r>
            <a:r>
              <a:rPr sz="1100" spc="50" dirty="0">
                <a:latin typeface="Verdana"/>
                <a:cs typeface="Verdana"/>
              </a:rPr>
              <a:t> </a:t>
            </a:r>
            <a:r>
              <a:rPr sz="1100" spc="-95" dirty="0">
                <a:latin typeface="Verdana"/>
                <a:cs typeface="Verdana"/>
              </a:rPr>
              <a:t>of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the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date</a:t>
            </a:r>
            <a:r>
              <a:rPr sz="1100" dirty="0">
                <a:latin typeface="Verdana"/>
                <a:cs typeface="Verdana"/>
              </a:rPr>
              <a:t> </a:t>
            </a:r>
            <a:r>
              <a:rPr sz="1100" spc="-155" dirty="0">
                <a:latin typeface="Verdana"/>
                <a:cs typeface="Verdana"/>
              </a:rPr>
              <a:t>on</a:t>
            </a:r>
            <a:r>
              <a:rPr sz="1100" spc="6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which</a:t>
            </a:r>
            <a:r>
              <a:rPr sz="1100" spc="25" dirty="0">
                <a:latin typeface="Verdana"/>
                <a:cs typeface="Verdana"/>
              </a:rPr>
              <a:t> </a:t>
            </a:r>
            <a:r>
              <a:rPr sz="1100" spc="-105" dirty="0">
                <a:latin typeface="Verdana"/>
                <a:cs typeface="Verdana"/>
              </a:rPr>
              <a:t>it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is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made. </a:t>
            </a:r>
            <a:r>
              <a:rPr sz="1100" spc="-45" dirty="0">
                <a:latin typeface="Verdana"/>
                <a:cs typeface="Verdana"/>
              </a:rPr>
              <a:t>Except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required </a:t>
            </a:r>
            <a:r>
              <a:rPr sz="1100" spc="-30" dirty="0">
                <a:latin typeface="Verdana"/>
                <a:cs typeface="Verdana"/>
              </a:rPr>
              <a:t>by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law,</a:t>
            </a:r>
            <a:r>
              <a:rPr sz="1100" spc="-35" dirty="0">
                <a:latin typeface="Verdana"/>
                <a:cs typeface="Verdana"/>
              </a:rPr>
              <a:t> the </a:t>
            </a:r>
            <a:r>
              <a:rPr sz="1100" spc="-70" dirty="0">
                <a:latin typeface="Verdana"/>
                <a:cs typeface="Verdana"/>
              </a:rPr>
              <a:t>company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assumes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no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obligation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to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update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or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revise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any</a:t>
            </a:r>
            <a:r>
              <a:rPr sz="1100" spc="-25" dirty="0">
                <a:latin typeface="Verdana"/>
                <a:cs typeface="Verdana"/>
              </a:rPr>
              <a:t> forward- </a:t>
            </a:r>
            <a:r>
              <a:rPr sz="1100" spc="-65" dirty="0">
                <a:latin typeface="Verdana"/>
                <a:cs typeface="Verdana"/>
              </a:rPr>
              <a:t>looking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statements.</a:t>
            </a:r>
            <a:endParaRPr sz="11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800"/>
              </a:spcBef>
            </a:pPr>
            <a:r>
              <a:rPr sz="1100" b="1" spc="-45" dirty="0">
                <a:latin typeface="Tahoma"/>
                <a:cs typeface="Tahoma"/>
              </a:rPr>
              <a:t>Presentation</a:t>
            </a:r>
            <a:r>
              <a:rPr sz="1100" b="1" spc="-35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Tahoma"/>
                <a:cs typeface="Tahoma"/>
              </a:rPr>
              <a:t>of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Information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Tahoma"/>
                <a:cs typeface="Tahoma"/>
              </a:rPr>
              <a:t>in</a:t>
            </a:r>
            <a:r>
              <a:rPr sz="1100" b="1" spc="-20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Tahoma"/>
                <a:cs typeface="Tahoma"/>
              </a:rPr>
              <a:t>this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ahoma"/>
                <a:cs typeface="Tahoma"/>
              </a:rPr>
              <a:t>Press </a:t>
            </a:r>
            <a:r>
              <a:rPr sz="1100" b="1" spc="-10" dirty="0">
                <a:latin typeface="Tahoma"/>
                <a:cs typeface="Tahoma"/>
              </a:rPr>
              <a:t>Release</a:t>
            </a:r>
            <a:endParaRPr sz="1100">
              <a:latin typeface="Tahoma"/>
              <a:cs typeface="Tahoma"/>
            </a:endParaRPr>
          </a:p>
          <a:p>
            <a:pPr marL="12700" marR="116839" indent="457200" algn="just">
              <a:lnSpc>
                <a:spcPct val="99500"/>
              </a:lnSpc>
              <a:spcBef>
                <a:spcPts val="810"/>
              </a:spcBef>
            </a:pPr>
            <a:r>
              <a:rPr sz="1100" spc="-100" dirty="0">
                <a:latin typeface="Verdana"/>
                <a:cs typeface="Verdana"/>
              </a:rPr>
              <a:t>For</a:t>
            </a:r>
            <a:r>
              <a:rPr sz="1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generative</a:t>
            </a:r>
            <a:r>
              <a:rPr sz="1100" dirty="0">
                <a:latin typeface="Verdana"/>
                <a:cs typeface="Verdana"/>
              </a:rPr>
              <a:t> </a:t>
            </a:r>
            <a:r>
              <a:rPr sz="1100" spc="-110" dirty="0">
                <a:latin typeface="Verdana"/>
                <a:cs typeface="Verdana"/>
              </a:rPr>
              <a:t>AI,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95" dirty="0">
                <a:latin typeface="Verdana"/>
                <a:cs typeface="Verdana"/>
              </a:rPr>
              <a:t>book</a:t>
            </a:r>
            <a:r>
              <a:rPr sz="1100" dirty="0">
                <a:latin typeface="Verdana"/>
                <a:cs typeface="Verdana"/>
              </a:rPr>
              <a:t> </a:t>
            </a:r>
            <a:r>
              <a:rPr sz="1100" spc="-110" dirty="0">
                <a:latin typeface="Verdana"/>
                <a:cs typeface="Verdana"/>
              </a:rPr>
              <a:t>of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business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includes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Software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transactional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95" dirty="0">
                <a:latin typeface="Verdana"/>
                <a:cs typeface="Verdana"/>
              </a:rPr>
              <a:t>revenue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plus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new</a:t>
            </a:r>
            <a:r>
              <a:rPr sz="1100" spc="8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SaaS </a:t>
            </a:r>
            <a:r>
              <a:rPr sz="1100" spc="-85" dirty="0">
                <a:latin typeface="Verdana"/>
                <a:cs typeface="Verdana"/>
              </a:rPr>
              <a:t>Annual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Contract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Value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spc="-130" dirty="0">
                <a:latin typeface="Verdana"/>
                <a:cs typeface="Verdana"/>
              </a:rPr>
              <a:t>and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Consulting</a:t>
            </a:r>
            <a:r>
              <a:rPr sz="110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signings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related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165" dirty="0">
                <a:latin typeface="Verdana"/>
                <a:cs typeface="Verdana"/>
              </a:rPr>
              <a:t>to</a:t>
            </a:r>
            <a:r>
              <a:rPr sz="1100" spc="6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specific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offerings.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120" dirty="0">
                <a:latin typeface="Verdana"/>
                <a:cs typeface="Verdana"/>
              </a:rPr>
              <a:t>The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generative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114" dirty="0">
                <a:latin typeface="Verdana"/>
                <a:cs typeface="Verdana"/>
              </a:rPr>
              <a:t>AI</a:t>
            </a:r>
            <a:r>
              <a:rPr sz="1100" spc="2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book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business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further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defined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within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Exhibit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99.2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Form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8-</a:t>
            </a:r>
            <a:r>
              <a:rPr sz="1100" spc="-75" dirty="0">
                <a:latin typeface="Verdana"/>
                <a:cs typeface="Verdana"/>
              </a:rPr>
              <a:t>K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includes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this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press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release.</a:t>
            </a:r>
            <a:endParaRPr sz="1100">
              <a:latin typeface="Verdana"/>
              <a:cs typeface="Verdana"/>
            </a:endParaRPr>
          </a:p>
          <a:p>
            <a:pPr marL="12700" marR="66675" indent="457200">
              <a:lnSpc>
                <a:spcPct val="100000"/>
              </a:lnSpc>
              <a:spcBef>
                <a:spcPts val="805"/>
              </a:spcBef>
            </a:pPr>
            <a:r>
              <a:rPr sz="1100" spc="-60" dirty="0">
                <a:latin typeface="Verdana"/>
                <a:cs typeface="Verdana"/>
              </a:rPr>
              <a:t>In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effort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70" dirty="0">
                <a:latin typeface="Verdana"/>
                <a:cs typeface="Verdana"/>
              </a:rPr>
              <a:t> provide investors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with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additional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information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regarding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the</a:t>
            </a:r>
            <a:r>
              <a:rPr sz="1100" spc="-70" dirty="0">
                <a:latin typeface="Verdana"/>
                <a:cs typeface="Verdana"/>
              </a:rPr>
              <a:t> company’s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results </a:t>
            </a:r>
            <a:r>
              <a:rPr sz="1100" spc="-65" dirty="0">
                <a:latin typeface="Verdana"/>
                <a:cs typeface="Verdana"/>
              </a:rPr>
              <a:t>as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determined</a:t>
            </a:r>
            <a:r>
              <a:rPr sz="1100" spc="-85" dirty="0">
                <a:latin typeface="Verdana"/>
                <a:cs typeface="Verdana"/>
              </a:rPr>
              <a:t> by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generally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accepted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accounting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principles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(GAAP),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company </a:t>
            </a:r>
            <a:r>
              <a:rPr sz="1100" spc="-75" dirty="0">
                <a:latin typeface="Verdana"/>
                <a:cs typeface="Verdana"/>
              </a:rPr>
              <a:t>has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also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disclosed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this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press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release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following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non-</a:t>
            </a:r>
            <a:r>
              <a:rPr sz="1100" spc="-55" dirty="0">
                <a:latin typeface="Verdana"/>
                <a:cs typeface="Verdana"/>
              </a:rPr>
              <a:t>GAAP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information,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which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management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believes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provides </a:t>
            </a:r>
            <a:r>
              <a:rPr sz="1100" spc="-55" dirty="0">
                <a:latin typeface="Verdana"/>
                <a:cs typeface="Verdana"/>
              </a:rPr>
              <a:t>useful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information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investors: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100" spc="-35" dirty="0">
                <a:latin typeface="Verdana"/>
                <a:cs typeface="Verdana"/>
              </a:rPr>
              <a:t>IBM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results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—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1100" spc="-75" dirty="0">
                <a:latin typeface="Verdana"/>
                <a:cs typeface="Verdana"/>
              </a:rPr>
              <a:t>adjusting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currency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95" dirty="0">
                <a:latin typeface="Verdana"/>
                <a:cs typeface="Verdana"/>
              </a:rPr>
              <a:t>(i.e.,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currency);</a:t>
            </a:r>
            <a:endParaRPr sz="1100">
              <a:latin typeface="Verdana"/>
              <a:cs typeface="Verdana"/>
            </a:endParaRPr>
          </a:p>
          <a:p>
            <a:pPr marL="241300" marR="283210" indent="-229235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1100" spc="-70" dirty="0">
                <a:latin typeface="Verdana"/>
                <a:cs typeface="Verdana"/>
              </a:rPr>
              <a:t>presenting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operating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(non-</a:t>
            </a:r>
            <a:r>
              <a:rPr sz="1100" spc="-75" dirty="0">
                <a:latin typeface="Verdana"/>
                <a:cs typeface="Verdana"/>
              </a:rPr>
              <a:t>GAAP)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earnings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share</a:t>
            </a:r>
            <a:r>
              <a:rPr sz="1100" spc="-6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amounts </a:t>
            </a:r>
            <a:r>
              <a:rPr sz="1100" spc="-75" dirty="0">
                <a:latin typeface="Verdana"/>
                <a:cs typeface="Verdana"/>
              </a:rPr>
              <a:t>and </a:t>
            </a:r>
            <a:r>
              <a:rPr sz="1100" spc="-60" dirty="0">
                <a:latin typeface="Verdana"/>
                <a:cs typeface="Verdana"/>
              </a:rPr>
              <a:t>related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income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statement </a:t>
            </a:r>
            <a:r>
              <a:rPr sz="1100" spc="-10" dirty="0">
                <a:latin typeface="Verdana"/>
                <a:cs typeface="Verdana"/>
              </a:rPr>
              <a:t>items;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flow;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1100" spc="-65" dirty="0">
                <a:latin typeface="Verdana"/>
                <a:cs typeface="Verdana"/>
              </a:rPr>
              <a:t>net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from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operating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activities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excluding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IBM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Financing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receivables;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1100" spc="-70" dirty="0">
                <a:latin typeface="Verdana"/>
                <a:cs typeface="Verdana"/>
              </a:rPr>
              <a:t>adjusted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EBITDA.</a:t>
            </a:r>
            <a:endParaRPr sz="1100">
              <a:latin typeface="Verdana"/>
              <a:cs typeface="Verdana"/>
            </a:endParaRPr>
          </a:p>
          <a:p>
            <a:pPr marL="12700" marR="57785" indent="457200">
              <a:lnSpc>
                <a:spcPts val="1310"/>
              </a:lnSpc>
              <a:spcBef>
                <a:spcPts val="860"/>
              </a:spcBef>
            </a:pP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rationale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management’s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use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these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non-</a:t>
            </a:r>
            <a:r>
              <a:rPr sz="1100" spc="-60" dirty="0">
                <a:latin typeface="Verdana"/>
                <a:cs typeface="Verdana"/>
              </a:rPr>
              <a:t>GAAP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measures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is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included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Exhibit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99.2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Form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8-</a:t>
            </a:r>
            <a:r>
              <a:rPr sz="1100" spc="-75" dirty="0">
                <a:latin typeface="Verdana"/>
                <a:cs typeface="Verdana"/>
              </a:rPr>
              <a:t>K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includes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this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press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release</a:t>
            </a:r>
            <a:r>
              <a:rPr sz="1100" spc="-80" dirty="0">
                <a:latin typeface="Verdana"/>
                <a:cs typeface="Verdana"/>
              </a:rPr>
              <a:t> and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is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being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submitted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today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SEC.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100" b="1" spc="-45" dirty="0">
                <a:latin typeface="Tahoma"/>
                <a:cs typeface="Tahoma"/>
              </a:rPr>
              <a:t>Conference</a:t>
            </a:r>
            <a:r>
              <a:rPr sz="1100" b="1" spc="-35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Call</a:t>
            </a:r>
            <a:r>
              <a:rPr sz="1100" b="1" spc="-40" dirty="0">
                <a:latin typeface="Tahoma"/>
                <a:cs typeface="Tahoma"/>
              </a:rPr>
              <a:t> and</a:t>
            </a:r>
            <a:r>
              <a:rPr sz="1100" b="1" spc="-3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Webcast</a:t>
            </a:r>
            <a:endParaRPr sz="1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805"/>
              </a:spcBef>
            </a:pPr>
            <a:r>
              <a:rPr sz="1100" spc="-35" dirty="0">
                <a:latin typeface="Verdana"/>
                <a:cs typeface="Verdana"/>
              </a:rPr>
              <a:t>IBM’s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regular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quarterly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earnings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conference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call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scheduled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begin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5:00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p.m.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ET,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today.</a:t>
            </a:r>
            <a:endParaRPr sz="1100">
              <a:latin typeface="Verdana"/>
              <a:cs typeface="Verdana"/>
            </a:endParaRPr>
          </a:p>
          <a:p>
            <a:pPr marL="12700" marR="172085">
              <a:lnSpc>
                <a:spcPct val="100000"/>
              </a:lnSpc>
            </a:pPr>
            <a:r>
              <a:rPr sz="1100" spc="-65" dirty="0">
                <a:latin typeface="Verdana"/>
                <a:cs typeface="Verdana"/>
              </a:rPr>
              <a:t>The Webcast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110" dirty="0">
                <a:latin typeface="Verdana"/>
                <a:cs typeface="Verdana"/>
              </a:rPr>
              <a:t>may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be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accessed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via </a:t>
            </a:r>
            <a:r>
              <a:rPr sz="1100" spc="-85" dirty="0">
                <a:latin typeface="Verdana"/>
                <a:cs typeface="Verdana"/>
              </a:rPr>
              <a:t>a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link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https:/</a:t>
            </a:r>
            <a:r>
              <a:rPr sz="1100" spc="-80" dirty="0">
                <a:latin typeface="Verdana"/>
                <a:cs typeface="Verdana"/>
                <a:hlinkClick r:id="rId2"/>
              </a:rPr>
              <a:t>/www.ibm.com/investor/events/earnings-</a:t>
            </a:r>
            <a:r>
              <a:rPr sz="1100" spc="-10" dirty="0">
                <a:latin typeface="Verdana"/>
                <a:cs typeface="Verdana"/>
                <a:hlinkClick r:id="rId2"/>
              </a:rPr>
              <a:t>2q25.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Presentation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charts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30" dirty="0">
                <a:latin typeface="Verdana"/>
                <a:cs typeface="Verdana"/>
              </a:rPr>
              <a:t>will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available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shortly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before</a:t>
            </a:r>
            <a:r>
              <a:rPr sz="1100" spc="-75" dirty="0">
                <a:latin typeface="Verdana"/>
                <a:cs typeface="Verdana"/>
              </a:rPr>
              <a:t> the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Webcast.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012" y="520699"/>
            <a:ext cx="55403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b="1" spc="-30" dirty="0">
                <a:latin typeface="Tahoma"/>
                <a:cs typeface="Tahoma"/>
              </a:rPr>
              <a:t>Financial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Tahoma"/>
                <a:cs typeface="Tahoma"/>
              </a:rPr>
              <a:t>Results</a:t>
            </a:r>
            <a:r>
              <a:rPr sz="1100" b="1" spc="-40" dirty="0">
                <a:latin typeface="Tahoma"/>
                <a:cs typeface="Tahoma"/>
              </a:rPr>
              <a:t> Below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spc="-70" dirty="0">
                <a:latin typeface="Verdana"/>
                <a:cs typeface="Verdana"/>
              </a:rPr>
              <a:t>(certain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amounts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110" dirty="0">
                <a:latin typeface="Verdana"/>
                <a:cs typeface="Verdana"/>
              </a:rPr>
              <a:t>may </a:t>
            </a:r>
            <a:r>
              <a:rPr sz="1100" spc="-60" dirty="0">
                <a:latin typeface="Verdana"/>
                <a:cs typeface="Verdana"/>
              </a:rPr>
              <a:t>not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add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due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use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rounded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numbers; </a:t>
            </a:r>
            <a:r>
              <a:rPr sz="1100" spc="-70" dirty="0">
                <a:latin typeface="Verdana"/>
                <a:cs typeface="Verdana"/>
              </a:rPr>
              <a:t>percentages </a:t>
            </a:r>
            <a:r>
              <a:rPr sz="1100" spc="-65" dirty="0">
                <a:latin typeface="Verdana"/>
                <a:cs typeface="Verdana"/>
              </a:rPr>
              <a:t>presented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are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calculated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from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 </a:t>
            </a:r>
            <a:r>
              <a:rPr sz="1100" spc="-75" dirty="0">
                <a:latin typeface="Verdana"/>
                <a:cs typeface="Verdana"/>
              </a:rPr>
              <a:t>underlying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whole-</a:t>
            </a:r>
            <a:r>
              <a:rPr sz="1100" spc="-55" dirty="0">
                <a:latin typeface="Verdana"/>
                <a:cs typeface="Verdana"/>
              </a:rPr>
              <a:t>dollar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amounts).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1012" y="1205230"/>
            <a:ext cx="5543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75" dirty="0">
                <a:latin typeface="Verdana"/>
                <a:cs typeface="Verdana"/>
              </a:rPr>
              <a:t>Contact: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3266" y="1160119"/>
            <a:ext cx="1894205" cy="115951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100" spc="-25" dirty="0">
                <a:latin typeface="Verdana"/>
                <a:cs typeface="Verdana"/>
              </a:rPr>
              <a:t>IBM</a:t>
            </a:r>
            <a:endParaRPr sz="1100">
              <a:latin typeface="Verdana"/>
              <a:cs typeface="Verdana"/>
            </a:endParaRPr>
          </a:p>
          <a:p>
            <a:pPr marL="12700" marR="59690">
              <a:lnSpc>
                <a:spcPts val="1689"/>
              </a:lnSpc>
              <a:spcBef>
                <a:spcPts val="105"/>
              </a:spcBef>
            </a:pPr>
            <a:r>
              <a:rPr sz="1100" spc="-90" dirty="0">
                <a:latin typeface="Verdana"/>
                <a:cs typeface="Verdana"/>
              </a:rPr>
              <a:t>Sarah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Meron,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347-891-</a:t>
            </a:r>
            <a:r>
              <a:rPr sz="1100" spc="-35" dirty="0">
                <a:latin typeface="Verdana"/>
                <a:cs typeface="Verdana"/>
              </a:rPr>
              <a:t>1770 </a:t>
            </a:r>
            <a:r>
              <a:rPr sz="1100" spc="-30" dirty="0">
                <a:latin typeface="Verdana"/>
                <a:cs typeface="Verdana"/>
                <a:hlinkClick r:id="rId2"/>
              </a:rPr>
              <a:t>sarah.meron@ibm.com</a:t>
            </a:r>
            <a:endParaRPr sz="1100">
              <a:latin typeface="Verdana"/>
              <a:cs typeface="Verdana"/>
            </a:endParaRPr>
          </a:p>
          <a:p>
            <a:pPr marL="12700" marR="5080">
              <a:lnSpc>
                <a:spcPct val="127299"/>
              </a:lnSpc>
              <a:spcBef>
                <a:spcPts val="400"/>
              </a:spcBef>
            </a:pPr>
            <a:r>
              <a:rPr sz="1100" spc="-70" dirty="0">
                <a:latin typeface="Verdana"/>
                <a:cs typeface="Verdana"/>
              </a:rPr>
              <a:t>Tim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Davidson,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914-</a:t>
            </a:r>
            <a:r>
              <a:rPr sz="1100" spc="-65" dirty="0">
                <a:latin typeface="Verdana"/>
                <a:cs typeface="Verdana"/>
              </a:rPr>
              <a:t>844-</a:t>
            </a:r>
            <a:r>
              <a:rPr sz="1100" spc="-30" dirty="0">
                <a:latin typeface="Verdana"/>
                <a:cs typeface="Verdana"/>
              </a:rPr>
              <a:t>7847 </a:t>
            </a:r>
            <a:r>
              <a:rPr sz="1100" spc="-20" dirty="0">
                <a:latin typeface="Verdana"/>
                <a:cs typeface="Verdana"/>
                <a:hlinkClick r:id="rId3"/>
              </a:rPr>
              <a:t>tfdavids@us.ibm.com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1010" y="531368"/>
            <a:ext cx="2771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42545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CORPORATION COMPARATIVE</a:t>
            </a:r>
            <a:r>
              <a:rPr sz="800" b="1" spc="2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FINANCIAL</a:t>
            </a:r>
            <a:r>
              <a:rPr sz="800" b="1" spc="3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RESULTS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800" b="1" spc="-40" dirty="0">
                <a:latin typeface="Tahoma"/>
                <a:cs typeface="Tahoma"/>
              </a:rPr>
              <a:t>(Unaudited;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Dollars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in</a:t>
            </a:r>
            <a:r>
              <a:rPr sz="800" b="1" spc="-25" dirty="0">
                <a:latin typeface="Tahoma"/>
                <a:cs typeface="Tahoma"/>
              </a:rPr>
              <a:t> millions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except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per</a:t>
            </a:r>
            <a:r>
              <a:rPr sz="800" b="1" spc="-30" dirty="0">
                <a:latin typeface="Tahoma"/>
                <a:cs typeface="Tahoma"/>
              </a:rPr>
              <a:t> share</a:t>
            </a:r>
            <a:r>
              <a:rPr sz="800" b="1" spc="-10" dirty="0">
                <a:latin typeface="Tahoma"/>
                <a:cs typeface="Tahoma"/>
              </a:rPr>
              <a:t> amounts)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5827" y="1090930"/>
            <a:ext cx="1004569" cy="26225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94005" marR="5080" indent="-281940">
              <a:lnSpc>
                <a:spcPts val="900"/>
              </a:lnSpc>
              <a:spcBef>
                <a:spcPts val="180"/>
              </a:spcBef>
            </a:pPr>
            <a:r>
              <a:rPr sz="800" b="1" spc="-35" dirty="0">
                <a:latin typeface="Tahoma"/>
                <a:cs typeface="Tahoma"/>
              </a:rPr>
              <a:t>Three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20" dirty="0">
                <a:latin typeface="Tahoma"/>
                <a:cs typeface="Tahoma"/>
              </a:rPr>
              <a:t>June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54421" y="1090930"/>
            <a:ext cx="878205" cy="26225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32410" marR="5080" indent="-220345">
              <a:lnSpc>
                <a:spcPts val="900"/>
              </a:lnSpc>
              <a:spcBef>
                <a:spcPts val="180"/>
              </a:spcBef>
            </a:pPr>
            <a:r>
              <a:rPr sz="800" b="1" spc="-25" dirty="0">
                <a:latin typeface="Tahoma"/>
                <a:cs typeface="Tahoma"/>
              </a:rPr>
              <a:t>Six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20" dirty="0">
                <a:latin typeface="Tahoma"/>
                <a:cs typeface="Tahoma"/>
              </a:rPr>
              <a:t>June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87577" y="1382522"/>
          <a:ext cx="6503035" cy="73977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0015"/>
                <a:gridCol w="760729"/>
                <a:gridCol w="180339"/>
                <a:gridCol w="760729"/>
                <a:gridCol w="193675"/>
                <a:gridCol w="760729"/>
                <a:gridCol w="181610"/>
                <a:gridCol w="770254"/>
                <a:gridCol w="160020"/>
              </a:tblGrid>
              <a:tr h="3105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REVENUE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BY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SEGMENT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257175" algn="l"/>
                          <a:tab pos="760095" algn="l"/>
                        </a:tabLst>
                      </a:pP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2025</a:t>
                      </a: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257175" algn="l"/>
                          <a:tab pos="760095" algn="l"/>
                        </a:tabLst>
                      </a:pP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2024</a:t>
                      </a: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257175" algn="l"/>
                          <a:tab pos="760095" algn="l"/>
                        </a:tabLst>
                      </a:pP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2025</a:t>
                      </a: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257175" algn="l"/>
                          <a:tab pos="760095" algn="l"/>
                        </a:tabLst>
                      </a:pP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2024</a:t>
                      </a: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Software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4140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7,387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4140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6,739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38544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13,722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35306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12,637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Consulting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5,314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5,179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10,382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10,365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Infrastructure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4,142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3,645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7,027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6,721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Financing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166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169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357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362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485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Other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6070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8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(31)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9563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38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9563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30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3467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146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71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16,977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15,770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31,519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30,231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889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374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GROSS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PROFIT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9,977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8,950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18,008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16,692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191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2097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GROSS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PROFIT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MARGIN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92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Software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83.9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83.6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83.7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83.0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Consulting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27.5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26.3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27.4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25.8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Infrastructure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61.5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56.5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57.9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55.4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682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Financing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45.7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48.9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45.8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48.7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955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GROSS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PROFIT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MARGIN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58.8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56.8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57.1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55.2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</a:tr>
              <a:tr h="1917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EXPENSE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OTHER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INCOME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SG&amp;A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5,027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4,938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9,913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9,912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R&amp;D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2,097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1,840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4,047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3,637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Intellectual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property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custom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development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income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(215)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(241)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(468)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(458)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(income)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(39)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(233)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(204)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(550)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479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Interest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3467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510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3467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427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3467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965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3467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859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65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EXPENSE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OTHER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INCOME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7,380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6,730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14,253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13,399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08610">
                <a:tc>
                  <a:txBody>
                    <a:bodyPr/>
                    <a:lstStyle/>
                    <a:p>
                      <a:pPr marL="31750" marR="562610">
                        <a:lnSpc>
                          <a:spcPts val="910"/>
                        </a:lnSpc>
                        <a:spcBef>
                          <a:spcPts val="39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CONTINUING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OPERATIONS BEFORE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TAXES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2,597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2,219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3,755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4450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3,293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margin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15.3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14.1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11.9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10.9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</a:tr>
              <a:tr h="152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for/(Benefit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 taxes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404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389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507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(112)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827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Effective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rate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15.5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17.5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13.5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143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(3.4)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962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CONTINUING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OPERATIONS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4140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2,193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4140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1,830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44640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3,248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4140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3,405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85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DISCONTINUED</a:t>
                      </a:r>
                      <a:r>
                        <a:rPr sz="800" b="1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OPERATIONS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06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224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discontinued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operations,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taxes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203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INCOME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375"/>
                        </a:spcBef>
                        <a:tabLst>
                          <a:tab pos="4140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2,194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375"/>
                        </a:spcBef>
                        <a:tabLst>
                          <a:tab pos="4140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1,834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75"/>
                        </a:spcBef>
                        <a:tabLst>
                          <a:tab pos="44640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3,249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375"/>
                        </a:spcBef>
                        <a:tabLst>
                          <a:tab pos="4140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3,439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4320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EARNINGS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PER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SHARE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0" dirty="0">
                          <a:latin typeface="Tahoma"/>
                          <a:cs typeface="Tahoma"/>
                        </a:rPr>
                        <a:t>COMMON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STOCK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20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Assuming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Dilution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4749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2.31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4749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1.96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736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3.43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4749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3.65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Discontinued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7365" algn="l"/>
                        </a:tabLst>
                      </a:pP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7365" algn="l"/>
                        </a:tabLst>
                      </a:pP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7365" algn="l"/>
                        </a:tabLst>
                      </a:pP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7365" algn="l"/>
                        </a:tabLst>
                      </a:pP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0.04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526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TOTAL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7365" algn="l"/>
                        </a:tabLst>
                      </a:pP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2.31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7365" algn="l"/>
                        </a:tabLst>
                      </a:pP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1.96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7365" algn="l"/>
                        </a:tabLst>
                      </a:pP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3.43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7365" algn="l"/>
                        </a:tabLst>
                      </a:pP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3.68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7480">
                <a:tc>
                  <a:txBody>
                    <a:bodyPr/>
                    <a:lstStyle/>
                    <a:p>
                      <a:pPr marL="74295">
                        <a:lnSpc>
                          <a:spcPts val="919"/>
                        </a:lnSpc>
                        <a:spcBef>
                          <a:spcPts val="22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Basic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1925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4749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2.36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4749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1.99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50736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3.49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4749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3.71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Discontinued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7365" algn="l"/>
                        </a:tabLst>
                      </a:pP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7365" algn="l"/>
                        </a:tabLst>
                      </a:pP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7365" algn="l"/>
                        </a:tabLst>
                      </a:pP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7365" algn="l"/>
                        </a:tabLst>
                      </a:pP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0.04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526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TOTAL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7365" algn="l"/>
                        </a:tabLst>
                      </a:pP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2.36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7365" algn="l"/>
                        </a:tabLst>
                      </a:pP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1.99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7365" algn="l"/>
                        </a:tabLst>
                      </a:pP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3.50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7365" algn="l"/>
                        </a:tabLst>
                      </a:pP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3.74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87655">
                <a:tc>
                  <a:txBody>
                    <a:bodyPr/>
                    <a:lstStyle/>
                    <a:p>
                      <a:pPr marL="31750">
                        <a:lnSpc>
                          <a:spcPts val="930"/>
                        </a:lnSpc>
                        <a:spcBef>
                          <a:spcPts val="170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WEIGHTED-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AVERAGE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NUMBER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0" dirty="0">
                          <a:latin typeface="Tahoma"/>
                          <a:cs typeface="Tahoma"/>
                        </a:rPr>
                        <a:t>COMMON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SHARES</a:t>
                      </a:r>
                      <a:endParaRPr sz="800">
                        <a:latin typeface="Tahoma"/>
                        <a:cs typeface="Tahoma"/>
                      </a:endParaRPr>
                    </a:p>
                    <a:p>
                      <a:pPr marL="31750">
                        <a:lnSpc>
                          <a:spcPts val="930"/>
                        </a:lnSpc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OUTSTANDING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(M’s)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Assuming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Dilution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948.0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934.4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946.7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933.9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42240">
                <a:tc>
                  <a:txBody>
                    <a:bodyPr/>
                    <a:lstStyle/>
                    <a:p>
                      <a:pPr marL="74295">
                        <a:lnSpc>
                          <a:spcPts val="919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Basic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919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930.8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0" algn="r">
                        <a:lnSpc>
                          <a:spcPts val="919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920.3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919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929.4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918.7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9110" y="485648"/>
            <a:ext cx="26974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spc="1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CORPORATION </a:t>
            </a:r>
            <a:r>
              <a:rPr sz="800" b="1" spc="-35" dirty="0">
                <a:latin typeface="Tahoma"/>
                <a:cs typeface="Tahoma"/>
              </a:rPr>
              <a:t>CONDENSED</a:t>
            </a:r>
            <a:r>
              <a:rPr sz="800" b="1" spc="10" dirty="0">
                <a:latin typeface="Tahoma"/>
                <a:cs typeface="Tahoma"/>
              </a:rPr>
              <a:t> </a:t>
            </a:r>
            <a:r>
              <a:rPr sz="800" b="1" spc="-40" dirty="0">
                <a:latin typeface="Tahoma"/>
                <a:cs typeface="Tahoma"/>
              </a:rPr>
              <a:t>CONSOLIDATED</a:t>
            </a:r>
            <a:r>
              <a:rPr sz="800" b="1" spc="1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BALANCE</a:t>
            </a:r>
            <a:r>
              <a:rPr sz="800" b="1" spc="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SHEET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800" b="1" spc="-10" dirty="0">
                <a:latin typeface="Tahoma"/>
                <a:cs typeface="Tahoma"/>
              </a:rPr>
              <a:t>(Unaudited)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1012" y="1161034"/>
            <a:ext cx="9436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40" dirty="0">
                <a:latin typeface="Tahoma"/>
                <a:cs typeface="Tahoma"/>
              </a:rPr>
              <a:t>(Dollars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in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Millions)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77409" y="1045210"/>
            <a:ext cx="572135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930"/>
              </a:lnSpc>
              <a:spcBef>
                <a:spcPts val="100"/>
              </a:spcBef>
            </a:pPr>
            <a:r>
              <a:rPr sz="800" b="1" spc="-20" dirty="0">
                <a:latin typeface="Tahoma"/>
                <a:cs typeface="Tahoma"/>
              </a:rPr>
              <a:t>At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June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ts val="930"/>
              </a:lnSpc>
            </a:pPr>
            <a:r>
              <a:rPr sz="800" b="1" spc="-20" dirty="0">
                <a:latin typeface="Tahoma"/>
                <a:cs typeface="Tahoma"/>
              </a:rPr>
              <a:t>2025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0665" y="1045210"/>
            <a:ext cx="824865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930"/>
              </a:lnSpc>
              <a:spcBef>
                <a:spcPts val="100"/>
              </a:spcBef>
            </a:pPr>
            <a:r>
              <a:rPr sz="800" b="1" spc="-20" dirty="0">
                <a:latin typeface="Tahoma"/>
                <a:cs typeface="Tahoma"/>
              </a:rPr>
              <a:t>At</a:t>
            </a:r>
            <a:r>
              <a:rPr sz="800" b="1" spc="-35" dirty="0">
                <a:latin typeface="Tahoma"/>
                <a:cs typeface="Tahoma"/>
              </a:rPr>
              <a:t> December</a:t>
            </a:r>
            <a:r>
              <a:rPr sz="800" b="1" spc="-25" dirty="0">
                <a:latin typeface="Tahoma"/>
                <a:cs typeface="Tahoma"/>
              </a:rPr>
              <a:t> 31,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ts val="930"/>
              </a:lnSpc>
            </a:pPr>
            <a:r>
              <a:rPr sz="800" b="1" spc="-20" dirty="0">
                <a:latin typeface="Tahoma"/>
                <a:cs typeface="Tahoma"/>
              </a:rPr>
              <a:t>2024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0183" y="1335278"/>
          <a:ext cx="6395720" cy="7880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58945"/>
                <a:gridCol w="989329"/>
                <a:gridCol w="50164"/>
                <a:gridCol w="1020444"/>
              </a:tblGrid>
              <a:tr h="45974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ASSETS:</a:t>
                      </a:r>
                      <a:endParaRPr sz="800">
                        <a:latin typeface="Tahoma"/>
                        <a:cs typeface="Tahoma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Current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Assets:</a:t>
                      </a:r>
                      <a:endParaRPr sz="800">
                        <a:latin typeface="Tahoma"/>
                        <a:cs typeface="Tahoma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Cash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cash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equivalents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61404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11,943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66675" algn="r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58166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13,947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Restricted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cash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214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Marketable</a:t>
                      </a:r>
                      <a:r>
                        <a:rPr sz="8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securities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3,504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644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4572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Notes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accounts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receivable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-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trade,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  <a:p>
                      <a:pPr marL="82550" marR="2726690" indent="-49530">
                        <a:lnSpc>
                          <a:spcPct val="125000"/>
                        </a:lnSpc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Short-term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financing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receivables Held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for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investment,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5,974</a:t>
                      </a:r>
                      <a:endParaRPr sz="8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5,586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50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6,804</a:t>
                      </a:r>
                      <a:endParaRPr sz="800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75005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6,259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Held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for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sale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746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900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accounts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receivable,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1,187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947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Inventories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1,251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1,289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Deferred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costs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1,182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959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Prepaid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expenses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and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other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current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assets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67500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2,796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67500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2,520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714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Current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Assets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34,253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34,482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700" marB="0"/>
                </a:tc>
              </a:tr>
              <a:tr h="1714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Property,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plant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equipment,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5,943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5,731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Operating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right-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of-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use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assets,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3,315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3,197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65" dirty="0">
                          <a:latin typeface="Verdana"/>
                          <a:cs typeface="Verdana"/>
                        </a:rPr>
                        <a:t>Long-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term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financing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receivables,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6,171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5,353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Prepaid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pension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assets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7,983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7,492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Deferred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costs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795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788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Deferred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taxes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8,475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6,978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Goodwill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67,506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60,706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Intangibles,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12,253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10,660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Investments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sundry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assets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67500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1,891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67500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1,787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7526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Assets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48005" algn="l"/>
                        </a:tabLst>
                      </a:pPr>
                      <a:r>
                        <a:rPr sz="800" b="1" u="sng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148,585</a:t>
                      </a:r>
                      <a:r>
                        <a:rPr sz="800" b="1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48005" algn="l"/>
                        </a:tabLst>
                      </a:pPr>
                      <a:r>
                        <a:rPr sz="800" b="1" u="sng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u="sng" spc="-6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137,175</a:t>
                      </a:r>
                      <a:r>
                        <a:rPr sz="800" b="1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LIABILITIES:</a:t>
                      </a:r>
                      <a:endParaRPr sz="800">
                        <a:latin typeface="Tahoma"/>
                        <a:cs typeface="Tahoma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Current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Liabilities:</a:t>
                      </a:r>
                      <a:endParaRPr sz="800">
                        <a:latin typeface="Tahoma"/>
                        <a:cs typeface="Tahoma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Taxes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93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tabLst>
                          <a:tab pos="67500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1,681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66675" algn="r">
                        <a:lnSpc>
                          <a:spcPct val="100000"/>
                        </a:lnSpc>
                        <a:tabLst>
                          <a:tab pos="6426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2,033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Short-term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debt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8,945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5,089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Accounts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payable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3,974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4,032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Compensation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benefits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3,353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3,605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Deferred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income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15,022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13,907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Operating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lease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liabilities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820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768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liabilities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67500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3,932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67500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3,709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714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Current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Liabilities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37,726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33,142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700" marB="0"/>
                </a:tc>
              </a:tr>
              <a:tr h="1714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00" spc="-65" dirty="0">
                          <a:latin typeface="Verdana"/>
                          <a:cs typeface="Verdana"/>
                        </a:rPr>
                        <a:t>Long-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term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debt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55,219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49,884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Retirement-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related</a:t>
                      </a:r>
                      <a:r>
                        <a:rPr sz="80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obligations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9,882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9,432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Deferred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income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3,913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3,622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Operating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lease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liabilities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2,735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2,655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liabilities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61404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11,522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61404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11,048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714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Liabilities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120,998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109,783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700" marB="0"/>
                </a:tc>
              </a:tr>
              <a:tr h="4762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EQUITY:</a:t>
                      </a:r>
                      <a:endParaRPr sz="800">
                        <a:latin typeface="Tahoma"/>
                        <a:cs typeface="Tahoma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IBM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Stockholders’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Equity:</a:t>
                      </a:r>
                      <a:endParaRPr sz="800">
                        <a:latin typeface="Tahoma"/>
                        <a:cs typeface="Tahoma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800" spc="-70" dirty="0">
                          <a:latin typeface="Verdana"/>
                          <a:cs typeface="Verdana"/>
                        </a:rPr>
                        <a:t>Common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stock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62,392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66675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61,380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Retained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earnings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151,367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151,163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176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Treasury</a:t>
                      </a:r>
                      <a:r>
                        <a:rPr sz="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stock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-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at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cost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(170,209)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(169,968)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Accumulated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comprehensive</a:t>
                      </a:r>
                      <a:r>
                        <a:rPr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income/(loss)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6642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(16,041)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6642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6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(15,269)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42240"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0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0" dirty="0">
                          <a:latin typeface="Tahoma"/>
                          <a:cs typeface="Tahoma"/>
                        </a:rPr>
                        <a:t>IBM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Stockholders’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Equity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10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27,509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040" algn="r">
                        <a:lnSpc>
                          <a:spcPts val="919"/>
                        </a:lnSpc>
                        <a:spcBef>
                          <a:spcPts val="10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27,307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700" marB="0"/>
                </a:tc>
              </a:tr>
              <a:tr h="20002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Noncontrolling</a:t>
                      </a:r>
                      <a:r>
                        <a:rPr sz="800" spc="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interests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0325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824230" algn="l"/>
                          <a:tab pos="186372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79 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86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03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145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Equity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70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608965" algn="l"/>
                          <a:tab pos="1649095" algn="l"/>
                        </a:tabLst>
                      </a:pP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27,588 </a:t>
                      </a:r>
                      <a:r>
                        <a:rPr sz="800" b="1" spc="1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27,393</a:t>
                      </a:r>
                      <a:r>
                        <a:rPr sz="800" b="1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7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0193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Liabilities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Equity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  <a:tabLst>
                          <a:tab pos="548005" algn="l"/>
                          <a:tab pos="1588135" algn="l"/>
                        </a:tabLst>
                      </a:pPr>
                      <a:r>
                        <a:rPr sz="800" b="1" u="sng" spc="8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148,585</a:t>
                      </a:r>
                      <a:r>
                        <a:rPr sz="800" b="1" u="sng" spc="15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 </a:t>
                      </a:r>
                      <a:r>
                        <a:rPr sz="800" b="1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137,175</a:t>
                      </a:r>
                      <a:r>
                        <a:rPr sz="800" b="1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 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959985" y="9206179"/>
            <a:ext cx="2038350" cy="12700"/>
          </a:xfrm>
          <a:custGeom>
            <a:avLst/>
            <a:gdLst/>
            <a:ahLst/>
            <a:cxnLst/>
            <a:rect l="l" t="t" r="r" b="b"/>
            <a:pathLst>
              <a:path w="2038350" h="12700">
                <a:moveTo>
                  <a:pt x="998524" y="0"/>
                </a:moveTo>
                <a:lnTo>
                  <a:pt x="0" y="0"/>
                </a:lnTo>
                <a:lnTo>
                  <a:pt x="0" y="12192"/>
                </a:lnTo>
                <a:lnTo>
                  <a:pt x="998524" y="12192"/>
                </a:lnTo>
                <a:lnTo>
                  <a:pt x="998524" y="0"/>
                </a:lnTo>
                <a:close/>
              </a:path>
              <a:path w="2038350" h="12700">
                <a:moveTo>
                  <a:pt x="2037969" y="0"/>
                </a:moveTo>
                <a:lnTo>
                  <a:pt x="1039749" y="0"/>
                </a:lnTo>
                <a:lnTo>
                  <a:pt x="1039749" y="12192"/>
                </a:lnTo>
                <a:lnTo>
                  <a:pt x="2037969" y="12192"/>
                </a:lnTo>
                <a:lnTo>
                  <a:pt x="20379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9110" y="531368"/>
            <a:ext cx="26981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CORPORATION </a:t>
            </a:r>
            <a:r>
              <a:rPr sz="800" b="1" spc="-20" dirty="0">
                <a:latin typeface="Tahoma"/>
                <a:cs typeface="Tahoma"/>
              </a:rPr>
              <a:t>CASH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FLOW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800" b="1" spc="-10" dirty="0">
                <a:latin typeface="Tahoma"/>
                <a:cs typeface="Tahoma"/>
              </a:rPr>
              <a:t>(Unaudited)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95115" y="1097025"/>
            <a:ext cx="1004569" cy="2641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94640" marR="5080" indent="-282575">
              <a:lnSpc>
                <a:spcPts val="910"/>
              </a:lnSpc>
              <a:spcBef>
                <a:spcPts val="175"/>
              </a:spcBef>
            </a:pPr>
            <a:r>
              <a:rPr sz="800" b="1" spc="-35" dirty="0">
                <a:latin typeface="Tahoma"/>
                <a:cs typeface="Tahoma"/>
              </a:rPr>
              <a:t>Three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20" dirty="0">
                <a:latin typeface="Tahoma"/>
                <a:cs typeface="Tahoma"/>
              </a:rPr>
              <a:t>June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96153" y="1097025"/>
            <a:ext cx="878205" cy="2641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32410" marR="5080" indent="-220345">
              <a:lnSpc>
                <a:spcPts val="910"/>
              </a:lnSpc>
              <a:spcBef>
                <a:spcPts val="175"/>
              </a:spcBef>
            </a:pPr>
            <a:r>
              <a:rPr sz="800" b="1" spc="-25" dirty="0">
                <a:latin typeface="Tahoma"/>
                <a:cs typeface="Tahoma"/>
              </a:rPr>
              <a:t>Six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20" dirty="0">
                <a:latin typeface="Tahoma"/>
                <a:cs typeface="Tahoma"/>
              </a:rPr>
              <a:t>June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3712" y="5432425"/>
            <a:ext cx="1533525" cy="12700"/>
          </a:xfrm>
          <a:custGeom>
            <a:avLst/>
            <a:gdLst/>
            <a:ahLst/>
            <a:cxnLst/>
            <a:rect l="l" t="t" r="r" b="b"/>
            <a:pathLst>
              <a:path w="1533525" h="12700">
                <a:moveTo>
                  <a:pt x="1533398" y="0"/>
                </a:moveTo>
                <a:lnTo>
                  <a:pt x="0" y="0"/>
                </a:lnTo>
                <a:lnTo>
                  <a:pt x="0" y="12191"/>
                </a:lnTo>
                <a:lnTo>
                  <a:pt x="1533398" y="12191"/>
                </a:lnTo>
                <a:lnTo>
                  <a:pt x="1533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43712" y="1390142"/>
          <a:ext cx="6363970" cy="41770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7525"/>
                <a:gridCol w="807720"/>
                <a:gridCol w="819150"/>
                <a:gridCol w="819785"/>
                <a:gridCol w="783589"/>
              </a:tblGrid>
              <a:tr h="1809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8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352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Operations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41910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2,194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41846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1,834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464184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3,249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41846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3,439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Depreciation/Amortization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Intangibles</a:t>
                      </a:r>
                      <a:r>
                        <a:rPr sz="800" spc="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(1)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1,265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1,155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2,442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2,287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</a:tr>
              <a:tr h="18097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Stock-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based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Compensation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441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316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842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636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8097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Operating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assets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liabilities/Other,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(717)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(293)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(1,067)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(1,079)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8034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30" dirty="0">
                          <a:latin typeface="Verdana"/>
                          <a:cs typeface="Verdana"/>
                        </a:rPr>
                        <a:t>IBM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Financing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A/R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(1,480)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(946)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606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951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2711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Cash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Provided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by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Operating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Activities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41910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1,701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41846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2,066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464184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6,071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41846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6,234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6669" marB="0"/>
                </a:tc>
              </a:tr>
              <a:tr h="271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Capital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Expenditures,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payments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proceeds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5016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(336)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5143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(399)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5016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(657)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524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(761)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</a:tr>
              <a:tr h="18034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Divestitures,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cash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transferred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6985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-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-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(1)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703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8034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Acquisitions,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cash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acquired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(747)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(153)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(7,845)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(235)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</a:tr>
              <a:tr h="18097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Marketable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Securities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/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Investments,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2,781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2,791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(2,778)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(1,679)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2711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Provided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0" dirty="0">
                          <a:latin typeface="Tahoma"/>
                          <a:cs typeface="Tahoma"/>
                        </a:rPr>
                        <a:t>by/(Used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60" dirty="0">
                          <a:latin typeface="Tahoma"/>
                          <a:cs typeface="Tahoma"/>
                        </a:rPr>
                        <a:t>in)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Investing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Activities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1910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1,698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1846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2,239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36766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(11,281)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37274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(1,971)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</a:tr>
              <a:tr h="2711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Debt,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payments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proceeds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50165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(1,301)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50800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(2,900)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71120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5,791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6195" algn="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481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</a:tr>
              <a:tr h="18097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Dividends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(1,563)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(1,537)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(3,112)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(3,058)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7780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Financing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-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Other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(78)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(90)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(61)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26543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Provided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0" dirty="0">
                          <a:latin typeface="Tahoma"/>
                          <a:cs typeface="Tahoma"/>
                        </a:rPr>
                        <a:t>by/(Used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60" dirty="0">
                          <a:latin typeface="Tahoma"/>
                          <a:cs typeface="Tahoma"/>
                        </a:rPr>
                        <a:t>in)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Financing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Activities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37338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(2,855)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37274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(4,515)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464184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2,589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37274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(2,638)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4130" marB="0"/>
                </a:tc>
              </a:tr>
              <a:tr h="26860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800" spc="-35" dirty="0">
                          <a:latin typeface="Verdana"/>
                          <a:cs typeface="Verdana"/>
                        </a:rPr>
                        <a:t>Effect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Exchange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Rate changes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on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Cash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4935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320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4935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(76)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4935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487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4935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(236)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4935" marB="0"/>
                </a:tc>
              </a:tr>
              <a:tr h="4502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Change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Cash,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Equivalents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Restricted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Cash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11809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865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64184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(287)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29259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(2,134)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1846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1,389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</a:tr>
              <a:tr h="134620"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  <a:spcBef>
                          <a:spcPts val="40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(1)</a:t>
                      </a:r>
                      <a:r>
                        <a:rPr sz="800" spc="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Includes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operating</a:t>
                      </a:r>
                      <a:r>
                        <a:rPr sz="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lease</a:t>
                      </a:r>
                      <a:r>
                        <a:rPr sz="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right-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of-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use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assets</a:t>
                      </a:r>
                      <a:r>
                        <a:rPr sz="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amortization.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16810" y="531368"/>
            <a:ext cx="29400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CORPORATION GAAP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NET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40" dirty="0">
                <a:latin typeface="Tahoma"/>
                <a:cs typeface="Tahoma"/>
              </a:rPr>
              <a:t>INCOME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40" dirty="0">
                <a:latin typeface="Tahoma"/>
                <a:cs typeface="Tahoma"/>
              </a:rPr>
              <a:t>TO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ADJUSTED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EBITDA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RECONCILIATION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800" b="1" spc="-10" dirty="0">
                <a:latin typeface="Tahoma"/>
                <a:cs typeface="Tahoma"/>
              </a:rPr>
              <a:t>(Unaudited)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43712" y="1107173"/>
          <a:ext cx="6363970" cy="3642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7235"/>
                <a:gridCol w="508000"/>
                <a:gridCol w="496570"/>
                <a:gridCol w="473710"/>
                <a:gridCol w="67310"/>
                <a:gridCol w="506729"/>
                <a:gridCol w="495935"/>
                <a:gridCol w="465454"/>
              </a:tblGrid>
              <a:tr h="246379">
                <a:tc gridSpan="4">
                  <a:txBody>
                    <a:bodyPr/>
                    <a:lstStyle/>
                    <a:p>
                      <a:pPr marL="3809365" marR="241300" indent="-283845">
                        <a:lnSpc>
                          <a:spcPts val="790"/>
                        </a:lnSpc>
                        <a:spcBef>
                          <a:spcPts val="190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Three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Months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Ended June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30,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591185" marR="300355" indent="-219710">
                        <a:lnSpc>
                          <a:spcPts val="790"/>
                        </a:lnSpc>
                        <a:spcBef>
                          <a:spcPts val="190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Six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Months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Ended June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30,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413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970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Billions)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Yr/Yr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Yr/Yr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as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reported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(GAAP)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2647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2.2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2647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1.8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2774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0.4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29718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3.2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2647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3.4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19939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(0.2)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65" dirty="0">
                          <a:latin typeface="Verdana"/>
                          <a:cs typeface="Verdana"/>
                        </a:rPr>
                        <a:t>Less: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Income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discontinued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operations,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tax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3335" algn="r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26987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26924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26860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30162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3335" algn="r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26924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23749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</a:tr>
              <a:tr h="1809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809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for/(Benefit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income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taxes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ops.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33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6987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0.4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6924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0.4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8067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30162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0.5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2225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(0.1)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49554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0.6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8034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Pre-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tax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continuing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operations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(GAAP)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2.6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2.2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0.4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3.8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3.3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0.5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</a:tr>
              <a:tr h="18034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Non-operating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adjustments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(before</a:t>
                      </a:r>
                      <a:r>
                        <a:rPr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tax)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97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Acquisition-related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charges</a:t>
                      </a:r>
                      <a:r>
                        <a:rPr sz="8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(1)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2711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Non-operating</a:t>
                      </a:r>
                      <a:r>
                        <a:rPr sz="800" spc="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retirement-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related</a:t>
                      </a:r>
                      <a:r>
                        <a:rPr sz="800" spc="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costs/(income)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33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6987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6924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0.1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3495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(0.1)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30162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33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6924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0.2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0383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(0.1)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361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Operating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5" dirty="0">
                          <a:latin typeface="Tahoma"/>
                          <a:cs typeface="Tahoma"/>
                        </a:rPr>
                        <a:t>(non-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GAAP)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pre-tax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800" b="1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continuing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ops.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6990" algn="r">
                        <a:lnSpc>
                          <a:spcPct val="100000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3.2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7625" algn="r">
                        <a:lnSpc>
                          <a:spcPct val="100000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2.8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3020" algn="r">
                        <a:lnSpc>
                          <a:spcPct val="100000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0.4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97180">
                        <a:lnSpc>
                          <a:spcPct val="100000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4.9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7625" algn="r">
                        <a:lnSpc>
                          <a:spcPct val="100000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4.4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ct val="100000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0.5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" marB="0"/>
                </a:tc>
              </a:tr>
              <a:tr h="271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Net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interest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699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762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016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699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619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" marB="0"/>
                </a:tc>
              </a:tr>
              <a:tr h="18034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Depreciation/Amortization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non-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acquired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intangible</a:t>
                      </a:r>
                      <a:r>
                        <a:rPr sz="8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assets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826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8034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Stock-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based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compensation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</a:tr>
              <a:tr h="18097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Workforce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rebalancing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charges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2711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Corporate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(gains)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and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charges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(2)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33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6987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55904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8067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301625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2225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4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(0.2)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49554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0.3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2463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ts val="919"/>
                        </a:lnSpc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Adjusted</a:t>
                      </a:r>
                      <a:r>
                        <a:rPr sz="800" b="1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EBITDA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6990" algn="r">
                        <a:lnSpc>
                          <a:spcPts val="919"/>
                        </a:lnSpc>
                        <a:tabLst>
                          <a:tab pos="2647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4.7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7625" algn="r">
                        <a:lnSpc>
                          <a:spcPts val="919"/>
                        </a:lnSpc>
                        <a:tabLst>
                          <a:tab pos="2647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4.0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1590">
                        <a:lnSpc>
                          <a:spcPts val="919"/>
                        </a:lnSpc>
                        <a:tabLst>
                          <a:tab pos="2774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0.6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919"/>
                        </a:lnSpc>
                        <a:tabLst>
                          <a:tab pos="29718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8.1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7625" algn="r">
                        <a:lnSpc>
                          <a:spcPts val="919"/>
                        </a:lnSpc>
                        <a:tabLst>
                          <a:tab pos="2647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7.1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919"/>
                        </a:lnSpc>
                        <a:tabLst>
                          <a:tab pos="246379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1.0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34568" y="4900294"/>
            <a:ext cx="1266825" cy="12700"/>
          </a:xfrm>
          <a:custGeom>
            <a:avLst/>
            <a:gdLst/>
            <a:ahLst/>
            <a:cxnLst/>
            <a:rect l="l" t="t" r="r" b="b"/>
            <a:pathLst>
              <a:path w="1266825" h="12700">
                <a:moveTo>
                  <a:pt x="1266748" y="0"/>
                </a:moveTo>
                <a:lnTo>
                  <a:pt x="0" y="0"/>
                </a:lnTo>
                <a:lnTo>
                  <a:pt x="0" y="12192"/>
                </a:lnTo>
                <a:lnTo>
                  <a:pt x="1266748" y="12192"/>
                </a:lnTo>
                <a:lnTo>
                  <a:pt x="1266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1012" y="4880584"/>
            <a:ext cx="5003165" cy="3302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64465" indent="-158750">
              <a:lnSpc>
                <a:spcPct val="100000"/>
              </a:lnSpc>
              <a:spcBef>
                <a:spcPts val="340"/>
              </a:spcBef>
              <a:buSzPct val="93750"/>
              <a:buAutoNum type="arabicParenBoth"/>
              <a:tabLst>
                <a:tab pos="164465" algn="l"/>
              </a:tabLst>
            </a:pPr>
            <a:r>
              <a:rPr sz="800" spc="-50" dirty="0">
                <a:latin typeface="Verdana"/>
                <a:cs typeface="Verdana"/>
              </a:rPr>
              <a:t>Primarily </a:t>
            </a:r>
            <a:r>
              <a:rPr sz="800" spc="-40" dirty="0">
                <a:latin typeface="Verdana"/>
                <a:cs typeface="Verdana"/>
              </a:rPr>
              <a:t>consists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amortization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acquired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intangible </a:t>
            </a:r>
            <a:r>
              <a:rPr sz="800" spc="-10" dirty="0">
                <a:latin typeface="Verdana"/>
                <a:cs typeface="Verdana"/>
              </a:rPr>
              <a:t>assets.</a:t>
            </a:r>
            <a:endParaRPr sz="800">
              <a:latin typeface="Verdana"/>
              <a:cs typeface="Verdana"/>
            </a:endParaRPr>
          </a:p>
          <a:p>
            <a:pPr marL="164465" indent="-158750">
              <a:lnSpc>
                <a:spcPct val="100000"/>
              </a:lnSpc>
              <a:spcBef>
                <a:spcPts val="240"/>
              </a:spcBef>
              <a:buSzPct val="93750"/>
              <a:buAutoNum type="arabicParenBoth"/>
              <a:tabLst>
                <a:tab pos="164465" algn="l"/>
              </a:tabLst>
            </a:pPr>
            <a:r>
              <a:rPr sz="800" spc="-55" dirty="0">
                <a:latin typeface="Verdana"/>
                <a:cs typeface="Verdana"/>
              </a:rPr>
              <a:t>Corporate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70" dirty="0">
                <a:latin typeface="Verdana"/>
                <a:cs typeface="Verdana"/>
              </a:rPr>
              <a:t>(gains) </a:t>
            </a:r>
            <a:r>
              <a:rPr sz="800" spc="-55" dirty="0">
                <a:latin typeface="Verdana"/>
                <a:cs typeface="Verdana"/>
              </a:rPr>
              <a:t>and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charges </a:t>
            </a:r>
            <a:r>
              <a:rPr sz="800" spc="-50" dirty="0">
                <a:latin typeface="Verdana"/>
                <a:cs typeface="Verdana"/>
              </a:rPr>
              <a:t>primarily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consists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unique </a:t>
            </a:r>
            <a:r>
              <a:rPr sz="800" spc="-50" dirty="0">
                <a:latin typeface="Verdana"/>
                <a:cs typeface="Verdana"/>
              </a:rPr>
              <a:t>corporate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actions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such</a:t>
            </a:r>
            <a:r>
              <a:rPr sz="800" spc="-50" dirty="0">
                <a:latin typeface="Verdana"/>
                <a:cs typeface="Verdana"/>
              </a:rPr>
              <a:t> as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gains </a:t>
            </a:r>
            <a:r>
              <a:rPr sz="800" spc="-60" dirty="0">
                <a:latin typeface="Verdana"/>
                <a:cs typeface="Verdana"/>
              </a:rPr>
              <a:t>on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divestitures.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9110" y="531368"/>
            <a:ext cx="26974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CORPORATION SEGMENT</a:t>
            </a:r>
            <a:r>
              <a:rPr sz="800" b="1" spc="-20" dirty="0">
                <a:latin typeface="Tahoma"/>
                <a:cs typeface="Tahoma"/>
              </a:rPr>
              <a:t> DATA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800" b="1" spc="-10" dirty="0">
                <a:latin typeface="Tahoma"/>
                <a:cs typeface="Tahoma"/>
              </a:rPr>
              <a:t>(Unaudited)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04259" y="1365249"/>
            <a:ext cx="1707514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Three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20" dirty="0">
                <a:latin typeface="Tahoma"/>
                <a:cs typeface="Tahoma"/>
              </a:rPr>
              <a:t>June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2025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30347" y="1534921"/>
            <a:ext cx="3858260" cy="9525"/>
          </a:xfrm>
          <a:custGeom>
            <a:avLst/>
            <a:gdLst/>
            <a:ahLst/>
            <a:cxnLst/>
            <a:rect l="l" t="t" r="r" b="b"/>
            <a:pathLst>
              <a:path w="3858259" h="9525">
                <a:moveTo>
                  <a:pt x="1010399" y="0"/>
                </a:moveTo>
                <a:lnTo>
                  <a:pt x="1010399" y="0"/>
                </a:lnTo>
                <a:lnTo>
                  <a:pt x="0" y="0"/>
                </a:lnTo>
                <a:lnTo>
                  <a:pt x="0" y="9144"/>
                </a:lnTo>
                <a:lnTo>
                  <a:pt x="1010399" y="9144"/>
                </a:lnTo>
                <a:lnTo>
                  <a:pt x="1010399" y="0"/>
                </a:lnTo>
                <a:close/>
              </a:path>
              <a:path w="3858259" h="9525">
                <a:moveTo>
                  <a:pt x="2848914" y="0"/>
                </a:moveTo>
                <a:lnTo>
                  <a:pt x="2848914" y="0"/>
                </a:lnTo>
                <a:lnTo>
                  <a:pt x="1010412" y="0"/>
                </a:lnTo>
                <a:lnTo>
                  <a:pt x="1010412" y="9144"/>
                </a:lnTo>
                <a:lnTo>
                  <a:pt x="2848914" y="9144"/>
                </a:lnTo>
                <a:lnTo>
                  <a:pt x="2848914" y="0"/>
                </a:lnTo>
                <a:close/>
              </a:path>
              <a:path w="3858259" h="9525">
                <a:moveTo>
                  <a:pt x="3030334" y="0"/>
                </a:moveTo>
                <a:lnTo>
                  <a:pt x="3001391" y="0"/>
                </a:lnTo>
                <a:lnTo>
                  <a:pt x="2992247" y="0"/>
                </a:lnTo>
                <a:lnTo>
                  <a:pt x="2858135" y="0"/>
                </a:lnTo>
                <a:lnTo>
                  <a:pt x="2848991" y="0"/>
                </a:lnTo>
                <a:lnTo>
                  <a:pt x="2848991" y="9144"/>
                </a:lnTo>
                <a:lnTo>
                  <a:pt x="2858135" y="9144"/>
                </a:lnTo>
                <a:lnTo>
                  <a:pt x="2992247" y="9144"/>
                </a:lnTo>
                <a:lnTo>
                  <a:pt x="3001391" y="9144"/>
                </a:lnTo>
                <a:lnTo>
                  <a:pt x="3030334" y="9144"/>
                </a:lnTo>
                <a:lnTo>
                  <a:pt x="3030334" y="0"/>
                </a:lnTo>
                <a:close/>
              </a:path>
              <a:path w="3858259" h="9525">
                <a:moveTo>
                  <a:pt x="3857879" y="0"/>
                </a:moveTo>
                <a:lnTo>
                  <a:pt x="3039491" y="0"/>
                </a:lnTo>
                <a:lnTo>
                  <a:pt x="3030347" y="0"/>
                </a:lnTo>
                <a:lnTo>
                  <a:pt x="3030347" y="9144"/>
                </a:lnTo>
                <a:lnTo>
                  <a:pt x="3039491" y="9144"/>
                </a:lnTo>
                <a:lnTo>
                  <a:pt x="3857879" y="9144"/>
                </a:lnTo>
                <a:lnTo>
                  <a:pt x="3857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4540" y="1697482"/>
            <a:ext cx="9436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40" dirty="0">
                <a:latin typeface="Tahoma"/>
                <a:cs typeface="Tahoma"/>
              </a:rPr>
              <a:t>(Dollars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in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Millions)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12719" y="1697482"/>
            <a:ext cx="464184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latin typeface="Tahoma"/>
                <a:cs typeface="Tahoma"/>
              </a:rPr>
              <a:t>Software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85284" y="1697482"/>
            <a:ext cx="5372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30" dirty="0">
                <a:latin typeface="Tahoma"/>
                <a:cs typeface="Tahoma"/>
              </a:rPr>
              <a:t>Consulting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10353" y="1697482"/>
            <a:ext cx="7073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30" dirty="0">
                <a:latin typeface="Tahoma"/>
                <a:cs typeface="Tahoma"/>
              </a:rPr>
              <a:t>Infrastructure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27826" y="1697482"/>
            <a:ext cx="49339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latin typeface="Tahoma"/>
                <a:cs typeface="Tahoma"/>
              </a:rPr>
              <a:t>Financing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43712" y="1870201"/>
          <a:ext cx="6381115" cy="817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2970"/>
                <a:gridCol w="942340"/>
                <a:gridCol w="180975"/>
                <a:gridCol w="827405"/>
                <a:gridCol w="180975"/>
                <a:gridCol w="829310"/>
                <a:gridCol w="181610"/>
                <a:gridCol w="827404"/>
                <a:gridCol w="160020"/>
              </a:tblGrid>
              <a:tr h="1581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7,387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5,314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4,142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569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166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1130"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Segment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Profit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70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2,296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70"/>
                        </a:spcBef>
                        <a:tabLst>
                          <a:tab pos="569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562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170"/>
                        </a:spcBef>
                        <a:tabLst>
                          <a:tab pos="569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965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919"/>
                        </a:lnSpc>
                        <a:spcBef>
                          <a:spcPts val="170"/>
                        </a:spcBef>
                        <a:tabLst>
                          <a:tab pos="569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179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0193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Segment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Profit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Margin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31.1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10.6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23.3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937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9370" marB="0"/>
                </a:tc>
                <a:tc gridSpan="2"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107.9</a:t>
                      </a:r>
                      <a:r>
                        <a:rPr sz="800" spc="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93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494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Change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YTY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13.6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  <a:tc gridSpan="2">
                  <a:txBody>
                    <a:bodyPr/>
                    <a:lstStyle/>
                    <a:p>
                      <a:pPr marL="6000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(1.7)</a:t>
                      </a:r>
                      <a:r>
                        <a:rPr sz="8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1130"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Change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YTY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Revenue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Constant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Currency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11.5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gridSpan="2">
                  <a:txBody>
                    <a:bodyPr/>
                    <a:lstStyle/>
                    <a:p>
                      <a:pPr marL="600075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(3.3)</a:t>
                      </a:r>
                      <a:r>
                        <a:rPr sz="8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6060694" y="2376170"/>
            <a:ext cx="828040" cy="12700"/>
          </a:xfrm>
          <a:custGeom>
            <a:avLst/>
            <a:gdLst/>
            <a:ahLst/>
            <a:cxnLst/>
            <a:rect l="l" t="t" r="r" b="b"/>
            <a:pathLst>
              <a:path w="828040" h="12700">
                <a:moveTo>
                  <a:pt x="827531" y="0"/>
                </a:moveTo>
                <a:lnTo>
                  <a:pt x="0" y="0"/>
                </a:lnTo>
                <a:lnTo>
                  <a:pt x="0" y="12191"/>
                </a:lnTo>
                <a:lnTo>
                  <a:pt x="827531" y="12191"/>
                </a:lnTo>
                <a:lnTo>
                  <a:pt x="8275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104259" y="2960877"/>
            <a:ext cx="1707514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Three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20" dirty="0">
                <a:latin typeface="Tahoma"/>
                <a:cs typeface="Tahoma"/>
              </a:rPr>
              <a:t>June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2024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30347" y="3129025"/>
            <a:ext cx="3858260" cy="9525"/>
          </a:xfrm>
          <a:custGeom>
            <a:avLst/>
            <a:gdLst/>
            <a:ahLst/>
            <a:cxnLst/>
            <a:rect l="l" t="t" r="r" b="b"/>
            <a:pathLst>
              <a:path w="3858259" h="9525">
                <a:moveTo>
                  <a:pt x="1010399" y="0"/>
                </a:moveTo>
                <a:lnTo>
                  <a:pt x="1010399" y="0"/>
                </a:lnTo>
                <a:lnTo>
                  <a:pt x="0" y="0"/>
                </a:lnTo>
                <a:lnTo>
                  <a:pt x="0" y="9144"/>
                </a:lnTo>
                <a:lnTo>
                  <a:pt x="1010399" y="9144"/>
                </a:lnTo>
                <a:lnTo>
                  <a:pt x="1010399" y="0"/>
                </a:lnTo>
                <a:close/>
              </a:path>
              <a:path w="3858259" h="9525">
                <a:moveTo>
                  <a:pt x="2848914" y="0"/>
                </a:moveTo>
                <a:lnTo>
                  <a:pt x="2848914" y="0"/>
                </a:lnTo>
                <a:lnTo>
                  <a:pt x="1010412" y="0"/>
                </a:lnTo>
                <a:lnTo>
                  <a:pt x="1010412" y="9144"/>
                </a:lnTo>
                <a:lnTo>
                  <a:pt x="2848914" y="9144"/>
                </a:lnTo>
                <a:lnTo>
                  <a:pt x="2848914" y="0"/>
                </a:lnTo>
                <a:close/>
              </a:path>
              <a:path w="3858259" h="9525">
                <a:moveTo>
                  <a:pt x="3030334" y="0"/>
                </a:moveTo>
                <a:lnTo>
                  <a:pt x="3001391" y="0"/>
                </a:lnTo>
                <a:lnTo>
                  <a:pt x="2992247" y="0"/>
                </a:lnTo>
                <a:lnTo>
                  <a:pt x="2858135" y="0"/>
                </a:lnTo>
                <a:lnTo>
                  <a:pt x="2848991" y="0"/>
                </a:lnTo>
                <a:lnTo>
                  <a:pt x="2848991" y="9144"/>
                </a:lnTo>
                <a:lnTo>
                  <a:pt x="2858135" y="9144"/>
                </a:lnTo>
                <a:lnTo>
                  <a:pt x="2992247" y="9144"/>
                </a:lnTo>
                <a:lnTo>
                  <a:pt x="3001391" y="9144"/>
                </a:lnTo>
                <a:lnTo>
                  <a:pt x="3030334" y="9144"/>
                </a:lnTo>
                <a:lnTo>
                  <a:pt x="3030334" y="0"/>
                </a:lnTo>
                <a:close/>
              </a:path>
              <a:path w="3858259" h="9525">
                <a:moveTo>
                  <a:pt x="3857879" y="0"/>
                </a:moveTo>
                <a:lnTo>
                  <a:pt x="3039491" y="0"/>
                </a:lnTo>
                <a:lnTo>
                  <a:pt x="3030347" y="0"/>
                </a:lnTo>
                <a:lnTo>
                  <a:pt x="3030347" y="9144"/>
                </a:lnTo>
                <a:lnTo>
                  <a:pt x="3039491" y="9144"/>
                </a:lnTo>
                <a:lnTo>
                  <a:pt x="3857879" y="9144"/>
                </a:lnTo>
                <a:lnTo>
                  <a:pt x="3857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64540" y="3293490"/>
            <a:ext cx="9436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40" dirty="0">
                <a:latin typeface="Tahoma"/>
                <a:cs typeface="Tahoma"/>
              </a:rPr>
              <a:t>(Dollars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in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Millions)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24910" y="3293490"/>
            <a:ext cx="464184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latin typeface="Tahoma"/>
                <a:cs typeface="Tahoma"/>
              </a:rPr>
              <a:t>Software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85284" y="3293490"/>
            <a:ext cx="5372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30" dirty="0">
                <a:latin typeface="Tahoma"/>
                <a:cs typeface="Tahoma"/>
              </a:rPr>
              <a:t>Consulting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10353" y="3293490"/>
            <a:ext cx="7073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30" dirty="0">
                <a:latin typeface="Tahoma"/>
                <a:cs typeface="Tahoma"/>
              </a:rPr>
              <a:t>Infrastructure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27826" y="3293490"/>
            <a:ext cx="49339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latin typeface="Tahoma"/>
                <a:cs typeface="Tahoma"/>
              </a:rPr>
              <a:t>Financing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3712" y="3461638"/>
            <a:ext cx="3115945" cy="9525"/>
          </a:xfrm>
          <a:custGeom>
            <a:avLst/>
            <a:gdLst/>
            <a:ahLst/>
            <a:cxnLst/>
            <a:rect l="l" t="t" r="r" b="b"/>
            <a:pathLst>
              <a:path w="3115945" h="9525">
                <a:moveTo>
                  <a:pt x="2248535" y="0"/>
                </a:moveTo>
                <a:lnTo>
                  <a:pt x="0" y="0"/>
                </a:lnTo>
                <a:lnTo>
                  <a:pt x="0" y="9144"/>
                </a:lnTo>
                <a:lnTo>
                  <a:pt x="2248535" y="9144"/>
                </a:lnTo>
                <a:lnTo>
                  <a:pt x="2248535" y="0"/>
                </a:lnTo>
                <a:close/>
              </a:path>
              <a:path w="3115945" h="9525">
                <a:moveTo>
                  <a:pt x="3115691" y="0"/>
                </a:moveTo>
                <a:lnTo>
                  <a:pt x="2286635" y="0"/>
                </a:lnTo>
                <a:lnTo>
                  <a:pt x="2286635" y="9144"/>
                </a:lnTo>
                <a:lnTo>
                  <a:pt x="3115691" y="9144"/>
                </a:lnTo>
                <a:lnTo>
                  <a:pt x="31156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052698" y="3414496"/>
            <a:ext cx="86995" cy="3670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800" spc="-50" dirty="0">
                <a:latin typeface="Verdana"/>
                <a:cs typeface="Verdana"/>
              </a:rPr>
              <a:t>$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800" spc="-50" dirty="0">
                <a:latin typeface="Verdana"/>
                <a:cs typeface="Verdana"/>
              </a:rPr>
              <a:t>$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4540" y="3414496"/>
            <a:ext cx="1096645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6870">
              <a:lnSpc>
                <a:spcPct val="140000"/>
              </a:lnSpc>
              <a:spcBef>
                <a:spcPts val="100"/>
              </a:spcBef>
            </a:pPr>
            <a:r>
              <a:rPr sz="800" b="1" spc="-10" dirty="0">
                <a:latin typeface="Tahoma"/>
                <a:cs typeface="Tahoma"/>
              </a:rPr>
              <a:t>Revenue </a:t>
            </a:r>
            <a:r>
              <a:rPr sz="800" b="1" spc="-45" dirty="0">
                <a:latin typeface="Tahoma"/>
                <a:cs typeface="Tahoma"/>
              </a:rPr>
              <a:t>Segment</a:t>
            </a:r>
            <a:r>
              <a:rPr sz="800" b="1" spc="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Profit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800" b="1" spc="-45" dirty="0">
                <a:latin typeface="Tahoma"/>
                <a:cs typeface="Tahoma"/>
              </a:rPr>
              <a:t>Segment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Profit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Margin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34283" y="3414496"/>
            <a:ext cx="464820" cy="53594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800" spc="-10" dirty="0">
                <a:latin typeface="Verdana"/>
                <a:cs typeface="Verdana"/>
              </a:rPr>
              <a:t>6,739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800" spc="-10" dirty="0">
                <a:latin typeface="Verdana"/>
                <a:cs typeface="Verdana"/>
              </a:rPr>
              <a:t>2,113</a:t>
            </a:r>
            <a:endParaRPr sz="800">
              <a:latin typeface="Verdana"/>
              <a:cs typeface="Verdana"/>
            </a:endParaRPr>
          </a:p>
          <a:p>
            <a:pPr marL="73025">
              <a:lnSpc>
                <a:spcPct val="100000"/>
              </a:lnSpc>
              <a:spcBef>
                <a:spcPts val="375"/>
              </a:spcBef>
            </a:pPr>
            <a:r>
              <a:rPr sz="800" dirty="0">
                <a:latin typeface="Verdana"/>
                <a:cs typeface="Verdana"/>
              </a:rPr>
              <a:t>31.3</a:t>
            </a:r>
            <a:r>
              <a:rPr sz="800" spc="114" dirty="0">
                <a:latin typeface="Verdana"/>
                <a:cs typeface="Verdana"/>
              </a:rPr>
              <a:t> </a:t>
            </a:r>
            <a:r>
              <a:rPr sz="800" spc="-65" dirty="0">
                <a:latin typeface="Verdana"/>
                <a:cs typeface="Verdana"/>
              </a:rPr>
              <a:t>%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040759" y="3461639"/>
            <a:ext cx="828040" cy="9525"/>
          </a:xfrm>
          <a:custGeom>
            <a:avLst/>
            <a:gdLst/>
            <a:ahLst/>
            <a:cxnLst/>
            <a:rect l="l" t="t" r="r" b="b"/>
            <a:pathLst>
              <a:path w="828039" h="9525">
                <a:moveTo>
                  <a:pt x="827836" y="0"/>
                </a:moveTo>
                <a:lnTo>
                  <a:pt x="0" y="0"/>
                </a:lnTo>
                <a:lnTo>
                  <a:pt x="0" y="9144"/>
                </a:lnTo>
                <a:lnTo>
                  <a:pt x="827836" y="9144"/>
                </a:lnTo>
                <a:lnTo>
                  <a:pt x="8278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061586" y="3414496"/>
            <a:ext cx="86995" cy="3670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800" spc="-50" dirty="0">
                <a:latin typeface="Verdana"/>
                <a:cs typeface="Verdana"/>
              </a:rPr>
              <a:t>$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800" spc="-50" dirty="0">
                <a:latin typeface="Verdana"/>
                <a:cs typeface="Verdana"/>
              </a:rPr>
              <a:t>$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43425" y="3414496"/>
            <a:ext cx="466090" cy="53594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R="173990" algn="r">
              <a:lnSpc>
                <a:spcPct val="100000"/>
              </a:lnSpc>
              <a:spcBef>
                <a:spcPts val="480"/>
              </a:spcBef>
            </a:pPr>
            <a:r>
              <a:rPr sz="800" spc="-35" dirty="0">
                <a:latin typeface="Verdana"/>
                <a:cs typeface="Verdana"/>
              </a:rPr>
              <a:t>5,179</a:t>
            </a:r>
            <a:endParaRPr sz="800">
              <a:latin typeface="Verdana"/>
              <a:cs typeface="Verdana"/>
            </a:endParaRPr>
          </a:p>
          <a:p>
            <a:pPr marR="173990" algn="r">
              <a:lnSpc>
                <a:spcPct val="100000"/>
              </a:lnSpc>
              <a:spcBef>
                <a:spcPts val="385"/>
              </a:spcBef>
            </a:pPr>
            <a:r>
              <a:rPr sz="800" spc="-25" dirty="0">
                <a:latin typeface="Verdana"/>
                <a:cs typeface="Verdana"/>
              </a:rPr>
              <a:t>463</a:t>
            </a:r>
            <a:endParaRPr sz="800">
              <a:latin typeface="Verdana"/>
              <a:cs typeface="Verdana"/>
            </a:endParaRPr>
          </a:p>
          <a:p>
            <a:pPr marL="134620">
              <a:lnSpc>
                <a:spcPct val="100000"/>
              </a:lnSpc>
              <a:spcBef>
                <a:spcPts val="375"/>
              </a:spcBef>
            </a:pPr>
            <a:r>
              <a:rPr sz="800" dirty="0">
                <a:latin typeface="Verdana"/>
                <a:cs typeface="Verdana"/>
              </a:rPr>
              <a:t>8.9</a:t>
            </a:r>
            <a:r>
              <a:rPr sz="800" spc="160" dirty="0">
                <a:latin typeface="Verdana"/>
                <a:cs typeface="Verdana"/>
              </a:rPr>
              <a:t> </a:t>
            </a:r>
            <a:r>
              <a:rPr sz="800" spc="-75" dirty="0">
                <a:latin typeface="Verdana"/>
                <a:cs typeface="Verdana"/>
              </a:rPr>
              <a:t>%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049901" y="3461639"/>
            <a:ext cx="829944" cy="9525"/>
          </a:xfrm>
          <a:custGeom>
            <a:avLst/>
            <a:gdLst/>
            <a:ahLst/>
            <a:cxnLst/>
            <a:rect l="l" t="t" r="r" b="b"/>
            <a:pathLst>
              <a:path w="829945" h="9525">
                <a:moveTo>
                  <a:pt x="829360" y="0"/>
                </a:moveTo>
                <a:lnTo>
                  <a:pt x="0" y="0"/>
                </a:lnTo>
                <a:lnTo>
                  <a:pt x="0" y="9144"/>
                </a:lnTo>
                <a:lnTo>
                  <a:pt x="829360" y="9144"/>
                </a:lnTo>
                <a:lnTo>
                  <a:pt x="8293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072253" y="3414496"/>
            <a:ext cx="86995" cy="3670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800" spc="-50" dirty="0">
                <a:latin typeface="Verdana"/>
                <a:cs typeface="Verdana"/>
              </a:rPr>
              <a:t>$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800" spc="-50" dirty="0">
                <a:latin typeface="Verdana"/>
                <a:cs typeface="Verdana"/>
              </a:rPr>
              <a:t>$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53836" y="3414496"/>
            <a:ext cx="465455" cy="53594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R="172720" algn="r">
              <a:lnSpc>
                <a:spcPct val="100000"/>
              </a:lnSpc>
              <a:spcBef>
                <a:spcPts val="480"/>
              </a:spcBef>
            </a:pPr>
            <a:r>
              <a:rPr sz="800" spc="-35" dirty="0">
                <a:latin typeface="Verdana"/>
                <a:cs typeface="Verdana"/>
              </a:rPr>
              <a:t>3,645</a:t>
            </a:r>
            <a:endParaRPr sz="800">
              <a:latin typeface="Verdana"/>
              <a:cs typeface="Verdana"/>
            </a:endParaRPr>
          </a:p>
          <a:p>
            <a:pPr marR="172720" algn="r">
              <a:lnSpc>
                <a:spcPct val="100000"/>
              </a:lnSpc>
              <a:spcBef>
                <a:spcPts val="385"/>
              </a:spcBef>
            </a:pPr>
            <a:r>
              <a:rPr sz="800" spc="-25" dirty="0">
                <a:latin typeface="Verdana"/>
                <a:cs typeface="Verdana"/>
              </a:rPr>
              <a:t>654</a:t>
            </a:r>
            <a:endParaRPr sz="800">
              <a:latin typeface="Verdana"/>
              <a:cs typeface="Verdana"/>
            </a:endParaRPr>
          </a:p>
          <a:p>
            <a:pPr marL="73660">
              <a:lnSpc>
                <a:spcPct val="100000"/>
              </a:lnSpc>
              <a:spcBef>
                <a:spcPts val="375"/>
              </a:spcBef>
            </a:pPr>
            <a:r>
              <a:rPr sz="800" dirty="0">
                <a:latin typeface="Verdana"/>
                <a:cs typeface="Verdana"/>
              </a:rPr>
              <a:t>17.9</a:t>
            </a:r>
            <a:r>
              <a:rPr sz="800" spc="114" dirty="0">
                <a:latin typeface="Verdana"/>
                <a:cs typeface="Verdana"/>
              </a:rPr>
              <a:t> </a:t>
            </a:r>
            <a:r>
              <a:rPr sz="800" spc="-65" dirty="0">
                <a:latin typeface="Verdana"/>
                <a:cs typeface="Verdana"/>
              </a:rPr>
              <a:t>%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060694" y="3461639"/>
            <a:ext cx="828040" cy="9525"/>
          </a:xfrm>
          <a:custGeom>
            <a:avLst/>
            <a:gdLst/>
            <a:ahLst/>
            <a:cxnLst/>
            <a:rect l="l" t="t" r="r" b="b"/>
            <a:pathLst>
              <a:path w="828040" h="9525">
                <a:moveTo>
                  <a:pt x="827531" y="0"/>
                </a:moveTo>
                <a:lnTo>
                  <a:pt x="0" y="0"/>
                </a:lnTo>
                <a:lnTo>
                  <a:pt x="0" y="9144"/>
                </a:lnTo>
                <a:lnTo>
                  <a:pt x="827531" y="9144"/>
                </a:lnTo>
                <a:lnTo>
                  <a:pt x="8275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081521" y="3414496"/>
            <a:ext cx="86995" cy="3670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800" spc="-50" dirty="0">
                <a:latin typeface="Verdana"/>
                <a:cs typeface="Verdana"/>
              </a:rPr>
              <a:t>$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800" spc="-50" dirty="0">
                <a:latin typeface="Verdana"/>
                <a:cs typeface="Verdana"/>
              </a:rPr>
              <a:t>$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24066" y="3414496"/>
            <a:ext cx="405130" cy="53594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480"/>
              </a:spcBef>
            </a:pPr>
            <a:r>
              <a:rPr sz="800" spc="-25" dirty="0">
                <a:latin typeface="Verdana"/>
                <a:cs typeface="Verdana"/>
              </a:rPr>
              <a:t>169</a:t>
            </a:r>
            <a:endParaRPr sz="800">
              <a:latin typeface="Verdana"/>
              <a:cs typeface="Verdana"/>
            </a:endParaRPr>
          </a:p>
          <a:p>
            <a:pPr marL="100965">
              <a:lnSpc>
                <a:spcPct val="100000"/>
              </a:lnSpc>
              <a:spcBef>
                <a:spcPts val="385"/>
              </a:spcBef>
            </a:pPr>
            <a:r>
              <a:rPr sz="800" spc="-25" dirty="0">
                <a:latin typeface="Verdana"/>
                <a:cs typeface="Verdana"/>
              </a:rPr>
              <a:t>77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800" dirty="0">
                <a:latin typeface="Verdana"/>
                <a:cs typeface="Verdana"/>
              </a:rPr>
              <a:t>45.3</a:t>
            </a:r>
            <a:r>
              <a:rPr sz="800" spc="125" dirty="0">
                <a:latin typeface="Verdana"/>
                <a:cs typeface="Verdana"/>
              </a:rPr>
              <a:t> </a:t>
            </a:r>
            <a:r>
              <a:rPr sz="800" spc="-70" dirty="0">
                <a:latin typeface="Verdana"/>
                <a:cs typeface="Verdana"/>
              </a:rPr>
              <a:t>%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68521" y="4529454"/>
            <a:ext cx="158305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25" dirty="0">
                <a:latin typeface="Tahoma"/>
                <a:cs typeface="Tahoma"/>
              </a:rPr>
              <a:t>Six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4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20" dirty="0">
                <a:latin typeface="Tahoma"/>
                <a:cs typeface="Tahoma"/>
              </a:rPr>
              <a:t>June</a:t>
            </a:r>
            <a:r>
              <a:rPr sz="800" b="1" spc="-30" dirty="0">
                <a:latin typeface="Tahoma"/>
                <a:cs typeface="Tahoma"/>
              </a:rPr>
              <a:t> 30,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2025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030347" y="4697602"/>
            <a:ext cx="3858260" cy="9525"/>
          </a:xfrm>
          <a:custGeom>
            <a:avLst/>
            <a:gdLst/>
            <a:ahLst/>
            <a:cxnLst/>
            <a:rect l="l" t="t" r="r" b="b"/>
            <a:pathLst>
              <a:path w="3858259" h="9525">
                <a:moveTo>
                  <a:pt x="1010399" y="0"/>
                </a:moveTo>
                <a:lnTo>
                  <a:pt x="1010399" y="0"/>
                </a:lnTo>
                <a:lnTo>
                  <a:pt x="0" y="0"/>
                </a:lnTo>
                <a:lnTo>
                  <a:pt x="0" y="9144"/>
                </a:lnTo>
                <a:lnTo>
                  <a:pt x="1010399" y="9144"/>
                </a:lnTo>
                <a:lnTo>
                  <a:pt x="1010399" y="0"/>
                </a:lnTo>
                <a:close/>
              </a:path>
              <a:path w="3858259" h="9525">
                <a:moveTo>
                  <a:pt x="2848914" y="0"/>
                </a:moveTo>
                <a:lnTo>
                  <a:pt x="2848914" y="0"/>
                </a:lnTo>
                <a:lnTo>
                  <a:pt x="1010412" y="0"/>
                </a:lnTo>
                <a:lnTo>
                  <a:pt x="1010412" y="9144"/>
                </a:lnTo>
                <a:lnTo>
                  <a:pt x="2848914" y="9144"/>
                </a:lnTo>
                <a:lnTo>
                  <a:pt x="2848914" y="0"/>
                </a:lnTo>
                <a:close/>
              </a:path>
              <a:path w="3858259" h="9525">
                <a:moveTo>
                  <a:pt x="3030334" y="0"/>
                </a:moveTo>
                <a:lnTo>
                  <a:pt x="3001391" y="0"/>
                </a:lnTo>
                <a:lnTo>
                  <a:pt x="2992247" y="0"/>
                </a:lnTo>
                <a:lnTo>
                  <a:pt x="2858135" y="0"/>
                </a:lnTo>
                <a:lnTo>
                  <a:pt x="2848991" y="0"/>
                </a:lnTo>
                <a:lnTo>
                  <a:pt x="2848991" y="9144"/>
                </a:lnTo>
                <a:lnTo>
                  <a:pt x="2858135" y="9144"/>
                </a:lnTo>
                <a:lnTo>
                  <a:pt x="2992247" y="9144"/>
                </a:lnTo>
                <a:lnTo>
                  <a:pt x="3001391" y="9144"/>
                </a:lnTo>
                <a:lnTo>
                  <a:pt x="3030334" y="9144"/>
                </a:lnTo>
                <a:lnTo>
                  <a:pt x="3030334" y="0"/>
                </a:lnTo>
                <a:close/>
              </a:path>
              <a:path w="3858259" h="9525">
                <a:moveTo>
                  <a:pt x="3857879" y="0"/>
                </a:moveTo>
                <a:lnTo>
                  <a:pt x="3039491" y="0"/>
                </a:lnTo>
                <a:lnTo>
                  <a:pt x="3030347" y="0"/>
                </a:lnTo>
                <a:lnTo>
                  <a:pt x="3030347" y="9144"/>
                </a:lnTo>
                <a:lnTo>
                  <a:pt x="3039491" y="9144"/>
                </a:lnTo>
                <a:lnTo>
                  <a:pt x="3857879" y="9144"/>
                </a:lnTo>
                <a:lnTo>
                  <a:pt x="3857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743712" y="4937366"/>
          <a:ext cx="6381115" cy="9823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2970"/>
                <a:gridCol w="942340"/>
                <a:gridCol w="180975"/>
                <a:gridCol w="827405"/>
                <a:gridCol w="180975"/>
                <a:gridCol w="829310"/>
                <a:gridCol w="181610"/>
                <a:gridCol w="987425"/>
              </a:tblGrid>
              <a:tr h="16256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Software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Consulting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Infrastructure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Financing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</a:tr>
              <a:tr h="1581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2037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13,722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2037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10,382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7,027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60325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357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</a:tr>
              <a:tr h="1708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Segment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Profit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4,143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1,121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1,213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60325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248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</a:tr>
              <a:tr h="18288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Segment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Profit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Margin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222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30.2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10.8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17.3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69.3</a:t>
                      </a:r>
                      <a:r>
                        <a:rPr sz="800" spc="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</a:tr>
              <a:tr h="15557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Change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YTY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4.6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(1.2)</a:t>
                      </a:r>
                      <a:r>
                        <a:rPr sz="8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8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Change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YTY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Revenue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Constant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Currency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8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919"/>
                        </a:lnSpc>
                        <a:spcBef>
                          <a:spcPts val="18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ts val="919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919"/>
                        </a:lnSpc>
                        <a:spcBef>
                          <a:spcPts val="18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18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4.3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919"/>
                        </a:lnSpc>
                        <a:spcBef>
                          <a:spcPts val="18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919"/>
                        </a:lnSpc>
                        <a:spcBef>
                          <a:spcPts val="18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(0.3)</a:t>
                      </a:r>
                      <a:r>
                        <a:rPr sz="8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</a:tr>
            </a:tbl>
          </a:graphicData>
        </a:graphic>
      </p:graphicFrame>
      <p:sp>
        <p:nvSpPr>
          <p:cNvPr id="35" name="object 35"/>
          <p:cNvSpPr/>
          <p:nvPr/>
        </p:nvSpPr>
        <p:spPr>
          <a:xfrm>
            <a:off x="6060694" y="5095366"/>
            <a:ext cx="828040" cy="9525"/>
          </a:xfrm>
          <a:custGeom>
            <a:avLst/>
            <a:gdLst/>
            <a:ahLst/>
            <a:cxnLst/>
            <a:rect l="l" t="t" r="r" b="b"/>
            <a:pathLst>
              <a:path w="828040" h="9525">
                <a:moveTo>
                  <a:pt x="827531" y="0"/>
                </a:moveTo>
                <a:lnTo>
                  <a:pt x="0" y="0"/>
                </a:lnTo>
                <a:lnTo>
                  <a:pt x="0" y="9144"/>
                </a:lnTo>
                <a:lnTo>
                  <a:pt x="827531" y="9144"/>
                </a:lnTo>
                <a:lnTo>
                  <a:pt x="8275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060694" y="5606161"/>
            <a:ext cx="828040" cy="12700"/>
          </a:xfrm>
          <a:custGeom>
            <a:avLst/>
            <a:gdLst/>
            <a:ahLst/>
            <a:cxnLst/>
            <a:rect l="l" t="t" r="r" b="b"/>
            <a:pathLst>
              <a:path w="828040" h="12700">
                <a:moveTo>
                  <a:pt x="827531" y="0"/>
                </a:moveTo>
                <a:lnTo>
                  <a:pt x="0" y="0"/>
                </a:lnTo>
                <a:lnTo>
                  <a:pt x="0" y="12191"/>
                </a:lnTo>
                <a:lnTo>
                  <a:pt x="827531" y="12191"/>
                </a:lnTo>
                <a:lnTo>
                  <a:pt x="8275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168521" y="6190869"/>
            <a:ext cx="158305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25" dirty="0">
                <a:latin typeface="Tahoma"/>
                <a:cs typeface="Tahoma"/>
              </a:rPr>
              <a:t>Six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4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20" dirty="0">
                <a:latin typeface="Tahoma"/>
                <a:cs typeface="Tahoma"/>
              </a:rPr>
              <a:t>June</a:t>
            </a:r>
            <a:r>
              <a:rPr sz="800" b="1" spc="-30" dirty="0">
                <a:latin typeface="Tahoma"/>
                <a:cs typeface="Tahoma"/>
              </a:rPr>
              <a:t> 30,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2024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030347" y="6360540"/>
            <a:ext cx="3858260" cy="9525"/>
          </a:xfrm>
          <a:custGeom>
            <a:avLst/>
            <a:gdLst/>
            <a:ahLst/>
            <a:cxnLst/>
            <a:rect l="l" t="t" r="r" b="b"/>
            <a:pathLst>
              <a:path w="3858259" h="9525">
                <a:moveTo>
                  <a:pt x="1010399" y="0"/>
                </a:moveTo>
                <a:lnTo>
                  <a:pt x="1010399" y="0"/>
                </a:lnTo>
                <a:lnTo>
                  <a:pt x="0" y="0"/>
                </a:lnTo>
                <a:lnTo>
                  <a:pt x="0" y="9144"/>
                </a:lnTo>
                <a:lnTo>
                  <a:pt x="1010399" y="9144"/>
                </a:lnTo>
                <a:lnTo>
                  <a:pt x="1010399" y="0"/>
                </a:lnTo>
                <a:close/>
              </a:path>
              <a:path w="3858259" h="9525">
                <a:moveTo>
                  <a:pt x="2848914" y="0"/>
                </a:moveTo>
                <a:lnTo>
                  <a:pt x="2848914" y="0"/>
                </a:lnTo>
                <a:lnTo>
                  <a:pt x="1010412" y="0"/>
                </a:lnTo>
                <a:lnTo>
                  <a:pt x="1010412" y="9144"/>
                </a:lnTo>
                <a:lnTo>
                  <a:pt x="2848914" y="9144"/>
                </a:lnTo>
                <a:lnTo>
                  <a:pt x="2848914" y="0"/>
                </a:lnTo>
                <a:close/>
              </a:path>
              <a:path w="3858259" h="9525">
                <a:moveTo>
                  <a:pt x="3030334" y="0"/>
                </a:moveTo>
                <a:lnTo>
                  <a:pt x="3001391" y="0"/>
                </a:lnTo>
                <a:lnTo>
                  <a:pt x="2992247" y="0"/>
                </a:lnTo>
                <a:lnTo>
                  <a:pt x="2858135" y="0"/>
                </a:lnTo>
                <a:lnTo>
                  <a:pt x="2848991" y="0"/>
                </a:lnTo>
                <a:lnTo>
                  <a:pt x="2848991" y="9144"/>
                </a:lnTo>
                <a:lnTo>
                  <a:pt x="2858135" y="9144"/>
                </a:lnTo>
                <a:lnTo>
                  <a:pt x="2992247" y="9144"/>
                </a:lnTo>
                <a:lnTo>
                  <a:pt x="3001391" y="9144"/>
                </a:lnTo>
                <a:lnTo>
                  <a:pt x="3030334" y="9144"/>
                </a:lnTo>
                <a:lnTo>
                  <a:pt x="3030334" y="0"/>
                </a:lnTo>
                <a:close/>
              </a:path>
              <a:path w="3858259" h="9525">
                <a:moveTo>
                  <a:pt x="3857879" y="0"/>
                </a:moveTo>
                <a:lnTo>
                  <a:pt x="3039491" y="0"/>
                </a:lnTo>
                <a:lnTo>
                  <a:pt x="3030347" y="0"/>
                </a:lnTo>
                <a:lnTo>
                  <a:pt x="3030347" y="9144"/>
                </a:lnTo>
                <a:lnTo>
                  <a:pt x="3039491" y="9144"/>
                </a:lnTo>
                <a:lnTo>
                  <a:pt x="3857879" y="9144"/>
                </a:lnTo>
                <a:lnTo>
                  <a:pt x="38578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743712" y="6533248"/>
          <a:ext cx="6381115" cy="640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3230"/>
                <a:gridCol w="1402715"/>
                <a:gridCol w="181610"/>
                <a:gridCol w="828039"/>
                <a:gridCol w="181610"/>
                <a:gridCol w="829944"/>
                <a:gridCol w="182245"/>
                <a:gridCol w="988060"/>
              </a:tblGrid>
              <a:tr h="16256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041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Software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Consulting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667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Infrastructure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Financing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</a:tr>
              <a:tr h="1581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2037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12,637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2037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10,365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6,721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60325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362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</a:tr>
              <a:tr h="1695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Segment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Profit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3,612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569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888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569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965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60325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168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</a:tr>
              <a:tr h="150495"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Segment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Profit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Margin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28.6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14.4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575945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46.5</a:t>
                      </a:r>
                      <a:r>
                        <a:rPr sz="800" spc="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</a:tr>
            </a:tbl>
          </a:graphicData>
        </a:graphic>
      </p:graphicFrame>
      <p:sp>
        <p:nvSpPr>
          <p:cNvPr id="40" name="object 40"/>
          <p:cNvSpPr/>
          <p:nvPr/>
        </p:nvSpPr>
        <p:spPr>
          <a:xfrm>
            <a:off x="6060694" y="6691249"/>
            <a:ext cx="828040" cy="9525"/>
          </a:xfrm>
          <a:custGeom>
            <a:avLst/>
            <a:gdLst/>
            <a:ahLst/>
            <a:cxnLst/>
            <a:rect l="l" t="t" r="r" b="b"/>
            <a:pathLst>
              <a:path w="828040" h="9525">
                <a:moveTo>
                  <a:pt x="827531" y="0"/>
                </a:moveTo>
                <a:lnTo>
                  <a:pt x="0" y="0"/>
                </a:lnTo>
                <a:lnTo>
                  <a:pt x="0" y="9143"/>
                </a:lnTo>
                <a:lnTo>
                  <a:pt x="827531" y="9143"/>
                </a:lnTo>
                <a:lnTo>
                  <a:pt x="8275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8314" y="531368"/>
            <a:ext cx="3529329" cy="895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CORPORATION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800" b="1" spc="-20" dirty="0">
                <a:latin typeface="Tahoma"/>
                <a:cs typeface="Tahoma"/>
              </a:rPr>
              <a:t>U.S.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GAAP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40" dirty="0">
                <a:latin typeface="Tahoma"/>
                <a:cs typeface="Tahoma"/>
              </a:rPr>
              <a:t>TO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OPERATING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60" dirty="0">
                <a:latin typeface="Tahoma"/>
                <a:cs typeface="Tahoma"/>
              </a:rPr>
              <a:t>(Non-</a:t>
            </a:r>
            <a:r>
              <a:rPr sz="800" b="1" spc="-35" dirty="0">
                <a:latin typeface="Tahoma"/>
                <a:cs typeface="Tahoma"/>
              </a:rPr>
              <a:t>GAAP)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RESULTS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RECONCILIATION</a:t>
            </a:r>
            <a:endParaRPr sz="800">
              <a:latin typeface="Tahoma"/>
              <a:cs typeface="Tahoma"/>
            </a:endParaRPr>
          </a:p>
          <a:p>
            <a:pPr marL="255270">
              <a:lnSpc>
                <a:spcPct val="100000"/>
              </a:lnSpc>
              <a:spcBef>
                <a:spcPts val="5"/>
              </a:spcBef>
            </a:pPr>
            <a:r>
              <a:rPr sz="800" b="1" spc="-40" dirty="0">
                <a:latin typeface="Tahoma"/>
                <a:cs typeface="Tahoma"/>
              </a:rPr>
              <a:t>(Unaudited;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Dollars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in</a:t>
            </a:r>
            <a:r>
              <a:rPr sz="800" b="1" spc="-25" dirty="0">
                <a:latin typeface="Tahoma"/>
                <a:cs typeface="Tahoma"/>
              </a:rPr>
              <a:t> millions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except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per</a:t>
            </a:r>
            <a:r>
              <a:rPr sz="800" b="1" spc="-30" dirty="0">
                <a:latin typeface="Tahoma"/>
                <a:cs typeface="Tahoma"/>
              </a:rPr>
              <a:t> share</a:t>
            </a:r>
            <a:r>
              <a:rPr sz="800" b="1" spc="-10" dirty="0">
                <a:latin typeface="Tahoma"/>
                <a:cs typeface="Tahoma"/>
              </a:rPr>
              <a:t> amounts)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800">
              <a:latin typeface="Tahoma"/>
              <a:cs typeface="Tahoma"/>
            </a:endParaRPr>
          </a:p>
          <a:p>
            <a:pPr marL="2140585" marR="5080" indent="-306705">
              <a:lnSpc>
                <a:spcPct val="148800"/>
              </a:lnSpc>
            </a:pPr>
            <a:r>
              <a:rPr sz="800" b="1" spc="-35" dirty="0">
                <a:latin typeface="Tahoma"/>
                <a:cs typeface="Tahoma"/>
              </a:rPr>
              <a:t>Three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20" dirty="0">
                <a:latin typeface="Tahoma"/>
                <a:cs typeface="Tahoma"/>
              </a:rPr>
              <a:t>June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2025 </a:t>
            </a:r>
            <a:r>
              <a:rPr sz="800" b="1" spc="-40" dirty="0">
                <a:latin typeface="Tahoma"/>
                <a:cs typeface="Tahoma"/>
              </a:rPr>
              <a:t>Continuing</a:t>
            </a:r>
            <a:r>
              <a:rPr sz="800" b="1" spc="10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Operations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96667" y="1686813"/>
            <a:ext cx="3060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0" dirty="0">
                <a:latin typeface="Tahoma"/>
                <a:cs typeface="Tahoma"/>
              </a:rPr>
              <a:t>GAAP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2390" y="1459737"/>
            <a:ext cx="793115" cy="3829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 marR="30480" algn="ctr">
              <a:lnSpc>
                <a:spcPts val="919"/>
              </a:lnSpc>
              <a:spcBef>
                <a:spcPts val="165"/>
              </a:spcBef>
            </a:pPr>
            <a:r>
              <a:rPr sz="800" b="1" spc="-10" dirty="0">
                <a:latin typeface="Tahoma"/>
                <a:cs typeface="Tahoma"/>
              </a:rPr>
              <a:t>Acquisition- Related </a:t>
            </a:r>
            <a:r>
              <a:rPr sz="800" b="1" spc="-35" dirty="0">
                <a:latin typeface="Tahoma"/>
                <a:cs typeface="Tahoma"/>
              </a:rPr>
              <a:t>Adjustments</a:t>
            </a:r>
            <a:r>
              <a:rPr sz="800" b="1" spc="5" dirty="0">
                <a:latin typeface="Tahoma"/>
                <a:cs typeface="Tahoma"/>
              </a:rPr>
              <a:t> </a:t>
            </a:r>
            <a:r>
              <a:rPr sz="750" b="1" spc="-67" baseline="33333" dirty="0">
                <a:latin typeface="Tahoma"/>
                <a:cs typeface="Tahoma"/>
              </a:rPr>
              <a:t>(1)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24121" y="1459737"/>
            <a:ext cx="793115" cy="3829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 marR="30480" algn="ctr">
              <a:lnSpc>
                <a:spcPts val="919"/>
              </a:lnSpc>
              <a:spcBef>
                <a:spcPts val="165"/>
              </a:spcBef>
            </a:pPr>
            <a:r>
              <a:rPr sz="800" b="1" spc="-10" dirty="0">
                <a:latin typeface="Tahoma"/>
                <a:cs typeface="Tahoma"/>
              </a:rPr>
              <a:t>Retirement- Related </a:t>
            </a:r>
            <a:r>
              <a:rPr sz="800" b="1" spc="-35" dirty="0">
                <a:latin typeface="Tahoma"/>
                <a:cs typeface="Tahoma"/>
              </a:rPr>
              <a:t>Adjustments</a:t>
            </a:r>
            <a:r>
              <a:rPr sz="800" b="1" spc="5" dirty="0">
                <a:latin typeface="Tahoma"/>
                <a:cs typeface="Tahoma"/>
              </a:rPr>
              <a:t> </a:t>
            </a:r>
            <a:r>
              <a:rPr sz="750" b="1" spc="-67" baseline="33333" dirty="0">
                <a:latin typeface="Tahoma"/>
                <a:cs typeface="Tahoma"/>
              </a:rPr>
              <a:t>(2)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6340" y="1459737"/>
            <a:ext cx="422909" cy="3797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indent="635" algn="ctr">
              <a:lnSpc>
                <a:spcPts val="910"/>
              </a:lnSpc>
              <a:spcBef>
                <a:spcPts val="175"/>
              </a:spcBef>
            </a:pPr>
            <a:r>
              <a:rPr sz="800" b="1" spc="-25" dirty="0">
                <a:latin typeface="Tahoma"/>
                <a:cs typeface="Tahoma"/>
              </a:rPr>
              <a:t>Tax </a:t>
            </a:r>
            <a:r>
              <a:rPr sz="800" b="1" spc="-10" dirty="0">
                <a:latin typeface="Tahoma"/>
                <a:cs typeface="Tahoma"/>
              </a:rPr>
              <a:t>Reform </a:t>
            </a:r>
            <a:r>
              <a:rPr sz="800" b="1" spc="-30" dirty="0">
                <a:latin typeface="Tahoma"/>
                <a:cs typeface="Tahoma"/>
              </a:rPr>
              <a:t>Impacts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36257" y="1459737"/>
            <a:ext cx="502284" cy="38163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algn="ctr">
              <a:lnSpc>
                <a:spcPct val="95600"/>
              </a:lnSpc>
              <a:spcBef>
                <a:spcPts val="145"/>
              </a:spcBef>
            </a:pPr>
            <a:r>
              <a:rPr sz="800" b="1" spc="-40" dirty="0">
                <a:latin typeface="Tahoma"/>
                <a:cs typeface="Tahoma"/>
              </a:rPr>
              <a:t>Operating</a:t>
            </a:r>
            <a:r>
              <a:rPr sz="800" b="1" spc="-10" dirty="0">
                <a:latin typeface="Tahoma"/>
                <a:cs typeface="Tahoma"/>
              </a:rPr>
              <a:t> (Non- GAAP)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96591" y="1452625"/>
            <a:ext cx="4476750" cy="12700"/>
          </a:xfrm>
          <a:custGeom>
            <a:avLst/>
            <a:gdLst/>
            <a:ahLst/>
            <a:cxnLst/>
            <a:rect l="l" t="t" r="r" b="b"/>
            <a:pathLst>
              <a:path w="4476750" h="12700">
                <a:moveTo>
                  <a:pt x="516623" y="0"/>
                </a:moveTo>
                <a:lnTo>
                  <a:pt x="504444" y="0"/>
                </a:lnTo>
                <a:lnTo>
                  <a:pt x="0" y="0"/>
                </a:lnTo>
                <a:lnTo>
                  <a:pt x="0" y="12192"/>
                </a:lnTo>
                <a:lnTo>
                  <a:pt x="504444" y="12192"/>
                </a:lnTo>
                <a:lnTo>
                  <a:pt x="516623" y="12192"/>
                </a:lnTo>
                <a:lnTo>
                  <a:pt x="516623" y="0"/>
                </a:lnTo>
                <a:close/>
              </a:path>
              <a:path w="4476750" h="12700">
                <a:moveTo>
                  <a:pt x="659879" y="0"/>
                </a:moveTo>
                <a:lnTo>
                  <a:pt x="647700" y="0"/>
                </a:lnTo>
                <a:lnTo>
                  <a:pt x="516636" y="0"/>
                </a:lnTo>
                <a:lnTo>
                  <a:pt x="516636" y="12192"/>
                </a:lnTo>
                <a:lnTo>
                  <a:pt x="647700" y="12192"/>
                </a:lnTo>
                <a:lnTo>
                  <a:pt x="659879" y="12192"/>
                </a:lnTo>
                <a:lnTo>
                  <a:pt x="659879" y="0"/>
                </a:lnTo>
                <a:close/>
              </a:path>
              <a:path w="4476750" h="12700">
                <a:moveTo>
                  <a:pt x="697979" y="0"/>
                </a:moveTo>
                <a:lnTo>
                  <a:pt x="685800" y="0"/>
                </a:lnTo>
                <a:lnTo>
                  <a:pt x="659892" y="0"/>
                </a:lnTo>
                <a:lnTo>
                  <a:pt x="659892" y="12192"/>
                </a:lnTo>
                <a:lnTo>
                  <a:pt x="685800" y="12192"/>
                </a:lnTo>
                <a:lnTo>
                  <a:pt x="697979" y="12192"/>
                </a:lnTo>
                <a:lnTo>
                  <a:pt x="697979" y="0"/>
                </a:lnTo>
                <a:close/>
              </a:path>
              <a:path w="4476750" h="12700">
                <a:moveTo>
                  <a:pt x="1733029" y="0"/>
                </a:moveTo>
                <a:lnTo>
                  <a:pt x="1489202" y="0"/>
                </a:lnTo>
                <a:lnTo>
                  <a:pt x="1477060" y="0"/>
                </a:lnTo>
                <a:lnTo>
                  <a:pt x="697992" y="0"/>
                </a:lnTo>
                <a:lnTo>
                  <a:pt x="697992" y="12192"/>
                </a:lnTo>
                <a:lnTo>
                  <a:pt x="1477010" y="12192"/>
                </a:lnTo>
                <a:lnTo>
                  <a:pt x="1489202" y="12192"/>
                </a:lnTo>
                <a:lnTo>
                  <a:pt x="1733029" y="12192"/>
                </a:lnTo>
                <a:lnTo>
                  <a:pt x="1733029" y="0"/>
                </a:lnTo>
                <a:close/>
              </a:path>
              <a:path w="4476750" h="12700">
                <a:moveTo>
                  <a:pt x="2933941" y="0"/>
                </a:moveTo>
                <a:lnTo>
                  <a:pt x="2933941" y="0"/>
                </a:lnTo>
                <a:lnTo>
                  <a:pt x="1733042" y="0"/>
                </a:lnTo>
                <a:lnTo>
                  <a:pt x="1733042" y="12192"/>
                </a:lnTo>
                <a:lnTo>
                  <a:pt x="2933941" y="12192"/>
                </a:lnTo>
                <a:lnTo>
                  <a:pt x="2933941" y="0"/>
                </a:lnTo>
                <a:close/>
              </a:path>
              <a:path w="4476750" h="12700">
                <a:moveTo>
                  <a:pt x="3610914" y="0"/>
                </a:moveTo>
                <a:lnTo>
                  <a:pt x="2984246" y="0"/>
                </a:lnTo>
                <a:lnTo>
                  <a:pt x="2972054" y="0"/>
                </a:lnTo>
                <a:lnTo>
                  <a:pt x="2946146" y="0"/>
                </a:lnTo>
                <a:lnTo>
                  <a:pt x="2933954" y="0"/>
                </a:lnTo>
                <a:lnTo>
                  <a:pt x="2933954" y="12192"/>
                </a:lnTo>
                <a:lnTo>
                  <a:pt x="2946146" y="12192"/>
                </a:lnTo>
                <a:lnTo>
                  <a:pt x="2972054" y="12192"/>
                </a:lnTo>
                <a:lnTo>
                  <a:pt x="2984246" y="12192"/>
                </a:lnTo>
                <a:lnTo>
                  <a:pt x="3610914" y="12192"/>
                </a:lnTo>
                <a:lnTo>
                  <a:pt x="3610914" y="0"/>
                </a:lnTo>
                <a:close/>
              </a:path>
              <a:path w="4476750" h="12700">
                <a:moveTo>
                  <a:pt x="3623170" y="0"/>
                </a:moveTo>
                <a:lnTo>
                  <a:pt x="3610991" y="0"/>
                </a:lnTo>
                <a:lnTo>
                  <a:pt x="3610991" y="12192"/>
                </a:lnTo>
                <a:lnTo>
                  <a:pt x="3623170" y="12192"/>
                </a:lnTo>
                <a:lnTo>
                  <a:pt x="3623170" y="0"/>
                </a:lnTo>
                <a:close/>
              </a:path>
              <a:path w="4476750" h="12700">
                <a:moveTo>
                  <a:pt x="3905110" y="0"/>
                </a:moveTo>
                <a:lnTo>
                  <a:pt x="3879215" y="0"/>
                </a:lnTo>
                <a:lnTo>
                  <a:pt x="3867023" y="0"/>
                </a:lnTo>
                <a:lnTo>
                  <a:pt x="3623183" y="0"/>
                </a:lnTo>
                <a:lnTo>
                  <a:pt x="3623183" y="12192"/>
                </a:lnTo>
                <a:lnTo>
                  <a:pt x="3867023" y="12192"/>
                </a:lnTo>
                <a:lnTo>
                  <a:pt x="3879215" y="12192"/>
                </a:lnTo>
                <a:lnTo>
                  <a:pt x="3905110" y="12192"/>
                </a:lnTo>
                <a:lnTo>
                  <a:pt x="3905110" y="0"/>
                </a:lnTo>
                <a:close/>
              </a:path>
              <a:path w="4476750" h="12700">
                <a:moveTo>
                  <a:pt x="4476610" y="0"/>
                </a:moveTo>
                <a:lnTo>
                  <a:pt x="3917315" y="0"/>
                </a:lnTo>
                <a:lnTo>
                  <a:pt x="3905123" y="0"/>
                </a:lnTo>
                <a:lnTo>
                  <a:pt x="3905123" y="12192"/>
                </a:lnTo>
                <a:lnTo>
                  <a:pt x="3917315" y="12192"/>
                </a:lnTo>
                <a:lnTo>
                  <a:pt x="4476610" y="12192"/>
                </a:lnTo>
                <a:lnTo>
                  <a:pt x="44766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58977" y="1865629"/>
          <a:ext cx="6950709" cy="2296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7740"/>
                <a:gridCol w="504825"/>
                <a:gridCol w="181610"/>
                <a:gridCol w="791210"/>
                <a:gridCol w="294004"/>
                <a:gridCol w="904875"/>
                <a:gridCol w="295275"/>
                <a:gridCol w="932814"/>
                <a:gridCol w="571500"/>
                <a:gridCol w="160020"/>
              </a:tblGrid>
              <a:tr h="1701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Profit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9,977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5314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225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7842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51815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10,202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Profit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Margin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58.8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07314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—</a:t>
                      </a:r>
                      <a:r>
                        <a:rPr sz="800" spc="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60.1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</a:tr>
              <a:tr h="1809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SG&amp;A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5,027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8450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(348)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7842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1815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571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4,679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(Income)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(39)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(1)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(25)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(65)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Total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Expense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Other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(Income)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7,380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(350)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(25)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7,005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6845"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2,597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575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3515" algn="ct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3,197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06070">
                <a:tc>
                  <a:txBody>
                    <a:bodyPr/>
                    <a:lstStyle/>
                    <a:p>
                      <a:pPr marL="31750" marR="397510">
                        <a:lnSpc>
                          <a:spcPts val="910"/>
                        </a:lnSpc>
                        <a:spcBef>
                          <a:spcPts val="47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Margin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15.3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1430" algn="ctr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3655" algn="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73660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3020" algn="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07314" algn="r">
                        <a:lnSpc>
                          <a:spcPct val="100000"/>
                        </a:lnSpc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—</a:t>
                      </a:r>
                      <a:r>
                        <a:rPr sz="800" spc="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18.8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</a:tr>
              <a:tr h="1657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for/(Benefit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Taxes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(3)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24511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404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5314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132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80264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51815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34544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545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Effective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Rate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15.5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07314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—</a:t>
                      </a:r>
                      <a:r>
                        <a:rPr sz="800" spc="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17.0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714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2,193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5314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443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7416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51815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2571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2,652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47320"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Margin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 Continuing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12.9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107314" algn="r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—</a:t>
                      </a:r>
                      <a:r>
                        <a:rPr sz="800" spc="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15.6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19"/>
                        </a:lnSpc>
                        <a:spcBef>
                          <a:spcPts val="14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780" marB="0"/>
                </a:tc>
              </a:tr>
              <a:tr h="276860">
                <a:tc>
                  <a:txBody>
                    <a:bodyPr/>
                    <a:lstStyle/>
                    <a:p>
                      <a:pPr marL="31750" marR="438784">
                        <a:lnSpc>
                          <a:spcPts val="910"/>
                        </a:lnSpc>
                        <a:spcBef>
                          <a:spcPts val="2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Diluted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Earnings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Per </a:t>
                      </a:r>
                      <a:r>
                        <a:rPr sz="800" spc="-80" dirty="0">
                          <a:latin typeface="Verdana"/>
                          <a:cs typeface="Verdana"/>
                        </a:rPr>
                        <a:t>Share: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910"/>
                        </a:spcBef>
                        <a:tabLst>
                          <a:tab pos="217804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2.31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5570" marB="0"/>
                </a:tc>
                <a:tc gridSpan="2"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910"/>
                        </a:spcBef>
                        <a:tabLst>
                          <a:tab pos="7207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0.47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55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910"/>
                        </a:spcBef>
                        <a:tabLst>
                          <a:tab pos="94741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0.02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55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910"/>
                        </a:spcBef>
                        <a:tabLst>
                          <a:tab pos="6826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0.00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55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910"/>
                        </a:spcBef>
                        <a:tabLst>
                          <a:tab pos="31813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2.80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55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5668645" y="1861057"/>
            <a:ext cx="639445" cy="9525"/>
          </a:xfrm>
          <a:custGeom>
            <a:avLst/>
            <a:gdLst/>
            <a:ahLst/>
            <a:cxnLst/>
            <a:rect l="l" t="t" r="r" b="b"/>
            <a:pathLst>
              <a:path w="639445" h="9525">
                <a:moveTo>
                  <a:pt x="638860" y="0"/>
                </a:moveTo>
                <a:lnTo>
                  <a:pt x="0" y="0"/>
                </a:lnTo>
                <a:lnTo>
                  <a:pt x="0" y="9144"/>
                </a:lnTo>
                <a:lnTo>
                  <a:pt x="638860" y="9144"/>
                </a:lnTo>
                <a:lnTo>
                  <a:pt x="6388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079875" y="4267936"/>
            <a:ext cx="1707514" cy="388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5080" indent="-306705">
              <a:lnSpc>
                <a:spcPct val="1487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Three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20" dirty="0">
                <a:latin typeface="Tahoma"/>
                <a:cs typeface="Tahoma"/>
              </a:rPr>
              <a:t>June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2024 </a:t>
            </a:r>
            <a:r>
              <a:rPr sz="800" b="1" spc="-40" dirty="0">
                <a:latin typeface="Tahoma"/>
                <a:cs typeface="Tahoma"/>
              </a:rPr>
              <a:t>Continuing</a:t>
            </a:r>
            <a:r>
              <a:rPr sz="800" b="1" spc="10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Operations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6667" y="4915026"/>
            <a:ext cx="30607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20" dirty="0">
                <a:latin typeface="Tahoma"/>
                <a:cs typeface="Tahoma"/>
              </a:rPr>
              <a:t>GAAP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82390" y="4689475"/>
            <a:ext cx="793115" cy="3829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 marR="30480" algn="ctr">
              <a:lnSpc>
                <a:spcPts val="919"/>
              </a:lnSpc>
              <a:spcBef>
                <a:spcPts val="165"/>
              </a:spcBef>
            </a:pPr>
            <a:r>
              <a:rPr sz="800" b="1" spc="-10" dirty="0">
                <a:latin typeface="Tahoma"/>
                <a:cs typeface="Tahoma"/>
              </a:rPr>
              <a:t>Acquisition- Related </a:t>
            </a:r>
            <a:r>
              <a:rPr sz="800" b="1" spc="-35" dirty="0">
                <a:latin typeface="Tahoma"/>
                <a:cs typeface="Tahoma"/>
              </a:rPr>
              <a:t>Adjustments</a:t>
            </a:r>
            <a:r>
              <a:rPr sz="800" b="1" spc="5" dirty="0">
                <a:latin typeface="Tahoma"/>
                <a:cs typeface="Tahoma"/>
              </a:rPr>
              <a:t> </a:t>
            </a:r>
            <a:r>
              <a:rPr sz="750" b="1" spc="-67" baseline="33333" dirty="0">
                <a:latin typeface="Tahoma"/>
                <a:cs typeface="Tahoma"/>
              </a:rPr>
              <a:t>(1)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24121" y="4689475"/>
            <a:ext cx="793115" cy="3829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 marR="30480" algn="ctr">
              <a:lnSpc>
                <a:spcPts val="919"/>
              </a:lnSpc>
              <a:spcBef>
                <a:spcPts val="165"/>
              </a:spcBef>
            </a:pPr>
            <a:r>
              <a:rPr sz="800" b="1" spc="-10" dirty="0">
                <a:latin typeface="Tahoma"/>
                <a:cs typeface="Tahoma"/>
              </a:rPr>
              <a:t>Retirement- Related </a:t>
            </a:r>
            <a:r>
              <a:rPr sz="800" b="1" spc="-35" dirty="0">
                <a:latin typeface="Tahoma"/>
                <a:cs typeface="Tahoma"/>
              </a:rPr>
              <a:t>Adjustments</a:t>
            </a:r>
            <a:r>
              <a:rPr sz="800" b="1" spc="5" dirty="0">
                <a:latin typeface="Tahoma"/>
                <a:cs typeface="Tahoma"/>
              </a:rPr>
              <a:t> </a:t>
            </a:r>
            <a:r>
              <a:rPr sz="750" b="1" spc="-67" baseline="33333" dirty="0">
                <a:latin typeface="Tahoma"/>
                <a:cs typeface="Tahoma"/>
              </a:rPr>
              <a:t>(2)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76340" y="4689475"/>
            <a:ext cx="422909" cy="3797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indent="635" algn="ctr">
              <a:lnSpc>
                <a:spcPts val="910"/>
              </a:lnSpc>
              <a:spcBef>
                <a:spcPts val="175"/>
              </a:spcBef>
            </a:pPr>
            <a:r>
              <a:rPr sz="800" b="1" spc="-25" dirty="0">
                <a:latin typeface="Tahoma"/>
                <a:cs typeface="Tahoma"/>
              </a:rPr>
              <a:t>Tax </a:t>
            </a:r>
            <a:r>
              <a:rPr sz="800" b="1" spc="-10" dirty="0">
                <a:latin typeface="Tahoma"/>
                <a:cs typeface="Tahoma"/>
              </a:rPr>
              <a:t>Reform </a:t>
            </a:r>
            <a:r>
              <a:rPr sz="800" b="1" spc="-30" dirty="0">
                <a:latin typeface="Tahoma"/>
                <a:cs typeface="Tahoma"/>
              </a:rPr>
              <a:t>Impacts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36257" y="4689475"/>
            <a:ext cx="502284" cy="38163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algn="ctr">
              <a:lnSpc>
                <a:spcPct val="95600"/>
              </a:lnSpc>
              <a:spcBef>
                <a:spcPts val="145"/>
              </a:spcBef>
            </a:pPr>
            <a:r>
              <a:rPr sz="800" b="1" spc="-40" dirty="0">
                <a:latin typeface="Tahoma"/>
                <a:cs typeface="Tahoma"/>
              </a:rPr>
              <a:t>Operating</a:t>
            </a:r>
            <a:r>
              <a:rPr sz="800" b="1" spc="-10" dirty="0">
                <a:latin typeface="Tahoma"/>
                <a:cs typeface="Tahoma"/>
              </a:rPr>
              <a:t> (Non- GAAP)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696591" y="4680838"/>
            <a:ext cx="4476750" cy="9525"/>
          </a:xfrm>
          <a:custGeom>
            <a:avLst/>
            <a:gdLst/>
            <a:ahLst/>
            <a:cxnLst/>
            <a:rect l="l" t="t" r="r" b="b"/>
            <a:pathLst>
              <a:path w="4476750" h="9525">
                <a:moveTo>
                  <a:pt x="1771129" y="0"/>
                </a:moveTo>
                <a:lnTo>
                  <a:pt x="1771129" y="0"/>
                </a:lnTo>
                <a:lnTo>
                  <a:pt x="0" y="0"/>
                </a:lnTo>
                <a:lnTo>
                  <a:pt x="0" y="9144"/>
                </a:lnTo>
                <a:lnTo>
                  <a:pt x="1771129" y="9144"/>
                </a:lnTo>
                <a:lnTo>
                  <a:pt x="1771129" y="0"/>
                </a:lnTo>
                <a:close/>
              </a:path>
              <a:path w="4476750" h="9525">
                <a:moveTo>
                  <a:pt x="2972041" y="0"/>
                </a:moveTo>
                <a:lnTo>
                  <a:pt x="2972041" y="0"/>
                </a:lnTo>
                <a:lnTo>
                  <a:pt x="1771142" y="0"/>
                </a:lnTo>
                <a:lnTo>
                  <a:pt x="1771142" y="9144"/>
                </a:lnTo>
                <a:lnTo>
                  <a:pt x="2972041" y="9144"/>
                </a:lnTo>
                <a:lnTo>
                  <a:pt x="2972041" y="0"/>
                </a:lnTo>
                <a:close/>
              </a:path>
              <a:path w="4476750" h="9525">
                <a:moveTo>
                  <a:pt x="3610914" y="0"/>
                </a:moveTo>
                <a:lnTo>
                  <a:pt x="2981198" y="0"/>
                </a:lnTo>
                <a:lnTo>
                  <a:pt x="2972054" y="0"/>
                </a:lnTo>
                <a:lnTo>
                  <a:pt x="2972054" y="9144"/>
                </a:lnTo>
                <a:lnTo>
                  <a:pt x="2981198" y="9144"/>
                </a:lnTo>
                <a:lnTo>
                  <a:pt x="3610914" y="9144"/>
                </a:lnTo>
                <a:lnTo>
                  <a:pt x="3610914" y="0"/>
                </a:lnTo>
                <a:close/>
              </a:path>
              <a:path w="4476750" h="9525">
                <a:moveTo>
                  <a:pt x="3905110" y="0"/>
                </a:moveTo>
                <a:lnTo>
                  <a:pt x="3905110" y="0"/>
                </a:lnTo>
                <a:lnTo>
                  <a:pt x="3610991" y="0"/>
                </a:lnTo>
                <a:lnTo>
                  <a:pt x="3610991" y="9144"/>
                </a:lnTo>
                <a:lnTo>
                  <a:pt x="3905110" y="9144"/>
                </a:lnTo>
                <a:lnTo>
                  <a:pt x="3905110" y="0"/>
                </a:lnTo>
                <a:close/>
              </a:path>
              <a:path w="4476750" h="9525">
                <a:moveTo>
                  <a:pt x="4476610" y="0"/>
                </a:moveTo>
                <a:lnTo>
                  <a:pt x="3914267" y="0"/>
                </a:lnTo>
                <a:lnTo>
                  <a:pt x="3905123" y="0"/>
                </a:lnTo>
                <a:lnTo>
                  <a:pt x="3905123" y="9144"/>
                </a:lnTo>
                <a:lnTo>
                  <a:pt x="3914254" y="9144"/>
                </a:lnTo>
                <a:lnTo>
                  <a:pt x="4476610" y="9144"/>
                </a:lnTo>
                <a:lnTo>
                  <a:pt x="44766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437641" y="5095366"/>
          <a:ext cx="6972300" cy="24625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8695"/>
                <a:gridCol w="504190"/>
                <a:gridCol w="180975"/>
                <a:gridCol w="790575"/>
                <a:gridCol w="293370"/>
                <a:gridCol w="904239"/>
                <a:gridCol w="294639"/>
                <a:gridCol w="649604"/>
                <a:gridCol w="280670"/>
                <a:gridCol w="570230"/>
                <a:gridCol w="158750"/>
              </a:tblGrid>
              <a:tr h="16954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Profit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8,950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25"/>
                        </a:spcBef>
                        <a:tabLst>
                          <a:tab pos="5314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170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25"/>
                        </a:spcBef>
                        <a:tabLst>
                          <a:tab pos="7842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25"/>
                        </a:spcBef>
                        <a:tabLst>
                          <a:tab pos="51815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8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5"/>
                        </a:spcBef>
                        <a:tabLst>
                          <a:tab pos="2571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9,120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8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Profit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Margin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56.8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518159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—</a:t>
                      </a:r>
                      <a:r>
                        <a:rPr sz="800" spc="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57.8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8034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SG&amp;A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4,938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0"/>
                        </a:spcBef>
                        <a:tabLst>
                          <a:tab pos="48450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(286)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0"/>
                        </a:spcBef>
                        <a:tabLst>
                          <a:tab pos="7842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0"/>
                        </a:spcBef>
                        <a:tabLst>
                          <a:tab pos="51815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0"/>
                        </a:spcBef>
                        <a:tabLst>
                          <a:tab pos="2571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4,651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97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(Income)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(233)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(18)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(98)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35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(349)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97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Total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Expense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Other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(Income)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6,730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(304)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(98)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35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6,328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6845">
                <a:tc>
                  <a:txBody>
                    <a:bodyPr/>
                    <a:lstStyle/>
                    <a:p>
                      <a:pPr marL="52705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2,219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474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3515" algn="ct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2,792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06070">
                <a:tc>
                  <a:txBody>
                    <a:bodyPr/>
                    <a:lstStyle/>
                    <a:p>
                      <a:pPr marL="52705" marR="397510">
                        <a:lnSpc>
                          <a:spcPts val="910"/>
                        </a:lnSpc>
                        <a:spcBef>
                          <a:spcPts val="47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Margin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14.1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1430" algn="ctr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3655" algn="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73660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3020" algn="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44450" algn="r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85725" algn="ct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17.7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</a:tr>
              <a:tr h="16510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for/(Benefit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Taxes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(3)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24511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389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5314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113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7416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26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39306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(12)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34544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516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Effective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Rate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17.5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18.5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</a:tr>
              <a:tr h="18097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1,830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314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362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7416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72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4069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571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2,275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6845">
                <a:tc>
                  <a:txBody>
                    <a:bodyPr/>
                    <a:lstStyle/>
                    <a:p>
                      <a:pPr marL="52705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Margin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 Continuing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11.6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14.4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19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424180">
                <a:tc>
                  <a:txBody>
                    <a:bodyPr/>
                    <a:lstStyle/>
                    <a:p>
                      <a:pPr marL="52705" marR="438784">
                        <a:lnSpc>
                          <a:spcPts val="910"/>
                        </a:lnSpc>
                        <a:spcBef>
                          <a:spcPts val="47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Diluted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Earnings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Per </a:t>
                      </a:r>
                      <a:r>
                        <a:rPr sz="800" spc="-80" dirty="0">
                          <a:latin typeface="Verdana"/>
                          <a:cs typeface="Verdana"/>
                        </a:rPr>
                        <a:t>Share: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  <a:tabLst>
                          <a:tab pos="217804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1.96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15900">
                        <a:lnSpc>
                          <a:spcPct val="100000"/>
                        </a:lnSpc>
                        <a:tabLst>
                          <a:tab pos="7207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0.39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28930">
                        <a:lnSpc>
                          <a:spcPct val="100000"/>
                        </a:lnSpc>
                        <a:tabLst>
                          <a:tab pos="94741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0.08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0">
                        <a:lnSpc>
                          <a:spcPct val="100000"/>
                        </a:lnSpc>
                        <a:tabLst>
                          <a:tab pos="6826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0.01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15595">
                        <a:lnSpc>
                          <a:spcPct val="100000"/>
                        </a:lnSpc>
                        <a:tabLst>
                          <a:tab pos="6000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2.43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841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5668645" y="5090795"/>
            <a:ext cx="639445" cy="9525"/>
          </a:xfrm>
          <a:custGeom>
            <a:avLst/>
            <a:gdLst/>
            <a:ahLst/>
            <a:cxnLst/>
            <a:rect l="l" t="t" r="r" b="b"/>
            <a:pathLst>
              <a:path w="639445" h="9525">
                <a:moveTo>
                  <a:pt x="638860" y="0"/>
                </a:moveTo>
                <a:lnTo>
                  <a:pt x="0" y="0"/>
                </a:lnTo>
                <a:lnTo>
                  <a:pt x="0" y="9144"/>
                </a:lnTo>
                <a:lnTo>
                  <a:pt x="638860" y="9144"/>
                </a:lnTo>
                <a:lnTo>
                  <a:pt x="6388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8055" y="7549260"/>
            <a:ext cx="1266825" cy="12700"/>
          </a:xfrm>
          <a:custGeom>
            <a:avLst/>
            <a:gdLst/>
            <a:ahLst/>
            <a:cxnLst/>
            <a:rect l="l" t="t" r="r" b="b"/>
            <a:pathLst>
              <a:path w="1266825" h="12700">
                <a:moveTo>
                  <a:pt x="1266748" y="0"/>
                </a:moveTo>
                <a:lnTo>
                  <a:pt x="0" y="0"/>
                </a:lnTo>
                <a:lnTo>
                  <a:pt x="0" y="12192"/>
                </a:lnTo>
                <a:lnTo>
                  <a:pt x="1266748" y="12192"/>
                </a:lnTo>
                <a:lnTo>
                  <a:pt x="1266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44500" y="7559802"/>
            <a:ext cx="688594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marR="103505" indent="-171450" algn="just">
              <a:lnSpc>
                <a:spcPct val="100000"/>
              </a:lnSpc>
              <a:spcBef>
                <a:spcPts val="100"/>
              </a:spcBef>
              <a:buAutoNum type="arabicParenBoth"/>
              <a:tabLst>
                <a:tab pos="184785" algn="l"/>
              </a:tabLst>
            </a:pPr>
            <a:r>
              <a:rPr sz="800" spc="-35" dirty="0">
                <a:latin typeface="Verdana"/>
                <a:cs typeface="Verdana"/>
              </a:rPr>
              <a:t>Includes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amortization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of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acquired</a:t>
            </a:r>
            <a:r>
              <a:rPr sz="800" spc="-114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intangible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assets,</a:t>
            </a:r>
            <a:r>
              <a:rPr sz="800" spc="-9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in-process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65" dirty="0">
                <a:latin typeface="Verdana"/>
                <a:cs typeface="Verdana"/>
              </a:rPr>
              <a:t>R&amp;D,</a:t>
            </a:r>
            <a:r>
              <a:rPr sz="800" spc="-9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transaction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costs,</a:t>
            </a:r>
            <a:r>
              <a:rPr sz="800" spc="-95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applicable</a:t>
            </a:r>
            <a:r>
              <a:rPr sz="800" spc="-9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retention,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restructuring</a:t>
            </a:r>
            <a:r>
              <a:rPr sz="800" spc="-11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and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related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expenses,</a:t>
            </a:r>
            <a:r>
              <a:rPr sz="800" spc="-70" dirty="0">
                <a:latin typeface="Verdana"/>
                <a:cs typeface="Verdana"/>
              </a:rPr>
              <a:t> 	</a:t>
            </a:r>
            <a:r>
              <a:rPr sz="800" spc="-50" dirty="0">
                <a:latin typeface="Verdana"/>
                <a:cs typeface="Verdana"/>
              </a:rPr>
              <a:t>tax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charges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related</a:t>
            </a:r>
            <a:r>
              <a:rPr sz="800" spc="-9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to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acquisition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integration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and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pre-closing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charges,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such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</a:t>
            </a:r>
            <a:r>
              <a:rPr sz="800" spc="-9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financing</a:t>
            </a:r>
            <a:r>
              <a:rPr sz="800" spc="-11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costs.</a:t>
            </a:r>
            <a:r>
              <a:rPr sz="800" spc="-80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2024</a:t>
            </a:r>
            <a:r>
              <a:rPr sz="800" spc="-110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also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</a:t>
            </a:r>
            <a:r>
              <a:rPr sz="800" spc="-90" dirty="0">
                <a:latin typeface="Verdana"/>
                <a:cs typeface="Verdana"/>
              </a:rPr>
              <a:t> </a:t>
            </a:r>
            <a:r>
              <a:rPr sz="800" spc="-30" dirty="0">
                <a:latin typeface="Verdana"/>
                <a:cs typeface="Verdana"/>
              </a:rPr>
              <a:t>loss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90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$18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million</a:t>
            </a:r>
            <a:r>
              <a:rPr sz="800" spc="-114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on</a:t>
            </a:r>
            <a:r>
              <a:rPr sz="800" spc="-9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foreign</a:t>
            </a:r>
            <a:r>
              <a:rPr sz="800" spc="-35" dirty="0">
                <a:latin typeface="Verdana"/>
                <a:cs typeface="Verdana"/>
              </a:rPr>
              <a:t> 	</a:t>
            </a:r>
            <a:r>
              <a:rPr sz="800" spc="-55" dirty="0">
                <a:latin typeface="Verdana"/>
                <a:cs typeface="Verdana"/>
              </a:rPr>
              <a:t>exchange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derivative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contracts</a:t>
            </a:r>
            <a:r>
              <a:rPr sz="800" spc="-9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entered</a:t>
            </a:r>
            <a:r>
              <a:rPr sz="800" spc="-9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into</a:t>
            </a:r>
            <a:r>
              <a:rPr sz="800" spc="-9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by</a:t>
            </a:r>
            <a:r>
              <a:rPr sz="800" spc="-11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the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company</a:t>
            </a:r>
            <a:r>
              <a:rPr sz="800" spc="-11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prior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to</a:t>
            </a:r>
            <a:r>
              <a:rPr sz="800" spc="-11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the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acquisition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of</a:t>
            </a:r>
            <a:r>
              <a:rPr sz="800" spc="-9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StreamSets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and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webMethods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from</a:t>
            </a:r>
            <a:r>
              <a:rPr sz="800" spc="-9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Software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AG.</a:t>
            </a:r>
            <a:endParaRPr sz="800">
              <a:latin typeface="Verdana"/>
              <a:cs typeface="Verdana"/>
            </a:endParaRPr>
          </a:p>
          <a:p>
            <a:pPr marL="183515" marR="5080" indent="-171450">
              <a:lnSpc>
                <a:spcPct val="100000"/>
              </a:lnSpc>
              <a:spcBef>
                <a:spcPts val="305"/>
              </a:spcBef>
              <a:buAutoNum type="arabicParenBoth"/>
              <a:tabLst>
                <a:tab pos="184785" algn="l"/>
              </a:tabLst>
            </a:pP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amortization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prior </a:t>
            </a:r>
            <a:r>
              <a:rPr sz="800" spc="-45" dirty="0">
                <a:latin typeface="Verdana"/>
                <a:cs typeface="Verdana"/>
              </a:rPr>
              <a:t>service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costs,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interest </a:t>
            </a:r>
            <a:r>
              <a:rPr sz="800" spc="-45" dirty="0">
                <a:latin typeface="Verdana"/>
                <a:cs typeface="Verdana"/>
              </a:rPr>
              <a:t>cost,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expected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return on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plan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assets,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amortized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actuarial </a:t>
            </a:r>
            <a:r>
              <a:rPr sz="800" spc="-50" dirty="0">
                <a:latin typeface="Verdana"/>
                <a:cs typeface="Verdana"/>
              </a:rPr>
              <a:t>gains/losses,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impacts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of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70" dirty="0">
                <a:latin typeface="Verdana"/>
                <a:cs typeface="Verdana"/>
              </a:rPr>
              <a:t>any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plan 	</a:t>
            </a:r>
            <a:r>
              <a:rPr sz="800" spc="-50" dirty="0">
                <a:latin typeface="Verdana"/>
                <a:cs typeface="Verdana"/>
              </a:rPr>
              <a:t>curtailments/settlements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and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pension</a:t>
            </a:r>
            <a:r>
              <a:rPr sz="800" spc="-2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insolvency</a:t>
            </a:r>
            <a:r>
              <a:rPr sz="800" spc="-35" dirty="0">
                <a:latin typeface="Verdana"/>
                <a:cs typeface="Verdana"/>
              </a:rPr>
              <a:t> costs </a:t>
            </a:r>
            <a:r>
              <a:rPr sz="800" spc="-60" dirty="0">
                <a:latin typeface="Verdana"/>
                <a:cs typeface="Verdana"/>
              </a:rPr>
              <a:t>and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other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costs.</a:t>
            </a:r>
            <a:endParaRPr sz="800">
              <a:latin typeface="Verdana"/>
              <a:cs typeface="Verdana"/>
            </a:endParaRPr>
          </a:p>
          <a:p>
            <a:pPr marL="183515" marR="73025" indent="-171450">
              <a:lnSpc>
                <a:spcPct val="100000"/>
              </a:lnSpc>
              <a:spcBef>
                <a:spcPts val="300"/>
              </a:spcBef>
              <a:buAutoNum type="arabicParenBoth"/>
              <a:tabLst>
                <a:tab pos="184785" algn="l"/>
              </a:tabLst>
            </a:pPr>
            <a:r>
              <a:rPr sz="800" spc="-50" dirty="0">
                <a:latin typeface="Verdana"/>
                <a:cs typeface="Verdana"/>
              </a:rPr>
              <a:t>The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tax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impact</a:t>
            </a:r>
            <a:r>
              <a:rPr sz="800" spc="-55" dirty="0">
                <a:latin typeface="Verdana"/>
                <a:cs typeface="Verdana"/>
              </a:rPr>
              <a:t> on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operating </a:t>
            </a:r>
            <a:r>
              <a:rPr sz="800" spc="-70" dirty="0">
                <a:latin typeface="Verdana"/>
                <a:cs typeface="Verdana"/>
              </a:rPr>
              <a:t>(non-</a:t>
            </a:r>
            <a:r>
              <a:rPr sz="800" spc="-60" dirty="0">
                <a:latin typeface="Verdana"/>
                <a:cs typeface="Verdana"/>
              </a:rPr>
              <a:t>GAAP)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pre-</a:t>
            </a:r>
            <a:r>
              <a:rPr sz="800" spc="-60" dirty="0">
                <a:latin typeface="Verdana"/>
                <a:cs typeface="Verdana"/>
              </a:rPr>
              <a:t>tax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income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from</a:t>
            </a:r>
            <a:r>
              <a:rPr sz="800" spc="-55" dirty="0">
                <a:latin typeface="Verdana"/>
                <a:cs typeface="Verdana"/>
              </a:rPr>
              <a:t> continuing</a:t>
            </a:r>
            <a:r>
              <a:rPr sz="800" spc="-50" dirty="0">
                <a:latin typeface="Verdana"/>
                <a:cs typeface="Verdana"/>
              </a:rPr>
              <a:t> operations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30" dirty="0">
                <a:latin typeface="Verdana"/>
                <a:cs typeface="Verdana"/>
              </a:rPr>
              <a:t>is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calculated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under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the</a:t>
            </a:r>
            <a:r>
              <a:rPr sz="800" spc="-60" dirty="0">
                <a:latin typeface="Verdana"/>
                <a:cs typeface="Verdana"/>
              </a:rPr>
              <a:t> same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accounting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principles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applied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to 	</a:t>
            </a:r>
            <a:r>
              <a:rPr sz="800" spc="-50" dirty="0">
                <a:latin typeface="Verdana"/>
                <a:cs typeface="Verdana"/>
              </a:rPr>
              <a:t>the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GAAP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pre-</a:t>
            </a:r>
            <a:r>
              <a:rPr sz="800" spc="-50" dirty="0">
                <a:latin typeface="Verdana"/>
                <a:cs typeface="Verdana"/>
              </a:rPr>
              <a:t>tax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income.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8314" y="531368"/>
            <a:ext cx="4927600" cy="85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CORPORATION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800" b="1" spc="-20" dirty="0">
                <a:latin typeface="Tahoma"/>
                <a:cs typeface="Tahoma"/>
              </a:rPr>
              <a:t>U.S.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GAAP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40" dirty="0">
                <a:latin typeface="Tahoma"/>
                <a:cs typeface="Tahoma"/>
              </a:rPr>
              <a:t>TO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OPERATING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60" dirty="0">
                <a:latin typeface="Tahoma"/>
                <a:cs typeface="Tahoma"/>
              </a:rPr>
              <a:t>(Non-</a:t>
            </a:r>
            <a:r>
              <a:rPr sz="800" b="1" spc="-35" dirty="0">
                <a:latin typeface="Tahoma"/>
                <a:cs typeface="Tahoma"/>
              </a:rPr>
              <a:t>GAAP)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RESULTS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RECONCILIATION</a:t>
            </a:r>
            <a:endParaRPr sz="800">
              <a:latin typeface="Tahoma"/>
              <a:cs typeface="Tahoma"/>
            </a:endParaRPr>
          </a:p>
          <a:p>
            <a:pPr marL="255270">
              <a:lnSpc>
                <a:spcPct val="100000"/>
              </a:lnSpc>
              <a:spcBef>
                <a:spcPts val="5"/>
              </a:spcBef>
            </a:pPr>
            <a:r>
              <a:rPr sz="800" b="1" spc="-40" dirty="0">
                <a:latin typeface="Tahoma"/>
                <a:cs typeface="Tahoma"/>
              </a:rPr>
              <a:t>(Unaudited;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Dollars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in</a:t>
            </a:r>
            <a:r>
              <a:rPr sz="800" b="1" spc="-25" dirty="0">
                <a:latin typeface="Tahoma"/>
                <a:cs typeface="Tahoma"/>
              </a:rPr>
              <a:t> millions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except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per</a:t>
            </a:r>
            <a:r>
              <a:rPr sz="800" b="1" spc="-30" dirty="0">
                <a:latin typeface="Tahoma"/>
                <a:cs typeface="Tahoma"/>
              </a:rPr>
              <a:t> share</a:t>
            </a:r>
            <a:r>
              <a:rPr sz="800" b="1" spc="-10" dirty="0">
                <a:latin typeface="Tahoma"/>
                <a:cs typeface="Tahoma"/>
              </a:rPr>
              <a:t> amounts)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800">
              <a:latin typeface="Tahoma"/>
              <a:cs typeface="Tahoma"/>
            </a:endParaRPr>
          </a:p>
          <a:p>
            <a:pPr marL="521334" algn="ctr">
              <a:lnSpc>
                <a:spcPct val="100000"/>
              </a:lnSpc>
            </a:pPr>
            <a:r>
              <a:rPr sz="800" b="1" spc="-25" dirty="0">
                <a:latin typeface="Tahoma"/>
                <a:cs typeface="Tahoma"/>
              </a:rPr>
              <a:t>Six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4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20" dirty="0">
                <a:latin typeface="Tahoma"/>
                <a:cs typeface="Tahoma"/>
              </a:rPr>
              <a:t>June</a:t>
            </a:r>
            <a:r>
              <a:rPr sz="800" b="1" spc="-30" dirty="0">
                <a:latin typeface="Tahoma"/>
                <a:cs typeface="Tahoma"/>
              </a:rPr>
              <a:t> 30,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2025</a:t>
            </a:r>
            <a:endParaRPr sz="800">
              <a:latin typeface="Tahoma"/>
              <a:cs typeface="Tahoma"/>
            </a:endParaRPr>
          </a:p>
          <a:p>
            <a:pPr marL="519430" algn="ctr">
              <a:lnSpc>
                <a:spcPct val="100000"/>
              </a:lnSpc>
              <a:spcBef>
                <a:spcPts val="170"/>
              </a:spcBef>
              <a:tabLst>
                <a:tab pos="2174875" algn="l"/>
                <a:tab pos="4901565" algn="l"/>
              </a:tabLst>
            </a:pPr>
            <a:r>
              <a:rPr sz="800" b="1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sz="800" b="1" u="sng" spc="-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Continuing</a:t>
            </a:r>
            <a:r>
              <a:rPr sz="800" b="1" u="sng" spc="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800" b="1" u="sng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Operations</a:t>
            </a:r>
            <a:r>
              <a:rPr sz="800" b="1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91154" y="1581658"/>
            <a:ext cx="3060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0" dirty="0">
                <a:latin typeface="Tahoma"/>
                <a:cs typeface="Tahoma"/>
              </a:rPr>
              <a:t>GAAP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53078" y="1383537"/>
            <a:ext cx="793115" cy="3829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7465" marR="30480" algn="ctr">
              <a:lnSpc>
                <a:spcPts val="919"/>
              </a:lnSpc>
              <a:spcBef>
                <a:spcPts val="165"/>
              </a:spcBef>
            </a:pPr>
            <a:r>
              <a:rPr sz="800" b="1" spc="-10" dirty="0">
                <a:latin typeface="Tahoma"/>
                <a:cs typeface="Tahoma"/>
              </a:rPr>
              <a:t>Acquisition- Related </a:t>
            </a:r>
            <a:r>
              <a:rPr sz="800" b="1" spc="-35" dirty="0">
                <a:latin typeface="Tahoma"/>
                <a:cs typeface="Tahoma"/>
              </a:rPr>
              <a:t>Adjustments</a:t>
            </a:r>
            <a:r>
              <a:rPr sz="800" b="1" spc="10" dirty="0">
                <a:latin typeface="Tahoma"/>
                <a:cs typeface="Tahoma"/>
              </a:rPr>
              <a:t> </a:t>
            </a:r>
            <a:r>
              <a:rPr sz="750" b="1" spc="-67" baseline="33333" dirty="0">
                <a:latin typeface="Tahoma"/>
                <a:cs typeface="Tahoma"/>
              </a:rPr>
              <a:t>(1)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52136" y="1383537"/>
            <a:ext cx="793115" cy="3829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 marR="30480" algn="ctr">
              <a:lnSpc>
                <a:spcPts val="919"/>
              </a:lnSpc>
              <a:spcBef>
                <a:spcPts val="165"/>
              </a:spcBef>
            </a:pPr>
            <a:r>
              <a:rPr sz="800" b="1" spc="-10" dirty="0">
                <a:latin typeface="Tahoma"/>
                <a:cs typeface="Tahoma"/>
              </a:rPr>
              <a:t>Retirement- Related </a:t>
            </a:r>
            <a:r>
              <a:rPr sz="800" b="1" spc="-35" dirty="0">
                <a:latin typeface="Tahoma"/>
                <a:cs typeface="Tahoma"/>
              </a:rPr>
              <a:t>Adjustments</a:t>
            </a:r>
            <a:r>
              <a:rPr sz="800" b="1" spc="5" dirty="0">
                <a:latin typeface="Tahoma"/>
                <a:cs typeface="Tahoma"/>
              </a:rPr>
              <a:t> </a:t>
            </a:r>
            <a:r>
              <a:rPr sz="750" b="1" spc="-67" baseline="33333" dirty="0">
                <a:latin typeface="Tahoma"/>
                <a:cs typeface="Tahoma"/>
              </a:rPr>
              <a:t>(2)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28157" y="1383537"/>
            <a:ext cx="422909" cy="3797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indent="635" algn="ctr">
              <a:lnSpc>
                <a:spcPts val="910"/>
              </a:lnSpc>
              <a:spcBef>
                <a:spcPts val="175"/>
              </a:spcBef>
            </a:pPr>
            <a:r>
              <a:rPr sz="800" b="1" spc="-25" dirty="0">
                <a:latin typeface="Tahoma"/>
                <a:cs typeface="Tahoma"/>
              </a:rPr>
              <a:t>Tax </a:t>
            </a:r>
            <a:r>
              <a:rPr sz="800" b="1" spc="-10" dirty="0">
                <a:latin typeface="Tahoma"/>
                <a:cs typeface="Tahoma"/>
              </a:rPr>
              <a:t>Reform </a:t>
            </a:r>
            <a:r>
              <a:rPr sz="800" b="1" spc="-30" dirty="0">
                <a:latin typeface="Tahoma"/>
                <a:cs typeface="Tahoma"/>
              </a:rPr>
              <a:t>Impacts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36257" y="1383537"/>
            <a:ext cx="502284" cy="38163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algn="ctr">
              <a:lnSpc>
                <a:spcPct val="95600"/>
              </a:lnSpc>
              <a:spcBef>
                <a:spcPts val="145"/>
              </a:spcBef>
            </a:pPr>
            <a:r>
              <a:rPr sz="800" b="1" spc="-40" dirty="0">
                <a:latin typeface="Tahoma"/>
                <a:cs typeface="Tahoma"/>
              </a:rPr>
              <a:t>Operating</a:t>
            </a:r>
            <a:r>
              <a:rPr sz="800" b="1" spc="-10" dirty="0">
                <a:latin typeface="Tahoma"/>
                <a:cs typeface="Tahoma"/>
              </a:rPr>
              <a:t> (Non- GAAP)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58977" y="1761998"/>
          <a:ext cx="6950709" cy="2520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2355"/>
                <a:gridCol w="173355"/>
                <a:gridCol w="333375"/>
                <a:gridCol w="256539"/>
                <a:gridCol w="318135"/>
                <a:gridCol w="473710"/>
                <a:gridCol w="276225"/>
                <a:gridCol w="350520"/>
                <a:gridCol w="784860"/>
                <a:gridCol w="201295"/>
                <a:gridCol w="499110"/>
                <a:gridCol w="355600"/>
                <a:gridCol w="525145"/>
              </a:tblGrid>
              <a:tr h="1689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Profit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24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18,008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5664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426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24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73406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24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20"/>
                        </a:spcBef>
                        <a:tabLst>
                          <a:tab pos="449580" algn="l"/>
                          <a:tab pos="880744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$</a:t>
                      </a:r>
                      <a:r>
                        <a:rPr sz="800" spc="4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18,434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524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Profit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Margin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57.1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L="73406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—</a:t>
                      </a:r>
                      <a:r>
                        <a:rPr sz="800" spc="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449580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1165860" algn="l"/>
                        </a:tabLst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—</a:t>
                      </a:r>
                      <a:r>
                        <a:rPr sz="800" spc="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58.5</a:t>
                      </a:r>
                      <a:r>
                        <a:rPr sz="800" spc="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78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SG&amp;A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9,913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302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(701)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73406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49580" algn="l"/>
                          <a:tab pos="880744" algn="l"/>
                          <a:tab pos="110490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9,212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46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R&amp;D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4,047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(4)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406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44958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110490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4,043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46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(Income)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gridSpan="2"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(204)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(1)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565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(48)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44958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115824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(253)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Total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Expense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Other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(Income)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gridSpan="2"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14,253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(706)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565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(48)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449580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104394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13,499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78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3,755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7815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1,132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151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48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44958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10490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4,935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6545">
                <a:tc>
                  <a:txBody>
                    <a:bodyPr/>
                    <a:lstStyle/>
                    <a:p>
                      <a:pPr marL="31750" marR="491490">
                        <a:lnSpc>
                          <a:spcPts val="930"/>
                        </a:lnSpc>
                        <a:spcBef>
                          <a:spcPts val="26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Margin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365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50825">
                        <a:lnSpc>
                          <a:spcPct val="100000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11.9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3655" algn="r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65480">
                        <a:lnSpc>
                          <a:spcPct val="100000"/>
                        </a:lnSpc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0.2</a:t>
                      </a:r>
                      <a:r>
                        <a:rPr sz="800" spc="1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49580">
                        <a:lnSpc>
                          <a:spcPct val="100000"/>
                        </a:lnSpc>
                        <a:tabLst>
                          <a:tab pos="1165860" algn="l"/>
                        </a:tabLst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—</a:t>
                      </a:r>
                      <a:r>
                        <a:rPr sz="800" spc="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15.7</a:t>
                      </a:r>
                      <a:r>
                        <a:rPr sz="800" spc="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97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for/(Benefit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Taxes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(3)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2540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27876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507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54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5664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260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54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71755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(3)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54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467995" algn="l"/>
                          <a:tab pos="880744" algn="l"/>
                          <a:tab pos="119316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766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54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809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Effective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Rate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13.5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62928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(0.2)</a:t>
                      </a:r>
                      <a:r>
                        <a:rPr sz="800" spc="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37973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1165860" algn="l"/>
                        </a:tabLst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spc="1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15.5</a:t>
                      </a:r>
                      <a:r>
                        <a:rPr sz="800" spc="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3,248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664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872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69151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51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33070" algn="l"/>
                          <a:tab pos="880744" algn="l"/>
                          <a:tab pos="110490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(2)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4,169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6210"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Margin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 Continuing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L="250825">
                        <a:lnSpc>
                          <a:spcPts val="919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L="665480">
                        <a:lnSpc>
                          <a:spcPts val="919"/>
                        </a:lnSpc>
                        <a:spcBef>
                          <a:spcPts val="209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0.2</a:t>
                      </a:r>
                      <a:r>
                        <a:rPr sz="800" spc="1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367030">
                        <a:lnSpc>
                          <a:spcPts val="919"/>
                        </a:lnSpc>
                        <a:spcBef>
                          <a:spcPts val="209"/>
                        </a:spcBef>
                        <a:tabLst>
                          <a:tab pos="1165860" algn="l"/>
                        </a:tabLst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spc="2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13.2</a:t>
                      </a:r>
                      <a:r>
                        <a:rPr sz="800" spc="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96545">
                <a:tc>
                  <a:txBody>
                    <a:bodyPr/>
                    <a:lstStyle/>
                    <a:p>
                      <a:pPr marL="31750" marR="533400">
                        <a:lnSpc>
                          <a:spcPts val="910"/>
                        </a:lnSpc>
                        <a:spcBef>
                          <a:spcPts val="42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Diluted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Earnings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Per </a:t>
                      </a:r>
                      <a:r>
                        <a:rPr sz="800" spc="-80" dirty="0">
                          <a:latin typeface="Verdana"/>
                          <a:cs typeface="Verdana"/>
                        </a:rPr>
                        <a:t>Share: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533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ts val="944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8105">
                        <a:lnSpc>
                          <a:spcPts val="944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3.43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9215" algn="ctr">
                        <a:lnSpc>
                          <a:spcPts val="944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21615">
                        <a:lnSpc>
                          <a:spcPts val="944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0.92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3975" algn="ctr">
                        <a:lnSpc>
                          <a:spcPts val="944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54635">
                        <a:lnSpc>
                          <a:spcPts val="944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0.05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ts val="944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06045">
                        <a:lnSpc>
                          <a:spcPts val="944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0.00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81610">
                        <a:lnSpc>
                          <a:spcPts val="944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11760">
                        <a:lnSpc>
                          <a:spcPts val="944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4.40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/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4620133" y="1757426"/>
            <a:ext cx="858519" cy="9525"/>
          </a:xfrm>
          <a:custGeom>
            <a:avLst/>
            <a:gdLst/>
            <a:ahLst/>
            <a:cxnLst/>
            <a:rect l="l" t="t" r="r" b="b"/>
            <a:pathLst>
              <a:path w="858520" h="9525">
                <a:moveTo>
                  <a:pt x="858012" y="0"/>
                </a:moveTo>
                <a:lnTo>
                  <a:pt x="0" y="0"/>
                </a:lnTo>
                <a:lnTo>
                  <a:pt x="0" y="9144"/>
                </a:lnTo>
                <a:lnTo>
                  <a:pt x="858012" y="9144"/>
                </a:lnTo>
                <a:lnTo>
                  <a:pt x="8580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53989" y="1757426"/>
            <a:ext cx="572135" cy="9525"/>
          </a:xfrm>
          <a:custGeom>
            <a:avLst/>
            <a:gdLst/>
            <a:ahLst/>
            <a:cxnLst/>
            <a:rect l="l" t="t" r="r" b="b"/>
            <a:pathLst>
              <a:path w="572135" h="9525">
                <a:moveTo>
                  <a:pt x="571804" y="0"/>
                </a:moveTo>
                <a:lnTo>
                  <a:pt x="0" y="0"/>
                </a:lnTo>
                <a:lnTo>
                  <a:pt x="0" y="9144"/>
                </a:lnTo>
                <a:lnTo>
                  <a:pt x="571804" y="9144"/>
                </a:lnTo>
                <a:lnTo>
                  <a:pt x="5718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01714" y="1757426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571500" y="0"/>
                </a:moveTo>
                <a:lnTo>
                  <a:pt x="0" y="0"/>
                </a:lnTo>
                <a:lnTo>
                  <a:pt x="0" y="9144"/>
                </a:lnTo>
                <a:lnTo>
                  <a:pt x="571500" y="9144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778379" y="4546828"/>
            <a:ext cx="4342130" cy="31242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800" b="1" spc="-25" dirty="0">
                <a:latin typeface="Tahoma"/>
                <a:cs typeface="Tahoma"/>
              </a:rPr>
              <a:t>Six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4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20" dirty="0">
                <a:latin typeface="Tahoma"/>
                <a:cs typeface="Tahoma"/>
              </a:rPr>
              <a:t>June</a:t>
            </a:r>
            <a:r>
              <a:rPr sz="800" b="1" spc="-30" dirty="0">
                <a:latin typeface="Tahoma"/>
                <a:cs typeface="Tahoma"/>
              </a:rPr>
              <a:t> 30,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2024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  <a:tabLst>
                <a:tab pos="1621155" algn="l"/>
                <a:tab pos="4316095" algn="l"/>
              </a:tabLst>
            </a:pPr>
            <a:r>
              <a:rPr sz="800" b="1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sz="800" b="1" u="sng" spc="-4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Continuing</a:t>
            </a:r>
            <a:r>
              <a:rPr sz="800" b="1" u="sng" spc="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800" b="1" u="sng" spc="-1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Operations</a:t>
            </a:r>
            <a:r>
              <a:rPr sz="800" b="1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91154" y="5052186"/>
            <a:ext cx="30607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20" dirty="0">
                <a:latin typeface="Tahoma"/>
                <a:cs typeface="Tahoma"/>
              </a:rPr>
              <a:t>GAAP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53078" y="4854066"/>
            <a:ext cx="793115" cy="3829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7465" marR="30480" algn="ctr">
              <a:lnSpc>
                <a:spcPts val="919"/>
              </a:lnSpc>
              <a:spcBef>
                <a:spcPts val="165"/>
              </a:spcBef>
            </a:pPr>
            <a:r>
              <a:rPr sz="800" b="1" spc="-10" dirty="0">
                <a:latin typeface="Tahoma"/>
                <a:cs typeface="Tahoma"/>
              </a:rPr>
              <a:t>Acquisition- Related </a:t>
            </a:r>
            <a:r>
              <a:rPr sz="800" b="1" spc="-35" dirty="0">
                <a:latin typeface="Tahoma"/>
                <a:cs typeface="Tahoma"/>
              </a:rPr>
              <a:t>Adjustments</a:t>
            </a:r>
            <a:r>
              <a:rPr sz="800" b="1" spc="10" dirty="0">
                <a:latin typeface="Tahoma"/>
                <a:cs typeface="Tahoma"/>
              </a:rPr>
              <a:t> </a:t>
            </a:r>
            <a:r>
              <a:rPr sz="750" b="1" spc="-67" baseline="33333" dirty="0">
                <a:latin typeface="Tahoma"/>
                <a:cs typeface="Tahoma"/>
              </a:rPr>
              <a:t>(1)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20133" y="4854066"/>
            <a:ext cx="793115" cy="38290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 marR="30480" algn="ctr">
              <a:lnSpc>
                <a:spcPts val="919"/>
              </a:lnSpc>
              <a:spcBef>
                <a:spcPts val="165"/>
              </a:spcBef>
            </a:pPr>
            <a:r>
              <a:rPr sz="800" b="1" spc="-10" dirty="0">
                <a:latin typeface="Tahoma"/>
                <a:cs typeface="Tahoma"/>
              </a:rPr>
              <a:t>Retirement- Related </a:t>
            </a:r>
            <a:r>
              <a:rPr sz="800" b="1" spc="-35" dirty="0">
                <a:latin typeface="Tahoma"/>
                <a:cs typeface="Tahoma"/>
              </a:rPr>
              <a:t>Adjustments</a:t>
            </a:r>
            <a:r>
              <a:rPr sz="800" b="1" spc="5" dirty="0">
                <a:latin typeface="Tahoma"/>
                <a:cs typeface="Tahoma"/>
              </a:rPr>
              <a:t> </a:t>
            </a:r>
            <a:r>
              <a:rPr sz="750" b="1" spc="-67" baseline="33333" dirty="0">
                <a:latin typeface="Tahoma"/>
                <a:cs typeface="Tahoma"/>
              </a:rPr>
              <a:t>(2)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83884" y="4854066"/>
            <a:ext cx="579755" cy="3797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 marR="30480" indent="-1905" algn="ctr">
              <a:lnSpc>
                <a:spcPts val="910"/>
              </a:lnSpc>
              <a:spcBef>
                <a:spcPts val="175"/>
              </a:spcBef>
            </a:pPr>
            <a:r>
              <a:rPr sz="800" b="1" spc="-25" dirty="0">
                <a:latin typeface="Tahoma"/>
                <a:cs typeface="Tahoma"/>
              </a:rPr>
              <a:t>Tax </a:t>
            </a:r>
            <a:r>
              <a:rPr sz="800" b="1" spc="-10" dirty="0">
                <a:latin typeface="Tahoma"/>
                <a:cs typeface="Tahoma"/>
              </a:rPr>
              <a:t>Reform </a:t>
            </a:r>
            <a:r>
              <a:rPr sz="800" b="1" spc="-30" dirty="0">
                <a:latin typeface="Tahoma"/>
                <a:cs typeface="Tahoma"/>
              </a:rPr>
              <a:t>Impacts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750" b="1" spc="-82" baseline="33333" dirty="0">
                <a:latin typeface="Tahoma"/>
                <a:cs typeface="Tahoma"/>
              </a:rPr>
              <a:t>(4)</a:t>
            </a:r>
            <a:endParaRPr sz="750" baseline="33333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70726" y="4854066"/>
            <a:ext cx="502284" cy="38163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algn="ctr">
              <a:lnSpc>
                <a:spcPct val="95600"/>
              </a:lnSpc>
              <a:spcBef>
                <a:spcPts val="145"/>
              </a:spcBef>
            </a:pPr>
            <a:r>
              <a:rPr sz="800" b="1" spc="-40" dirty="0">
                <a:latin typeface="Tahoma"/>
                <a:cs typeface="Tahoma"/>
              </a:rPr>
              <a:t>Operating</a:t>
            </a:r>
            <a:r>
              <a:rPr sz="800" b="1" spc="-10" dirty="0">
                <a:latin typeface="Tahoma"/>
                <a:cs typeface="Tahoma"/>
              </a:rPr>
              <a:t> (Non- GAAP)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458977" y="5231003"/>
          <a:ext cx="6885305" cy="2340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2355"/>
                <a:gridCol w="173355"/>
                <a:gridCol w="333375"/>
                <a:gridCol w="256539"/>
                <a:gridCol w="318135"/>
                <a:gridCol w="473710"/>
                <a:gridCol w="276225"/>
                <a:gridCol w="318135"/>
                <a:gridCol w="473710"/>
                <a:gridCol w="276225"/>
                <a:gridCol w="195579"/>
                <a:gridCol w="376554"/>
                <a:gridCol w="277495"/>
                <a:gridCol w="206375"/>
                <a:gridCol w="360045"/>
                <a:gridCol w="163829"/>
              </a:tblGrid>
              <a:tr h="1701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Profit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16,692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5664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341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6699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4495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17,033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Profit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Margin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gridSpan="2"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55.2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gridSpan="2"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gridSpan="2"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gridSpan="2"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gridSpan="3"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56.3</a:t>
                      </a:r>
                      <a:r>
                        <a:rPr sz="800" spc="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78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SG&amp;A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9,912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302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(554)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6699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4495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571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9,358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46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(Income)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gridSpan="2">
                  <a:txBody>
                    <a:bodyPr/>
                    <a:lstStyle/>
                    <a:p>
                      <a:pPr marL="243204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(550)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(68)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(194)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105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(812)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52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Total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Expense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Other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(Income)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gridSpan="2"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13,399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(622)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(194)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12,584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46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gridSpan="2"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3,293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963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194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2571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4,449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33985">
                <a:tc>
                  <a:txBody>
                    <a:bodyPr/>
                    <a:lstStyle/>
                    <a:p>
                      <a:pPr marL="31750">
                        <a:lnSpc>
                          <a:spcPts val="765"/>
                        </a:lnSpc>
                        <a:spcBef>
                          <a:spcPts val="19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Margin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Continuing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600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7620" marB="0"/>
                </a:tc>
                <a:tc gridSpan="2"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10.9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14.7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</a:tr>
              <a:tr h="1797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for/(Benefit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Taxes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(3)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25400" marB="0"/>
                </a:tc>
                <a:tc gridSpan="2"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243204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(112)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54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5664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255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54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6273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31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54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3460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436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54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0"/>
                        </a:spcBef>
                        <a:tabLst>
                          <a:tab pos="34544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610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54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9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Effective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Rate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65" dirty="0">
                          <a:latin typeface="Verdana"/>
                          <a:cs typeface="Verdana"/>
                        </a:rPr>
                        <a:t>(3.4)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6.5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37973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13.7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3,405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664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707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664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163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31115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(436)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25717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3,839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6210"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Margin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 Continuing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L="250825">
                        <a:lnSpc>
                          <a:spcPts val="919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11.3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L="344170">
                        <a:lnSpc>
                          <a:spcPts val="919"/>
                        </a:lnSpc>
                        <a:spcBef>
                          <a:spcPts val="209"/>
                        </a:spcBef>
                      </a:pPr>
                      <a:r>
                        <a:rPr sz="800" spc="-65" dirty="0">
                          <a:latin typeface="Verdana"/>
                          <a:cs typeface="Verdana"/>
                        </a:rPr>
                        <a:t>(1.4)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ts val="919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L="318135">
                        <a:lnSpc>
                          <a:spcPts val="919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12.7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919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</a:tr>
              <a:tr h="170815">
                <a:tc>
                  <a:txBody>
                    <a:bodyPr/>
                    <a:lstStyle/>
                    <a:p>
                      <a:pPr marL="31750">
                        <a:lnSpc>
                          <a:spcPts val="840"/>
                        </a:lnSpc>
                        <a:spcBef>
                          <a:spcPts val="40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Diluted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Earnings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Per </a:t>
                      </a:r>
                      <a:r>
                        <a:rPr sz="800" spc="-80" dirty="0">
                          <a:latin typeface="Verdana"/>
                          <a:cs typeface="Verdana"/>
                        </a:rPr>
                        <a:t>Share: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Continuing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25730">
                <a:tc>
                  <a:txBody>
                    <a:bodyPr/>
                    <a:lstStyle/>
                    <a:p>
                      <a:pPr marL="31750">
                        <a:lnSpc>
                          <a:spcPts val="89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89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890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3.65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algn="ctr">
                        <a:lnSpc>
                          <a:spcPts val="89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1615">
                        <a:lnSpc>
                          <a:spcPts val="890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0.76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8900" algn="ctr">
                        <a:lnSpc>
                          <a:spcPts val="89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1615">
                        <a:lnSpc>
                          <a:spcPts val="890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0.17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80645" algn="r">
                        <a:lnSpc>
                          <a:spcPts val="89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890"/>
                        </a:lnSpc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(0.47)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0515">
                        <a:lnSpc>
                          <a:spcPts val="890"/>
                        </a:lnSpc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11760">
                        <a:lnSpc>
                          <a:spcPts val="890"/>
                        </a:lnSpc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4.11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6536181" y="522643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571500" y="0"/>
                </a:moveTo>
                <a:lnTo>
                  <a:pt x="0" y="0"/>
                </a:lnTo>
                <a:lnTo>
                  <a:pt x="0" y="9144"/>
                </a:lnTo>
                <a:lnTo>
                  <a:pt x="571500" y="9144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8055" y="7720329"/>
            <a:ext cx="1266825" cy="12700"/>
          </a:xfrm>
          <a:custGeom>
            <a:avLst/>
            <a:gdLst/>
            <a:ahLst/>
            <a:cxnLst/>
            <a:rect l="l" t="t" r="r" b="b"/>
            <a:pathLst>
              <a:path w="1266825" h="12700">
                <a:moveTo>
                  <a:pt x="1266748" y="0"/>
                </a:moveTo>
                <a:lnTo>
                  <a:pt x="0" y="0"/>
                </a:lnTo>
                <a:lnTo>
                  <a:pt x="0" y="12192"/>
                </a:lnTo>
                <a:lnTo>
                  <a:pt x="1266748" y="12192"/>
                </a:lnTo>
                <a:lnTo>
                  <a:pt x="1266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44500" y="7730490"/>
            <a:ext cx="6885940" cy="1115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marR="64769" indent="-171450">
              <a:lnSpc>
                <a:spcPct val="100000"/>
              </a:lnSpc>
              <a:spcBef>
                <a:spcPts val="100"/>
              </a:spcBef>
              <a:buAutoNum type="arabicParenBoth"/>
              <a:tabLst>
                <a:tab pos="184785" algn="l"/>
              </a:tabLst>
            </a:pP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amortization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acquired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intangible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assets,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process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R&amp;D, </a:t>
            </a:r>
            <a:r>
              <a:rPr sz="800" spc="-50" dirty="0">
                <a:latin typeface="Verdana"/>
                <a:cs typeface="Verdana"/>
              </a:rPr>
              <a:t>transaction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costs,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applicable</a:t>
            </a:r>
            <a:r>
              <a:rPr sz="800" spc="-1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restructuring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and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related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expenses,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tax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charges 	</a:t>
            </a:r>
            <a:r>
              <a:rPr sz="800" spc="-45" dirty="0">
                <a:latin typeface="Verdana"/>
                <a:cs typeface="Verdana"/>
              </a:rPr>
              <a:t>related</a:t>
            </a:r>
            <a:r>
              <a:rPr sz="800" spc="-50" dirty="0">
                <a:latin typeface="Verdana"/>
                <a:cs typeface="Verdana"/>
              </a:rPr>
              <a:t> to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acquisition</a:t>
            </a:r>
            <a:r>
              <a:rPr sz="800" spc="-55" dirty="0">
                <a:latin typeface="Verdana"/>
                <a:cs typeface="Verdana"/>
              </a:rPr>
              <a:t> integration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and</a:t>
            </a:r>
            <a:r>
              <a:rPr sz="800" spc="-50" dirty="0">
                <a:latin typeface="Verdana"/>
                <a:cs typeface="Verdana"/>
              </a:rPr>
              <a:t> pre-</a:t>
            </a:r>
            <a:r>
              <a:rPr sz="800" spc="-45" dirty="0">
                <a:latin typeface="Verdana"/>
                <a:cs typeface="Verdana"/>
              </a:rPr>
              <a:t>closing</a:t>
            </a:r>
            <a:r>
              <a:rPr sz="800" spc="-60" dirty="0">
                <a:latin typeface="Verdana"/>
                <a:cs typeface="Verdana"/>
              </a:rPr>
              <a:t> charges,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such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as financing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costs.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2024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also</a:t>
            </a:r>
            <a:r>
              <a:rPr sz="800" spc="-45" dirty="0">
                <a:latin typeface="Verdana"/>
                <a:cs typeface="Verdana"/>
              </a:rPr>
              <a:t> includes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loss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$68 million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on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foreign </a:t>
            </a:r>
            <a:r>
              <a:rPr sz="800" spc="-10" dirty="0">
                <a:latin typeface="Verdana"/>
                <a:cs typeface="Verdana"/>
              </a:rPr>
              <a:t>exchange 	</a:t>
            </a:r>
            <a:r>
              <a:rPr sz="800" spc="-55" dirty="0">
                <a:latin typeface="Verdana"/>
                <a:cs typeface="Verdana"/>
              </a:rPr>
              <a:t>derivative</a:t>
            </a:r>
            <a:r>
              <a:rPr sz="800" spc="-45" dirty="0">
                <a:latin typeface="Verdana"/>
                <a:cs typeface="Verdana"/>
              </a:rPr>
              <a:t> contracts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entered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into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65" dirty="0">
                <a:latin typeface="Verdana"/>
                <a:cs typeface="Verdana"/>
              </a:rPr>
              <a:t>by</a:t>
            </a:r>
            <a:r>
              <a:rPr sz="800" spc="-50" dirty="0">
                <a:latin typeface="Verdana"/>
                <a:cs typeface="Verdana"/>
              </a:rPr>
              <a:t> the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company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prior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to</a:t>
            </a:r>
            <a:r>
              <a:rPr sz="800" spc="-55" dirty="0">
                <a:latin typeface="Verdana"/>
                <a:cs typeface="Verdana"/>
              </a:rPr>
              <a:t> the</a:t>
            </a:r>
            <a:r>
              <a:rPr sz="800" spc="-45" dirty="0">
                <a:latin typeface="Verdana"/>
                <a:cs typeface="Verdana"/>
              </a:rPr>
              <a:t> acquisition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65" dirty="0">
                <a:latin typeface="Verdana"/>
                <a:cs typeface="Verdana"/>
              </a:rPr>
              <a:t>StreamSets</a:t>
            </a:r>
            <a:r>
              <a:rPr sz="800" spc="-55" dirty="0">
                <a:latin typeface="Verdana"/>
                <a:cs typeface="Verdana"/>
              </a:rPr>
              <a:t> and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webMethods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from</a:t>
            </a:r>
            <a:r>
              <a:rPr sz="800" spc="-55" dirty="0">
                <a:latin typeface="Verdana"/>
                <a:cs typeface="Verdana"/>
              </a:rPr>
              <a:t> Software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AG.</a:t>
            </a:r>
            <a:endParaRPr sz="800">
              <a:latin typeface="Verdana"/>
              <a:cs typeface="Verdana"/>
            </a:endParaRPr>
          </a:p>
          <a:p>
            <a:pPr marL="183515" marR="5080" indent="-171450">
              <a:lnSpc>
                <a:spcPct val="100000"/>
              </a:lnSpc>
              <a:spcBef>
                <a:spcPts val="300"/>
              </a:spcBef>
              <a:buAutoNum type="arabicParenBoth"/>
              <a:tabLst>
                <a:tab pos="184785" algn="l"/>
              </a:tabLst>
            </a:pP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amortization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prior </a:t>
            </a:r>
            <a:r>
              <a:rPr sz="800" spc="-45" dirty="0">
                <a:latin typeface="Verdana"/>
                <a:cs typeface="Verdana"/>
              </a:rPr>
              <a:t>service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costs,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interest </a:t>
            </a:r>
            <a:r>
              <a:rPr sz="800" spc="-45" dirty="0">
                <a:latin typeface="Verdana"/>
                <a:cs typeface="Verdana"/>
              </a:rPr>
              <a:t>cost,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expected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return on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plan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assets,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amortized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actuarial </a:t>
            </a:r>
            <a:r>
              <a:rPr sz="800" spc="-50" dirty="0">
                <a:latin typeface="Verdana"/>
                <a:cs typeface="Verdana"/>
              </a:rPr>
              <a:t>gains/losses,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impacts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of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70" dirty="0">
                <a:latin typeface="Verdana"/>
                <a:cs typeface="Verdana"/>
              </a:rPr>
              <a:t>any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plan 	</a:t>
            </a:r>
            <a:r>
              <a:rPr sz="800" spc="-50" dirty="0">
                <a:latin typeface="Verdana"/>
                <a:cs typeface="Verdana"/>
              </a:rPr>
              <a:t>curtailments/settlements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and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pension</a:t>
            </a:r>
            <a:r>
              <a:rPr sz="800" spc="-2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insolvency</a:t>
            </a:r>
            <a:r>
              <a:rPr sz="800" spc="-35" dirty="0">
                <a:latin typeface="Verdana"/>
                <a:cs typeface="Verdana"/>
              </a:rPr>
              <a:t> costs</a:t>
            </a:r>
            <a:r>
              <a:rPr sz="800" spc="-3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and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other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costs.</a:t>
            </a:r>
            <a:endParaRPr sz="800">
              <a:latin typeface="Verdana"/>
              <a:cs typeface="Verdana"/>
            </a:endParaRPr>
          </a:p>
          <a:p>
            <a:pPr marL="183515" marR="68580" indent="-171450">
              <a:lnSpc>
                <a:spcPct val="100000"/>
              </a:lnSpc>
              <a:spcBef>
                <a:spcPts val="300"/>
              </a:spcBef>
              <a:buAutoNum type="arabicParenBoth"/>
              <a:tabLst>
                <a:tab pos="184785" algn="l"/>
              </a:tabLst>
            </a:pPr>
            <a:r>
              <a:rPr sz="800" spc="-60" dirty="0">
                <a:latin typeface="Verdana"/>
                <a:cs typeface="Verdana"/>
              </a:rPr>
              <a:t>Tax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impact</a:t>
            </a:r>
            <a:r>
              <a:rPr sz="800" spc="-55" dirty="0">
                <a:latin typeface="Verdana"/>
                <a:cs typeface="Verdana"/>
              </a:rPr>
              <a:t> on operating </a:t>
            </a:r>
            <a:r>
              <a:rPr sz="800" spc="-70" dirty="0">
                <a:latin typeface="Verdana"/>
                <a:cs typeface="Verdana"/>
              </a:rPr>
              <a:t>(non-</a:t>
            </a:r>
            <a:r>
              <a:rPr sz="800" spc="-60" dirty="0">
                <a:latin typeface="Verdana"/>
                <a:cs typeface="Verdana"/>
              </a:rPr>
              <a:t>GAAP)</a:t>
            </a:r>
            <a:r>
              <a:rPr sz="800" spc="-50" dirty="0">
                <a:latin typeface="Verdana"/>
                <a:cs typeface="Verdana"/>
              </a:rPr>
              <a:t> pre-</a:t>
            </a:r>
            <a:r>
              <a:rPr sz="800" spc="-60" dirty="0">
                <a:latin typeface="Verdana"/>
                <a:cs typeface="Verdana"/>
              </a:rPr>
              <a:t>tax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income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from</a:t>
            </a:r>
            <a:r>
              <a:rPr sz="800" spc="-55" dirty="0">
                <a:latin typeface="Verdana"/>
                <a:cs typeface="Verdana"/>
              </a:rPr>
              <a:t> continuing</a:t>
            </a:r>
            <a:r>
              <a:rPr sz="800" spc="-50" dirty="0">
                <a:latin typeface="Verdana"/>
                <a:cs typeface="Verdana"/>
              </a:rPr>
              <a:t> operations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is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calculated </a:t>
            </a:r>
            <a:r>
              <a:rPr sz="800" spc="-60" dirty="0">
                <a:latin typeface="Verdana"/>
                <a:cs typeface="Verdana"/>
              </a:rPr>
              <a:t>under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the </a:t>
            </a:r>
            <a:r>
              <a:rPr sz="800" spc="-60" dirty="0">
                <a:latin typeface="Verdana"/>
                <a:cs typeface="Verdana"/>
              </a:rPr>
              <a:t>same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accounting </a:t>
            </a:r>
            <a:r>
              <a:rPr sz="800" spc="-40" dirty="0">
                <a:latin typeface="Verdana"/>
                <a:cs typeface="Verdana"/>
              </a:rPr>
              <a:t>principles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applied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to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the 	</a:t>
            </a:r>
            <a:r>
              <a:rPr sz="800" spc="-50" dirty="0">
                <a:latin typeface="Verdana"/>
                <a:cs typeface="Verdana"/>
              </a:rPr>
              <a:t>GAAP pre-</a:t>
            </a:r>
            <a:r>
              <a:rPr sz="800" spc="-60" dirty="0">
                <a:latin typeface="Verdana"/>
                <a:cs typeface="Verdana"/>
              </a:rPr>
              <a:t>tax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income.</a:t>
            </a:r>
            <a:endParaRPr sz="800">
              <a:latin typeface="Verdana"/>
              <a:cs typeface="Verdana"/>
            </a:endParaRPr>
          </a:p>
          <a:p>
            <a:pPr marL="184150" indent="-171450">
              <a:lnSpc>
                <a:spcPct val="100000"/>
              </a:lnSpc>
              <a:spcBef>
                <a:spcPts val="300"/>
              </a:spcBef>
              <a:buAutoNum type="arabicParenBoth"/>
              <a:tabLst>
                <a:tab pos="184150" algn="l"/>
              </a:tabLst>
            </a:pPr>
            <a:r>
              <a:rPr sz="800" spc="-40" dirty="0">
                <a:latin typeface="Verdana"/>
                <a:cs typeface="Verdana"/>
              </a:rPr>
              <a:t>2024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benefit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from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income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taxes due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to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 </a:t>
            </a:r>
            <a:r>
              <a:rPr sz="800" spc="-50" dirty="0">
                <a:latin typeface="Verdana"/>
                <a:cs typeface="Verdana"/>
              </a:rPr>
              <a:t>resolution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certain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tax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audit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matters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 </a:t>
            </a:r>
            <a:r>
              <a:rPr sz="800" spc="-40" dirty="0">
                <a:latin typeface="Verdana"/>
                <a:cs typeface="Verdana"/>
              </a:rPr>
              <a:t>first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quarter.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0777" y="531368"/>
            <a:ext cx="34512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CORPORATION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800" b="1" spc="-10" dirty="0">
                <a:latin typeface="Tahoma"/>
                <a:cs typeface="Tahoma"/>
              </a:rPr>
              <a:t>GAAP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OPERATING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CASH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FLOW</a:t>
            </a:r>
            <a:r>
              <a:rPr sz="800" b="1" spc="-35" dirty="0">
                <a:latin typeface="Tahoma"/>
                <a:cs typeface="Tahoma"/>
              </a:rPr>
              <a:t> TO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FREE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CASH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FLOW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RECONCILIATION</a:t>
            </a:r>
            <a:endParaRPr sz="800">
              <a:latin typeface="Tahoma"/>
              <a:cs typeface="Tahoma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800" b="1" spc="-10" dirty="0">
                <a:latin typeface="Tahoma"/>
                <a:cs typeface="Tahoma"/>
              </a:rPr>
              <a:t>(Unaudited)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61713" y="1417065"/>
            <a:ext cx="1004569" cy="26543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95910" marR="5080" indent="-283845">
              <a:lnSpc>
                <a:spcPts val="919"/>
              </a:lnSpc>
              <a:spcBef>
                <a:spcPts val="165"/>
              </a:spcBef>
            </a:pPr>
            <a:r>
              <a:rPr sz="800" b="1" spc="-35" dirty="0">
                <a:latin typeface="Tahoma"/>
                <a:cs typeface="Tahoma"/>
              </a:rPr>
              <a:t>Three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20" dirty="0">
                <a:latin typeface="Tahoma"/>
                <a:cs typeface="Tahoma"/>
              </a:rPr>
              <a:t>June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4173" y="1417065"/>
            <a:ext cx="878205" cy="26543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31775" marR="5080" indent="-219710">
              <a:lnSpc>
                <a:spcPts val="919"/>
              </a:lnSpc>
              <a:spcBef>
                <a:spcPts val="165"/>
              </a:spcBef>
            </a:pPr>
            <a:r>
              <a:rPr sz="800" b="1" spc="-25" dirty="0">
                <a:latin typeface="Tahoma"/>
                <a:cs typeface="Tahoma"/>
              </a:rPr>
              <a:t>Six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20" dirty="0">
                <a:latin typeface="Tahoma"/>
                <a:cs typeface="Tahoma"/>
              </a:rPr>
              <a:t>June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43712" y="1714754"/>
          <a:ext cx="6363970" cy="1614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235"/>
                <a:gridCol w="208914"/>
                <a:gridCol w="460375"/>
                <a:gridCol w="225425"/>
                <a:gridCol w="459739"/>
                <a:gridCol w="191135"/>
                <a:gridCol w="427989"/>
                <a:gridCol w="226060"/>
                <a:gridCol w="429895"/>
              </a:tblGrid>
              <a:tr h="17018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62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6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6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6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6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3622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Cash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Operations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per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GAAP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50"/>
                        </a:spcBef>
                        <a:tabLst>
                          <a:tab pos="32131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1,701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0"/>
                        </a:spcBef>
                        <a:tabLst>
                          <a:tab pos="33718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2,066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50"/>
                        </a:spcBef>
                        <a:tabLst>
                          <a:tab pos="26987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6,071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50"/>
                        </a:spcBef>
                        <a:tabLst>
                          <a:tab pos="33845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6,234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2067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65" dirty="0">
                          <a:latin typeface="Verdana"/>
                          <a:cs typeface="Verdana"/>
                        </a:rPr>
                        <a:t>Less: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change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IBM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Financing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receivables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3505" marB="0"/>
                </a:tc>
                <a:tc gridSpan="2">
                  <a:txBody>
                    <a:bodyPr/>
                    <a:lstStyle/>
                    <a:p>
                      <a:pPr marL="27876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(1,480)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35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354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(946)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35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6322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606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35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951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35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2893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operating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activities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excl.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IBM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Financing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receivables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04139" marB="0"/>
                </a:tc>
                <a:tc gridSpan="2">
                  <a:txBody>
                    <a:bodyPr/>
                    <a:lstStyle/>
                    <a:p>
                      <a:pPr marL="32131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3,182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01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3,012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01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6987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5,465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01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5,283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01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27329">
                <a:tc>
                  <a:txBody>
                    <a:bodyPr/>
                    <a:lstStyle/>
                    <a:p>
                      <a:pPr marL="152400">
                        <a:lnSpc>
                          <a:spcPts val="919"/>
                        </a:lnSpc>
                        <a:spcBef>
                          <a:spcPts val="7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Capital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Expenditures,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790" marB="0"/>
                </a:tc>
                <a:tc gridSpan="2">
                  <a:txBody>
                    <a:bodyPr/>
                    <a:lstStyle/>
                    <a:p>
                      <a:pPr marL="367030">
                        <a:lnSpc>
                          <a:spcPts val="919"/>
                        </a:lnSpc>
                        <a:spcBef>
                          <a:spcPts val="7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(336)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7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3540">
                        <a:lnSpc>
                          <a:spcPts val="919"/>
                        </a:lnSpc>
                        <a:spcBef>
                          <a:spcPts val="7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(399)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7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5595">
                        <a:lnSpc>
                          <a:spcPts val="919"/>
                        </a:lnSpc>
                        <a:spcBef>
                          <a:spcPts val="7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(657)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7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4175">
                        <a:lnSpc>
                          <a:spcPts val="919"/>
                        </a:lnSpc>
                        <a:spcBef>
                          <a:spcPts val="770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(761)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7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0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ts val="919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Free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Flow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4925">
                        <a:lnSpc>
                          <a:spcPts val="919"/>
                        </a:lnSpc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ts val="919"/>
                        </a:lnSpc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2,845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ts val="919"/>
                        </a:lnSpc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ts val="919"/>
                        </a:lnSpc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2,612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ts val="919"/>
                        </a:lnSpc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8740">
                        <a:lnSpc>
                          <a:spcPts val="919"/>
                        </a:lnSpc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4,808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2069">
                        <a:lnSpc>
                          <a:spcPts val="919"/>
                        </a:lnSpc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ts val="919"/>
                        </a:lnSpc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4,522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4455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8773" y="531368"/>
            <a:ext cx="35153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CORPORATION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800" b="1" spc="-10" dirty="0">
                <a:latin typeface="Tahoma"/>
                <a:cs typeface="Tahoma"/>
              </a:rPr>
              <a:t>GAAP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OPERATING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CASH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FLOW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TO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ADJUSTED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EBITDA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RECONCILIATION</a:t>
            </a:r>
            <a:endParaRPr sz="800">
              <a:latin typeface="Tahoma"/>
              <a:cs typeface="Tahoma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800" b="1" spc="-10" dirty="0">
                <a:latin typeface="Tahoma"/>
                <a:cs typeface="Tahoma"/>
              </a:rPr>
              <a:t>(Unaudited)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04613" y="1090930"/>
            <a:ext cx="1004569" cy="26225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94005" marR="5080" indent="-281940">
              <a:lnSpc>
                <a:spcPts val="900"/>
              </a:lnSpc>
              <a:spcBef>
                <a:spcPts val="180"/>
              </a:spcBef>
            </a:pPr>
            <a:r>
              <a:rPr sz="800" b="1" spc="-35" dirty="0">
                <a:latin typeface="Tahoma"/>
                <a:cs typeface="Tahoma"/>
              </a:rPr>
              <a:t>Three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20" dirty="0">
                <a:latin typeface="Tahoma"/>
                <a:cs typeface="Tahoma"/>
              </a:rPr>
              <a:t>June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72378" y="1090930"/>
            <a:ext cx="878205" cy="26225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31775" marR="5080" indent="-219710">
              <a:lnSpc>
                <a:spcPts val="900"/>
              </a:lnSpc>
              <a:spcBef>
                <a:spcPts val="180"/>
              </a:spcBef>
            </a:pPr>
            <a:r>
              <a:rPr sz="800" b="1" spc="-25" dirty="0">
                <a:latin typeface="Tahoma"/>
                <a:cs typeface="Tahoma"/>
              </a:rPr>
              <a:t>Six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Months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Ended </a:t>
            </a:r>
            <a:r>
              <a:rPr sz="800" b="1" spc="-20" dirty="0">
                <a:latin typeface="Tahoma"/>
                <a:cs typeface="Tahoma"/>
              </a:rPr>
              <a:t>June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30,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43712" y="1380997"/>
          <a:ext cx="6374130" cy="200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4960"/>
                <a:gridCol w="175895"/>
                <a:gridCol w="320039"/>
                <a:gridCol w="48895"/>
                <a:gridCol w="193039"/>
                <a:gridCol w="368300"/>
                <a:gridCol w="193039"/>
                <a:gridCol w="349885"/>
                <a:gridCol w="193675"/>
                <a:gridCol w="329564"/>
              </a:tblGrid>
              <a:tr h="16891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Billions)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33679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Provided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by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Operating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Activities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5"/>
                        </a:spcBef>
                        <a:tabLst>
                          <a:tab pos="29845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1.7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5"/>
                        </a:spcBef>
                        <a:tabLst>
                          <a:tab pos="33464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2.1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5"/>
                        </a:spcBef>
                        <a:tabLst>
                          <a:tab pos="31623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6.1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5"/>
                        </a:spcBef>
                        <a:tabLst>
                          <a:tab pos="31686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6.2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16559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Add:</a:t>
                      </a:r>
                      <a:endParaRPr sz="800">
                        <a:latin typeface="Verdana"/>
                        <a:cs typeface="Verdana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Net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interest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906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02895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9725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20675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21310">
                        <a:lnSpc>
                          <a:spcPct val="100000"/>
                        </a:lnSpc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51130">
                <a:tc>
                  <a:txBody>
                    <a:bodyPr/>
                    <a:lstStyle/>
                    <a:p>
                      <a:pPr marL="152400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for/(Benefit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income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taxes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gridSpan="2">
                  <a:txBody>
                    <a:bodyPr/>
                    <a:lstStyle/>
                    <a:p>
                      <a:pPr marL="302895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9725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0675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74320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35" dirty="0">
                          <a:latin typeface="Verdana"/>
                          <a:cs typeface="Verdana"/>
                        </a:rPr>
                        <a:t>(0.1)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213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ts val="919"/>
                        </a:lnSpc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Less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change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in: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7493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8859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Financing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receivables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06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(1.5)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064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06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06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0640" marB="0"/>
                </a:tc>
              </a:tr>
              <a:tr h="26987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assets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liabilities/other,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net</a:t>
                      </a:r>
                      <a:r>
                        <a:rPr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(1)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19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(1.5)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(1.5)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ts val="919"/>
                        </a:lnSpc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Adjusted</a:t>
                      </a:r>
                      <a:r>
                        <a:rPr sz="800" b="1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EBITDA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ts val="919"/>
                        </a:lnSpc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80645" algn="ctr">
                        <a:lnSpc>
                          <a:spcPts val="919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4.7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0795" algn="ctr">
                        <a:lnSpc>
                          <a:spcPts val="919"/>
                        </a:lnSpc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9850" algn="ctr">
                        <a:lnSpc>
                          <a:spcPts val="919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4.0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1435">
                        <a:lnSpc>
                          <a:spcPts val="919"/>
                        </a:lnSpc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0165" algn="ctr">
                        <a:lnSpc>
                          <a:spcPts val="919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8.1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2069">
                        <a:lnSpc>
                          <a:spcPts val="919"/>
                        </a:lnSpc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0485" algn="ctr">
                        <a:lnSpc>
                          <a:spcPts val="919"/>
                        </a:lnSpc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7.1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734568" y="3525647"/>
            <a:ext cx="1266825" cy="12700"/>
          </a:xfrm>
          <a:custGeom>
            <a:avLst/>
            <a:gdLst/>
            <a:ahLst/>
            <a:cxnLst/>
            <a:rect l="l" t="t" r="r" b="b"/>
            <a:pathLst>
              <a:path w="1266825" h="12700">
                <a:moveTo>
                  <a:pt x="1266748" y="0"/>
                </a:moveTo>
                <a:lnTo>
                  <a:pt x="0" y="0"/>
                </a:lnTo>
                <a:lnTo>
                  <a:pt x="0" y="12191"/>
                </a:lnTo>
                <a:lnTo>
                  <a:pt x="1266748" y="12191"/>
                </a:lnTo>
                <a:lnTo>
                  <a:pt x="1266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1012" y="3535807"/>
            <a:ext cx="61931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</a:pPr>
            <a:r>
              <a:rPr sz="800" spc="-55" dirty="0">
                <a:latin typeface="Verdana"/>
                <a:cs typeface="Verdana"/>
              </a:rPr>
              <a:t>(1)</a:t>
            </a:r>
            <a:r>
              <a:rPr sz="800" spc="12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Other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assets</a:t>
            </a:r>
            <a:r>
              <a:rPr sz="800" spc="-55" dirty="0">
                <a:latin typeface="Verdana"/>
                <a:cs typeface="Verdana"/>
              </a:rPr>
              <a:t> and </a:t>
            </a:r>
            <a:r>
              <a:rPr sz="800" spc="-45" dirty="0">
                <a:latin typeface="Verdana"/>
                <a:cs typeface="Verdana"/>
              </a:rPr>
              <a:t>liabilities/other,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net</a:t>
            </a:r>
            <a:r>
              <a:rPr sz="800" spc="-60" dirty="0">
                <a:latin typeface="Verdana"/>
                <a:cs typeface="Verdana"/>
              </a:rPr>
              <a:t> mainly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consists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5" dirty="0">
                <a:latin typeface="Verdana"/>
                <a:cs typeface="Verdana"/>
              </a:rPr>
              <a:t> Operating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assets</a:t>
            </a:r>
            <a:r>
              <a:rPr sz="800" spc="-55" dirty="0">
                <a:latin typeface="Verdana"/>
                <a:cs typeface="Verdana"/>
              </a:rPr>
              <a:t> and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liabilities/Other,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net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 </a:t>
            </a:r>
            <a:r>
              <a:rPr sz="800" spc="-60" dirty="0">
                <a:latin typeface="Verdana"/>
                <a:cs typeface="Verdana"/>
              </a:rPr>
              <a:t>Cash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Flow</a:t>
            </a:r>
            <a:r>
              <a:rPr sz="800" spc="-8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chart,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workforce </a:t>
            </a:r>
            <a:r>
              <a:rPr sz="800" spc="-50" dirty="0">
                <a:latin typeface="Verdana"/>
                <a:cs typeface="Verdana"/>
              </a:rPr>
              <a:t>rebalancing</a:t>
            </a:r>
            <a:r>
              <a:rPr sz="800" spc="-55" dirty="0">
                <a:latin typeface="Verdana"/>
                <a:cs typeface="Verdana"/>
              </a:rPr>
              <a:t> charges,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non-</a:t>
            </a:r>
            <a:r>
              <a:rPr sz="800" spc="-55" dirty="0">
                <a:latin typeface="Verdana"/>
                <a:cs typeface="Verdana"/>
              </a:rPr>
              <a:t>operating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impacts</a:t>
            </a:r>
            <a:r>
              <a:rPr sz="800" spc="-2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and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corporate</a:t>
            </a:r>
            <a:r>
              <a:rPr sz="800" spc="-30" dirty="0">
                <a:latin typeface="Verdana"/>
                <a:cs typeface="Verdana"/>
              </a:rPr>
              <a:t> </a:t>
            </a:r>
            <a:r>
              <a:rPr sz="800" spc="-70" dirty="0">
                <a:latin typeface="Verdana"/>
                <a:cs typeface="Verdana"/>
              </a:rPr>
              <a:t>(gains)</a:t>
            </a:r>
            <a:r>
              <a:rPr sz="800" spc="-55" dirty="0">
                <a:latin typeface="Verdana"/>
                <a:cs typeface="Verdana"/>
              </a:rPr>
              <a:t> and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charges.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4033</Words>
  <Application>Microsoft Office PowerPoint</Application>
  <PresentationFormat>Custom</PresentationFormat>
  <Paragraphs>1440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 MT</vt:lpstr>
      <vt:lpstr>Calibri</vt:lpstr>
      <vt:lpstr>Tahoma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2Q25 Earnings Press Release</dc:title>
  <dc:creator>IBM</dc:creator>
  <cp:lastModifiedBy>Microsoft account</cp:lastModifiedBy>
  <cp:revision>1</cp:revision>
  <dcterms:created xsi:type="dcterms:W3CDTF">2025-12-14T13:09:22Z</dcterms:created>
  <dcterms:modified xsi:type="dcterms:W3CDTF">2025-12-14T13:11:40Z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2025-12-14T00:00:00Z</vt:filetime>
  </property>
  <property fmtid="{D5CDD505-2E9C-101B-9397-08002B2CF9AE}" pid="5" name="Producer">
    <vt:lpwstr>Microsoft® Word for Microsoft 365</vt:lpwstr>
  </property>
</Properties>
</file>