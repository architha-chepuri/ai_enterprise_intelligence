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2438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ibm.com/investor/events/earnings-3q25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erin.mcelwee@ibm.com" TargetMode="External"/><Relationship Id="rId2" Type="http://schemas.openxmlformats.org/officeDocument/2006/relationships/hyperlink" Target="mailto:tfdavids@us.ibm.com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1012" y="520699"/>
            <a:ext cx="6249670" cy="4362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algn="ctr">
              <a:lnSpc>
                <a:spcPct val="100000"/>
              </a:lnSpc>
              <a:spcBef>
                <a:spcPts val="100"/>
              </a:spcBef>
            </a:pPr>
            <a:r>
              <a:rPr sz="1100" b="1" spc="-55" dirty="0">
                <a:latin typeface="Tahoma"/>
                <a:cs typeface="Tahoma"/>
              </a:rPr>
              <a:t>IBM</a:t>
            </a:r>
            <a:r>
              <a:rPr sz="1100" b="1" spc="-20" dirty="0">
                <a:latin typeface="Tahoma"/>
                <a:cs typeface="Tahoma"/>
              </a:rPr>
              <a:t> </a:t>
            </a:r>
            <a:r>
              <a:rPr sz="1100" b="1" spc="-30" dirty="0">
                <a:latin typeface="Tahoma"/>
                <a:cs typeface="Tahoma"/>
              </a:rPr>
              <a:t>RELEASES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b="1" spc="-60" dirty="0">
                <a:latin typeface="Tahoma"/>
                <a:cs typeface="Tahoma"/>
              </a:rPr>
              <a:t>THIRD-</a:t>
            </a:r>
            <a:r>
              <a:rPr sz="1100" b="1" spc="-50" dirty="0">
                <a:latin typeface="Tahoma"/>
                <a:cs typeface="Tahoma"/>
              </a:rPr>
              <a:t>QUARTER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RESULTS</a:t>
            </a:r>
            <a:endParaRPr sz="1100">
              <a:latin typeface="Tahoma"/>
              <a:cs typeface="Tahoma"/>
            </a:endParaRPr>
          </a:p>
          <a:p>
            <a:pPr marL="207645" marR="139065" algn="ctr">
              <a:lnSpc>
                <a:spcPct val="100000"/>
              </a:lnSpc>
              <a:spcBef>
                <a:spcPts val="20"/>
              </a:spcBef>
            </a:pPr>
            <a:r>
              <a:rPr sz="1000" b="1" spc="-35" dirty="0">
                <a:latin typeface="Tahoma"/>
                <a:cs typeface="Tahoma"/>
              </a:rPr>
              <a:t>Acceleration</a:t>
            </a:r>
            <a:r>
              <a:rPr sz="1000" b="1" spc="-20" dirty="0">
                <a:latin typeface="Tahoma"/>
                <a:cs typeface="Tahoma"/>
              </a:rPr>
              <a:t> </a:t>
            </a:r>
            <a:r>
              <a:rPr sz="1000" b="1" spc="-35" dirty="0">
                <a:latin typeface="Tahoma"/>
                <a:cs typeface="Tahoma"/>
              </a:rPr>
              <a:t>in </a:t>
            </a:r>
            <a:r>
              <a:rPr sz="1000" b="1" spc="-45" dirty="0">
                <a:latin typeface="Tahoma"/>
                <a:cs typeface="Tahoma"/>
              </a:rPr>
              <a:t>revenue</a:t>
            </a:r>
            <a:r>
              <a:rPr sz="1000" b="1" spc="-25" dirty="0">
                <a:latin typeface="Tahoma"/>
                <a:cs typeface="Tahoma"/>
              </a:rPr>
              <a:t> </a:t>
            </a:r>
            <a:r>
              <a:rPr sz="1000" b="1" spc="-55" dirty="0">
                <a:latin typeface="Tahoma"/>
                <a:cs typeface="Tahoma"/>
              </a:rPr>
              <a:t>growth</a:t>
            </a:r>
            <a:r>
              <a:rPr sz="1000" b="1" spc="-20" dirty="0">
                <a:latin typeface="Tahoma"/>
                <a:cs typeface="Tahoma"/>
              </a:rPr>
              <a:t> </a:t>
            </a:r>
            <a:r>
              <a:rPr sz="1000" b="1" spc="-40" dirty="0">
                <a:latin typeface="Tahoma"/>
                <a:cs typeface="Tahoma"/>
              </a:rPr>
              <a:t>and</a:t>
            </a:r>
            <a:r>
              <a:rPr sz="1000" b="1" spc="-30" dirty="0">
                <a:latin typeface="Tahoma"/>
                <a:cs typeface="Tahoma"/>
              </a:rPr>
              <a:t> </a:t>
            </a:r>
            <a:r>
              <a:rPr sz="1000" b="1" spc="-35" dirty="0">
                <a:latin typeface="Tahoma"/>
                <a:cs typeface="Tahoma"/>
              </a:rPr>
              <a:t>profit across</a:t>
            </a:r>
            <a:r>
              <a:rPr sz="1000" b="1" spc="-30" dirty="0">
                <a:latin typeface="Tahoma"/>
                <a:cs typeface="Tahoma"/>
              </a:rPr>
              <a:t> </a:t>
            </a:r>
            <a:r>
              <a:rPr sz="1000" b="1" spc="-20" dirty="0">
                <a:latin typeface="Tahoma"/>
                <a:cs typeface="Tahoma"/>
              </a:rPr>
              <a:t>all</a:t>
            </a:r>
            <a:r>
              <a:rPr sz="1000" b="1" spc="-30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segments;</a:t>
            </a:r>
            <a:r>
              <a:rPr sz="1000" b="1" spc="-30" dirty="0">
                <a:latin typeface="Tahoma"/>
                <a:cs typeface="Tahoma"/>
              </a:rPr>
              <a:t> </a:t>
            </a:r>
            <a:r>
              <a:rPr sz="1000" b="1" spc="-35" dirty="0">
                <a:latin typeface="Tahoma"/>
                <a:cs typeface="Tahoma"/>
              </a:rPr>
              <a:t>Raises</a:t>
            </a:r>
            <a:r>
              <a:rPr sz="1000" b="1" spc="-25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outlook</a:t>
            </a:r>
            <a:r>
              <a:rPr sz="1000" b="1" spc="-25" dirty="0">
                <a:latin typeface="Tahoma"/>
                <a:cs typeface="Tahoma"/>
              </a:rPr>
              <a:t> </a:t>
            </a:r>
            <a:r>
              <a:rPr sz="1000" b="1" spc="-40" dirty="0">
                <a:latin typeface="Tahoma"/>
                <a:cs typeface="Tahoma"/>
              </a:rPr>
              <a:t>for</a:t>
            </a:r>
            <a:r>
              <a:rPr sz="1000" b="1" spc="-20" dirty="0">
                <a:latin typeface="Tahoma"/>
                <a:cs typeface="Tahoma"/>
              </a:rPr>
              <a:t> full-</a:t>
            </a:r>
            <a:r>
              <a:rPr sz="1000" b="1" spc="-45" dirty="0">
                <a:latin typeface="Tahoma"/>
                <a:cs typeface="Tahoma"/>
              </a:rPr>
              <a:t>year</a:t>
            </a:r>
            <a:r>
              <a:rPr sz="1000" b="1" spc="-25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revenue </a:t>
            </a:r>
            <a:r>
              <a:rPr sz="1000" b="1" spc="-55" dirty="0">
                <a:latin typeface="Tahoma"/>
                <a:cs typeface="Tahoma"/>
              </a:rPr>
              <a:t>growth</a:t>
            </a:r>
            <a:r>
              <a:rPr sz="1000" b="1" spc="-30" dirty="0">
                <a:latin typeface="Tahoma"/>
                <a:cs typeface="Tahoma"/>
              </a:rPr>
              <a:t> </a:t>
            </a:r>
            <a:r>
              <a:rPr sz="1000" b="1" spc="-40" dirty="0">
                <a:latin typeface="Tahoma"/>
                <a:cs typeface="Tahoma"/>
              </a:rPr>
              <a:t>and</a:t>
            </a:r>
            <a:r>
              <a:rPr sz="1000" b="1" spc="-45" dirty="0">
                <a:latin typeface="Tahoma"/>
                <a:cs typeface="Tahoma"/>
              </a:rPr>
              <a:t> </a:t>
            </a:r>
            <a:r>
              <a:rPr sz="1000" b="1" spc="-40" dirty="0">
                <a:latin typeface="Tahoma"/>
                <a:cs typeface="Tahoma"/>
              </a:rPr>
              <a:t>free</a:t>
            </a:r>
            <a:r>
              <a:rPr sz="1000" b="1" spc="-35" dirty="0">
                <a:latin typeface="Tahoma"/>
                <a:cs typeface="Tahoma"/>
              </a:rPr>
              <a:t> cash</a:t>
            </a:r>
            <a:r>
              <a:rPr sz="1000" b="1" spc="-40" dirty="0">
                <a:latin typeface="Tahoma"/>
                <a:cs typeface="Tahoma"/>
              </a:rPr>
              <a:t> </a:t>
            </a:r>
            <a:r>
              <a:rPr sz="1000" b="1" spc="-20" dirty="0">
                <a:latin typeface="Tahoma"/>
                <a:cs typeface="Tahoma"/>
              </a:rPr>
              <a:t>flow</a:t>
            </a:r>
            <a:endParaRPr sz="1000">
              <a:latin typeface="Tahoma"/>
              <a:cs typeface="Tahoma"/>
            </a:endParaRPr>
          </a:p>
          <a:p>
            <a:pPr marL="12700" marR="33655" indent="457200">
              <a:lnSpc>
                <a:spcPct val="100000"/>
              </a:lnSpc>
              <a:spcBef>
                <a:spcPts val="1185"/>
              </a:spcBef>
            </a:pPr>
            <a:r>
              <a:rPr sz="1100" spc="-70" dirty="0">
                <a:latin typeface="Verdana"/>
                <a:cs typeface="Verdana"/>
              </a:rPr>
              <a:t>ARMONK,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N.Y.,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October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22,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2025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0" dirty="0">
                <a:latin typeface="Verdana"/>
                <a:cs typeface="Verdana"/>
              </a:rPr>
              <a:t>.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0" dirty="0">
                <a:latin typeface="Verdana"/>
                <a:cs typeface="Verdana"/>
              </a:rPr>
              <a:t>.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100" dirty="0">
                <a:latin typeface="Verdana"/>
                <a:cs typeface="Verdana"/>
              </a:rPr>
              <a:t>. </a:t>
            </a:r>
            <a:r>
              <a:rPr sz="1100" spc="-40" dirty="0">
                <a:latin typeface="Verdana"/>
                <a:cs typeface="Verdana"/>
              </a:rPr>
              <a:t>IBM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105" dirty="0">
                <a:latin typeface="Verdana"/>
                <a:cs typeface="Verdana"/>
              </a:rPr>
              <a:t>(NYSE: </a:t>
            </a:r>
            <a:r>
              <a:rPr sz="1100" spc="-65" dirty="0">
                <a:latin typeface="Verdana"/>
                <a:cs typeface="Verdana"/>
              </a:rPr>
              <a:t>IBM)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today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announced </a:t>
            </a:r>
            <a:r>
              <a:rPr sz="1100" spc="-65" dirty="0">
                <a:latin typeface="Verdana"/>
                <a:cs typeface="Verdana"/>
              </a:rPr>
              <a:t>third-</a:t>
            </a:r>
            <a:r>
              <a:rPr sz="1100" spc="-75" dirty="0">
                <a:latin typeface="Verdana"/>
                <a:cs typeface="Verdana"/>
              </a:rPr>
              <a:t>quarter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2025 </a:t>
            </a:r>
            <a:r>
              <a:rPr sz="1100" spc="-75" dirty="0">
                <a:latin typeface="Verdana"/>
                <a:cs typeface="Verdana"/>
              </a:rPr>
              <a:t>earnings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results.</a:t>
            </a:r>
            <a:endParaRPr sz="1100">
              <a:latin typeface="Verdana"/>
              <a:cs typeface="Verdana"/>
            </a:endParaRPr>
          </a:p>
          <a:p>
            <a:pPr marL="12700" marR="98425" indent="457200">
              <a:lnSpc>
                <a:spcPct val="100000"/>
              </a:lnSpc>
            </a:pPr>
            <a:r>
              <a:rPr sz="1100" spc="-40" dirty="0">
                <a:latin typeface="Verdana"/>
                <a:cs typeface="Verdana"/>
              </a:rPr>
              <a:t>“This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quarter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we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accelerated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performance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across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all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our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segments,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and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again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exceeded </a:t>
            </a:r>
            <a:r>
              <a:rPr sz="1100" spc="-65" dirty="0">
                <a:latin typeface="Verdana"/>
                <a:cs typeface="Verdana"/>
              </a:rPr>
              <a:t>expectations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for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revenue, </a:t>
            </a:r>
            <a:r>
              <a:rPr sz="1100" spc="-55" dirty="0">
                <a:latin typeface="Verdana"/>
                <a:cs typeface="Verdana"/>
              </a:rPr>
              <a:t>profit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free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flow.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Clients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globally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continue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leverage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our </a:t>
            </a:r>
            <a:r>
              <a:rPr sz="1100" spc="-70" dirty="0">
                <a:latin typeface="Verdana"/>
                <a:cs typeface="Verdana"/>
              </a:rPr>
              <a:t>technology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80" dirty="0">
                <a:latin typeface="Verdana"/>
                <a:cs typeface="Verdana"/>
              </a:rPr>
              <a:t> domain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expertise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to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drive</a:t>
            </a:r>
            <a:r>
              <a:rPr sz="1100" spc="-70" dirty="0">
                <a:latin typeface="Verdana"/>
                <a:cs typeface="Verdana"/>
              </a:rPr>
              <a:t> productivity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their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operations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deliver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real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business </a:t>
            </a:r>
            <a:r>
              <a:rPr sz="1100" spc="-70" dirty="0">
                <a:latin typeface="Verdana"/>
                <a:cs typeface="Verdana"/>
              </a:rPr>
              <a:t>value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with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AI.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Our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AI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book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of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business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now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stands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more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than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$9.5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billion,"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said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Arvind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Krishna, </a:t>
            </a:r>
            <a:r>
              <a:rPr sz="1100" spc="-35" dirty="0">
                <a:latin typeface="Verdana"/>
                <a:cs typeface="Verdana"/>
              </a:rPr>
              <a:t>IBM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chairman, </a:t>
            </a:r>
            <a:r>
              <a:rPr sz="1100" spc="-60" dirty="0">
                <a:latin typeface="Verdana"/>
                <a:cs typeface="Verdana"/>
              </a:rPr>
              <a:t>president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chief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executive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officer.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"Given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strength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of</a:t>
            </a:r>
            <a:r>
              <a:rPr sz="1100" spc="-80" dirty="0">
                <a:latin typeface="Verdana"/>
                <a:cs typeface="Verdana"/>
              </a:rPr>
              <a:t> our </a:t>
            </a:r>
            <a:r>
              <a:rPr sz="1100" spc="-65" dirty="0">
                <a:latin typeface="Verdana"/>
                <a:cs typeface="Verdana"/>
              </a:rPr>
              <a:t>business,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we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are </a:t>
            </a:r>
            <a:r>
              <a:rPr sz="1100" spc="-70" dirty="0">
                <a:latin typeface="Verdana"/>
                <a:cs typeface="Verdana"/>
              </a:rPr>
              <a:t>raising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our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full-</a:t>
            </a:r>
            <a:r>
              <a:rPr sz="1100" spc="-85" dirty="0">
                <a:latin typeface="Verdana"/>
                <a:cs typeface="Verdana"/>
              </a:rPr>
              <a:t>year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outlook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for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revenue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growth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and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free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flow.”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100" b="1" spc="-40" dirty="0">
                <a:latin typeface="Tahoma"/>
                <a:cs typeface="Tahoma"/>
              </a:rPr>
              <a:t>Third-</a:t>
            </a:r>
            <a:r>
              <a:rPr sz="1100" b="1" spc="-50" dirty="0">
                <a:latin typeface="Tahoma"/>
                <a:cs typeface="Tahoma"/>
              </a:rPr>
              <a:t>Quarter</a:t>
            </a:r>
            <a:r>
              <a:rPr sz="1100" b="1" spc="1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Highlights</a:t>
            </a:r>
            <a:endParaRPr sz="110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Char char="•"/>
              <a:tabLst>
                <a:tab pos="241300" algn="l"/>
              </a:tabLst>
            </a:pPr>
            <a:r>
              <a:rPr sz="1100" spc="-10" dirty="0">
                <a:latin typeface="Verdana"/>
                <a:cs typeface="Verdana"/>
              </a:rPr>
              <a:t>Revenue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80" dirty="0">
                <a:latin typeface="Verdana"/>
                <a:cs typeface="Verdana"/>
              </a:rPr>
              <a:t>Revenue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$16.3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billion,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9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percent,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7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spcBef>
                <a:spcPts val="5"/>
              </a:spcBef>
              <a:buChar char="–"/>
              <a:tabLst>
                <a:tab pos="412750" algn="l"/>
              </a:tabLst>
            </a:pPr>
            <a:r>
              <a:rPr sz="1100" spc="-75" dirty="0">
                <a:latin typeface="Verdana"/>
                <a:cs typeface="Verdana"/>
              </a:rPr>
              <a:t>Software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revenue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10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percent,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9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65" dirty="0">
                <a:latin typeface="Verdana"/>
                <a:cs typeface="Verdana"/>
              </a:rPr>
              <a:t>Consulting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revenue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3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percent,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2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65" dirty="0">
                <a:latin typeface="Verdana"/>
                <a:cs typeface="Verdana"/>
              </a:rPr>
              <a:t>Infrastructure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revenue up </a:t>
            </a:r>
            <a:r>
              <a:rPr sz="1100" spc="-50" dirty="0">
                <a:latin typeface="Verdana"/>
                <a:cs typeface="Verdana"/>
              </a:rPr>
              <a:t>17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15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spcBef>
                <a:spcPts val="300"/>
              </a:spcBef>
              <a:buChar char="•"/>
              <a:tabLst>
                <a:tab pos="184785" algn="l"/>
              </a:tabLst>
            </a:pPr>
            <a:r>
              <a:rPr sz="1100" spc="-10" dirty="0">
                <a:latin typeface="Verdana"/>
                <a:cs typeface="Verdana"/>
              </a:rPr>
              <a:t>Profit</a:t>
            </a:r>
            <a:endParaRPr sz="1100">
              <a:latin typeface="Verdana"/>
              <a:cs typeface="Verdana"/>
            </a:endParaRPr>
          </a:p>
          <a:p>
            <a:pPr marL="412115" marR="5080" lvl="1" indent="-171450">
              <a:lnSpc>
                <a:spcPct val="100000"/>
              </a:lnSpc>
              <a:buChar char="–"/>
              <a:tabLst>
                <a:tab pos="413384" algn="l"/>
              </a:tabLst>
            </a:pPr>
            <a:r>
              <a:rPr sz="1100" spc="-65" dirty="0">
                <a:latin typeface="Verdana"/>
                <a:cs typeface="Verdana"/>
              </a:rPr>
              <a:t>Gross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Profit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Margin: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GAAP: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57.3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1.1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points;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Operating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(Non-</a:t>
            </a:r>
            <a:r>
              <a:rPr sz="1100" spc="-90" dirty="0">
                <a:latin typeface="Verdana"/>
                <a:cs typeface="Verdana"/>
              </a:rPr>
              <a:t>GAAP): </a:t>
            </a:r>
            <a:r>
              <a:rPr sz="1100" spc="-65" dirty="0">
                <a:latin typeface="Verdana"/>
                <a:cs typeface="Verdana"/>
              </a:rPr>
              <a:t>58.7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30" dirty="0">
                <a:latin typeface="Verdana"/>
                <a:cs typeface="Verdana"/>
              </a:rPr>
              <a:t>percent, 	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1.2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points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50" dirty="0">
                <a:latin typeface="Verdana"/>
                <a:cs typeface="Verdana"/>
              </a:rPr>
              <a:t>Pre-</a:t>
            </a:r>
            <a:r>
              <a:rPr sz="1100" spc="-85" dirty="0">
                <a:latin typeface="Verdana"/>
                <a:cs typeface="Verdana"/>
              </a:rPr>
              <a:t>Tax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Income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Margin: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GAAP: </a:t>
            </a:r>
            <a:r>
              <a:rPr sz="1100" spc="-65" dirty="0">
                <a:latin typeface="Verdana"/>
                <a:cs typeface="Verdana"/>
              </a:rPr>
              <a:t>14.9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20.2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points;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Operating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(Non-</a:t>
            </a:r>
            <a:r>
              <a:rPr sz="1100" spc="-10" dirty="0">
                <a:latin typeface="Verdana"/>
                <a:cs typeface="Verdana"/>
              </a:rPr>
              <a:t>GAAP):</a:t>
            </a:r>
            <a:endParaRPr sz="1100">
              <a:latin typeface="Verdana"/>
              <a:cs typeface="Verdana"/>
            </a:endParaRPr>
          </a:p>
          <a:p>
            <a:pPr marL="413384">
              <a:lnSpc>
                <a:spcPct val="100000"/>
              </a:lnSpc>
            </a:pPr>
            <a:r>
              <a:rPr sz="1100" spc="-65" dirty="0">
                <a:latin typeface="Verdana"/>
                <a:cs typeface="Verdana"/>
              </a:rPr>
              <a:t>18.6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2.0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points</a:t>
            </a:r>
            <a:endParaRPr sz="11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spcBef>
                <a:spcPts val="300"/>
              </a:spcBef>
              <a:buChar char="•"/>
              <a:tabLst>
                <a:tab pos="184785" algn="l"/>
              </a:tabLst>
            </a:pPr>
            <a:r>
              <a:rPr sz="1100" spc="-75" dirty="0">
                <a:latin typeface="Verdana"/>
                <a:cs typeface="Verdana"/>
              </a:rPr>
              <a:t>Cash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Flow</a:t>
            </a:r>
            <a:endParaRPr sz="1100">
              <a:latin typeface="Verdana"/>
              <a:cs typeface="Verdana"/>
            </a:endParaRPr>
          </a:p>
          <a:p>
            <a:pPr marL="24130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–</a:t>
            </a:r>
            <a:r>
              <a:rPr sz="1100" spc="38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Year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to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date,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net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from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operating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activities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of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$9.2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billion;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free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flow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of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$7.2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billion</a:t>
            </a:r>
            <a:endParaRPr sz="1100">
              <a:latin typeface="Verdana"/>
              <a:cs typeface="Verdan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34568" y="5229516"/>
          <a:ext cx="6305544" cy="1978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4380"/>
                <a:gridCol w="527050"/>
                <a:gridCol w="652780"/>
                <a:gridCol w="158750"/>
                <a:gridCol w="339089"/>
                <a:gridCol w="423544"/>
                <a:gridCol w="245744"/>
                <a:gridCol w="516254"/>
                <a:gridCol w="304164"/>
                <a:gridCol w="457200"/>
                <a:gridCol w="370839"/>
                <a:gridCol w="523875"/>
                <a:gridCol w="248920"/>
                <a:gridCol w="531495"/>
                <a:gridCol w="251460"/>
              </a:tblGrid>
              <a:tr h="247015">
                <a:tc gridSpan="15">
                  <a:txBody>
                    <a:bodyPr/>
                    <a:lstStyle/>
                    <a:p>
                      <a:pPr marL="182753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50" b="1" spc="-50" dirty="0">
                          <a:latin typeface="Tahoma"/>
                          <a:cs typeface="Tahoma"/>
                        </a:rPr>
                        <a:t>THIRD</a:t>
                      </a:r>
                      <a:r>
                        <a:rPr sz="950" spc="-5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950" b="1" spc="-45" dirty="0">
                          <a:latin typeface="Tahoma"/>
                          <a:cs typeface="Tahoma"/>
                        </a:rPr>
                        <a:t>QUARTER</a:t>
                      </a:r>
                      <a:r>
                        <a:rPr sz="95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b="1" spc="-40" dirty="0">
                          <a:latin typeface="Tahoma"/>
                          <a:cs typeface="Tahoma"/>
                        </a:rPr>
                        <a:t>2025</a:t>
                      </a:r>
                      <a:r>
                        <a:rPr sz="95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b="1" spc="-55" dirty="0">
                          <a:latin typeface="Tahoma"/>
                          <a:cs typeface="Tahoma"/>
                        </a:rPr>
                        <a:t>INCOME</a:t>
                      </a:r>
                      <a:r>
                        <a:rPr sz="95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b="1" spc="-40" dirty="0">
                          <a:latin typeface="Tahoma"/>
                          <a:cs typeface="Tahoma"/>
                        </a:rPr>
                        <a:t>STATEMENT</a:t>
                      </a:r>
                      <a:r>
                        <a:rPr sz="950" b="1" spc="-10" dirty="0">
                          <a:latin typeface="Tahoma"/>
                          <a:cs typeface="Tahoma"/>
                        </a:rPr>
                        <a:t> SUMMARY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254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18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635" algn="r">
                        <a:lnSpc>
                          <a:spcPct val="100000"/>
                        </a:lnSpc>
                      </a:pPr>
                      <a:r>
                        <a:rPr sz="900" b="1" spc="-10" dirty="0">
                          <a:latin typeface="Tahoma"/>
                          <a:cs typeface="Tahoma"/>
                        </a:rPr>
                        <a:t>Revenue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41630">
                        <a:lnSpc>
                          <a:spcPts val="1030"/>
                        </a:lnSpc>
                      </a:pPr>
                      <a:r>
                        <a:rPr sz="900" b="1" spc="-35" dirty="0">
                          <a:latin typeface="Tahoma"/>
                          <a:cs typeface="Tahoma"/>
                        </a:rPr>
                        <a:t>Gross </a:t>
                      </a:r>
                      <a:r>
                        <a:rPr sz="900" b="1" spc="-30" dirty="0">
                          <a:latin typeface="Tahoma"/>
                          <a:cs typeface="Tahoma"/>
                        </a:rPr>
                        <a:t>Profit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908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02895" marR="83820" algn="just">
                        <a:lnSpc>
                          <a:spcPct val="95000"/>
                        </a:lnSpc>
                        <a:spcBef>
                          <a:spcPts val="790"/>
                        </a:spcBef>
                      </a:pPr>
                      <a:r>
                        <a:rPr sz="900" b="1" spc="-10" dirty="0">
                          <a:latin typeface="Tahoma"/>
                          <a:cs typeface="Tahoma"/>
                        </a:rPr>
                        <a:t>Gross Profit </a:t>
                      </a:r>
                      <a:r>
                        <a:rPr sz="900" b="1" spc="-55" dirty="0">
                          <a:latin typeface="Tahoma"/>
                          <a:cs typeface="Tahoma"/>
                        </a:rPr>
                        <a:t>Margin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003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150" marR="43815">
                        <a:lnSpc>
                          <a:spcPts val="1030"/>
                        </a:lnSpc>
                      </a:pPr>
                      <a:r>
                        <a:rPr sz="900" b="1" spc="-35" dirty="0">
                          <a:latin typeface="Tahoma"/>
                          <a:cs typeface="Tahoma"/>
                        </a:rPr>
                        <a:t>Pre-tax </a:t>
                      </a:r>
                      <a:r>
                        <a:rPr sz="900" b="1" spc="-50" dirty="0">
                          <a:latin typeface="Tahoma"/>
                          <a:cs typeface="Tahoma"/>
                        </a:rPr>
                        <a:t>Income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908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815" algn="just">
                        <a:lnSpc>
                          <a:spcPct val="95000"/>
                        </a:lnSpc>
                        <a:spcBef>
                          <a:spcPts val="790"/>
                        </a:spcBef>
                      </a:pPr>
                      <a:r>
                        <a:rPr sz="900" b="1" spc="-35" dirty="0">
                          <a:latin typeface="Tahoma"/>
                          <a:cs typeface="Tahoma"/>
                        </a:rPr>
                        <a:t>Pre-tax </a:t>
                      </a:r>
                      <a:r>
                        <a:rPr sz="900" b="1" spc="-55" dirty="0">
                          <a:latin typeface="Tahoma"/>
                          <a:cs typeface="Tahoma"/>
                        </a:rPr>
                        <a:t>Income </a:t>
                      </a:r>
                      <a:r>
                        <a:rPr sz="900" b="1" spc="-10" dirty="0">
                          <a:latin typeface="Tahoma"/>
                          <a:cs typeface="Tahoma"/>
                        </a:rPr>
                        <a:t>Margin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003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5405" marR="43180">
                        <a:lnSpc>
                          <a:spcPts val="1030"/>
                        </a:lnSpc>
                      </a:pPr>
                      <a:r>
                        <a:rPr sz="900" b="1" spc="-25" dirty="0">
                          <a:latin typeface="Tahoma"/>
                          <a:cs typeface="Tahoma"/>
                        </a:rPr>
                        <a:t>Net </a:t>
                      </a:r>
                      <a:r>
                        <a:rPr sz="900" b="1" spc="-50" dirty="0">
                          <a:latin typeface="Tahoma"/>
                          <a:cs typeface="Tahoma"/>
                        </a:rPr>
                        <a:t>Income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908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2390" marR="175260">
                        <a:lnSpc>
                          <a:spcPct val="95000"/>
                        </a:lnSpc>
                        <a:spcBef>
                          <a:spcPts val="790"/>
                        </a:spcBef>
                      </a:pPr>
                      <a:r>
                        <a:rPr sz="900" b="1" spc="-10" dirty="0">
                          <a:latin typeface="Tahoma"/>
                          <a:cs typeface="Tahoma"/>
                        </a:rPr>
                        <a:t>Diluted Earnings </a:t>
                      </a:r>
                      <a:r>
                        <a:rPr sz="900" b="1" spc="-25" dirty="0">
                          <a:latin typeface="Tahoma"/>
                          <a:cs typeface="Tahoma"/>
                        </a:rPr>
                        <a:t>Per</a:t>
                      </a:r>
                      <a:r>
                        <a:rPr sz="900" b="1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b="1" spc="-40" dirty="0">
                          <a:latin typeface="Tahoma"/>
                          <a:cs typeface="Tahoma"/>
                        </a:rPr>
                        <a:t>Share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003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9105">
                <a:tc>
                  <a:txBody>
                    <a:bodyPr/>
                    <a:lstStyle/>
                    <a:p>
                      <a:pPr marL="42545" marR="110489" algn="just">
                        <a:lnSpc>
                          <a:spcPts val="1030"/>
                        </a:lnSpc>
                        <a:spcBef>
                          <a:spcPts val="245"/>
                        </a:spcBef>
                      </a:pPr>
                      <a:r>
                        <a:rPr sz="900" b="1" spc="-10" dirty="0">
                          <a:latin typeface="Tahoma"/>
                          <a:cs typeface="Tahoma"/>
                        </a:rPr>
                        <a:t>GAAP</a:t>
                      </a:r>
                      <a:r>
                        <a:rPr sz="900" b="1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b="1" spc="-50" dirty="0">
                          <a:latin typeface="Tahoma"/>
                          <a:cs typeface="Tahoma"/>
                        </a:rPr>
                        <a:t>from </a:t>
                      </a:r>
                      <a:r>
                        <a:rPr sz="900" b="1" spc="-40" dirty="0">
                          <a:latin typeface="Tahoma"/>
                          <a:cs typeface="Tahoma"/>
                        </a:rPr>
                        <a:t>Continuing Operations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b="1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900" b="1" spc="7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b="1" spc="-10" dirty="0">
                          <a:latin typeface="Tahoma"/>
                          <a:cs typeface="Tahoma"/>
                        </a:rPr>
                        <a:t>16.3B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390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b="1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900" b="1" spc="170" dirty="0">
                          <a:latin typeface="Tahoma"/>
                          <a:cs typeface="Tahoma"/>
                        </a:rPr>
                        <a:t>  </a:t>
                      </a:r>
                      <a:r>
                        <a:rPr sz="900" b="1" spc="-20" dirty="0">
                          <a:latin typeface="Tahoma"/>
                          <a:cs typeface="Tahoma"/>
                        </a:rPr>
                        <a:t>9.4B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1968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b="1" spc="-20" dirty="0">
                          <a:latin typeface="Tahoma"/>
                          <a:cs typeface="Tahoma"/>
                        </a:rPr>
                        <a:t>57.3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768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1968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b="1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900" b="1" spc="170" dirty="0">
                          <a:latin typeface="Tahoma"/>
                          <a:cs typeface="Tahoma"/>
                        </a:rPr>
                        <a:t>  </a:t>
                      </a:r>
                      <a:r>
                        <a:rPr sz="900" b="1" spc="-20" dirty="0">
                          <a:latin typeface="Tahoma"/>
                          <a:cs typeface="Tahoma"/>
                        </a:rPr>
                        <a:t>2.4B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1968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b="1" spc="-20" dirty="0">
                          <a:latin typeface="Tahoma"/>
                          <a:cs typeface="Tahoma"/>
                        </a:rPr>
                        <a:t>14.9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73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b="1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900" b="1" spc="170" dirty="0">
                          <a:latin typeface="Tahoma"/>
                          <a:cs typeface="Tahoma"/>
                        </a:rPr>
                        <a:t>  </a:t>
                      </a:r>
                      <a:r>
                        <a:rPr sz="900" b="1" spc="-20" dirty="0">
                          <a:latin typeface="Tahoma"/>
                          <a:cs typeface="Tahoma"/>
                        </a:rPr>
                        <a:t>1.7B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6034">
                        <a:lnSpc>
                          <a:spcPct val="100000"/>
                        </a:lnSpc>
                      </a:pPr>
                      <a:r>
                        <a:rPr sz="550" b="1" spc="-25" dirty="0">
                          <a:latin typeface="Tahoma"/>
                          <a:cs typeface="Tahoma"/>
                        </a:rPr>
                        <a:t>(2)</a:t>
                      </a:r>
                      <a:endParaRPr sz="5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1968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b="1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900" b="1" spc="200" dirty="0">
                          <a:latin typeface="Tahoma"/>
                          <a:cs typeface="Tahoma"/>
                        </a:rPr>
                        <a:t>  </a:t>
                      </a:r>
                      <a:r>
                        <a:rPr sz="900" b="1" spc="-20" dirty="0">
                          <a:latin typeface="Tahoma"/>
                          <a:cs typeface="Tahoma"/>
                        </a:rPr>
                        <a:t>1.84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99695" algn="ctr">
                        <a:lnSpc>
                          <a:spcPct val="100000"/>
                        </a:lnSpc>
                      </a:pPr>
                      <a:r>
                        <a:rPr sz="550" b="1" spc="-25" dirty="0">
                          <a:latin typeface="Tahoma"/>
                          <a:cs typeface="Tahoma"/>
                        </a:rPr>
                        <a:t>(2)</a:t>
                      </a:r>
                      <a:endParaRPr sz="5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</a:tr>
              <a:tr h="220345">
                <a:tc>
                  <a:txBody>
                    <a:bodyPr/>
                    <a:lstStyle/>
                    <a:p>
                      <a:pPr marR="39370" algn="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900" spc="-10" dirty="0">
                          <a:latin typeface="Verdana"/>
                          <a:cs typeface="Verdana"/>
                        </a:rPr>
                        <a:t>Year/Year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33019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830" algn="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9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33019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marR="3175">
                        <a:lnSpc>
                          <a:spcPts val="1040"/>
                        </a:lnSpc>
                      </a:pPr>
                      <a:r>
                        <a:rPr sz="1350" spc="-209" baseline="-18518" dirty="0">
                          <a:latin typeface="Verdana"/>
                          <a:cs typeface="Verdana"/>
                        </a:rPr>
                        <a:t>%</a:t>
                      </a:r>
                      <a:r>
                        <a:rPr sz="1350" spc="-135" baseline="-18518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550" spc="-25" dirty="0">
                          <a:latin typeface="Verdana"/>
                          <a:cs typeface="Verdana"/>
                        </a:rPr>
                        <a:t>(1)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85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11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33019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33019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2545" algn="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1.1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33019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Pts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33019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2545" algn="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NM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33019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550" spc="-25" dirty="0">
                          <a:latin typeface="Verdana"/>
                          <a:cs typeface="Verdana"/>
                        </a:rPr>
                        <a:t>(3)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T="39369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2545" algn="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900" spc="-20" dirty="0">
                          <a:latin typeface="Verdana"/>
                          <a:cs typeface="Verdana"/>
                        </a:rPr>
                        <a:t>20.2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33019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ts val="1040"/>
                        </a:lnSpc>
                      </a:pPr>
                      <a:r>
                        <a:rPr sz="1350" spc="-52" baseline="-18518" dirty="0">
                          <a:latin typeface="Verdana"/>
                          <a:cs typeface="Verdana"/>
                        </a:rPr>
                        <a:t>Pts</a:t>
                      </a:r>
                      <a:r>
                        <a:rPr sz="1350" spc="-112" baseline="-18518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550" spc="-25" dirty="0">
                          <a:latin typeface="Verdana"/>
                          <a:cs typeface="Verdana"/>
                        </a:rPr>
                        <a:t>(3)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1910" algn="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NM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33019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550" spc="-10" dirty="0">
                          <a:latin typeface="Verdana"/>
                          <a:cs typeface="Verdana"/>
                        </a:rPr>
                        <a:t>(2,3)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T="39369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2545" algn="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NM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33019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550" spc="-10" dirty="0">
                          <a:latin typeface="Verdana"/>
                          <a:cs typeface="Verdana"/>
                        </a:rPr>
                        <a:t>(2,3)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T="39369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5595">
                <a:tc>
                  <a:txBody>
                    <a:bodyPr/>
                    <a:lstStyle/>
                    <a:p>
                      <a:pPr marL="42545" marR="52069">
                        <a:lnSpc>
                          <a:spcPts val="900"/>
                        </a:lnSpc>
                        <a:spcBef>
                          <a:spcPts val="405"/>
                        </a:spcBef>
                      </a:pPr>
                      <a:r>
                        <a:rPr sz="900" b="1" spc="-10" dirty="0">
                          <a:latin typeface="Tahoma"/>
                          <a:cs typeface="Tahoma"/>
                        </a:rPr>
                        <a:t>Operating </a:t>
                      </a:r>
                      <a:r>
                        <a:rPr sz="900" b="1" spc="-65" dirty="0">
                          <a:latin typeface="Tahoma"/>
                          <a:cs typeface="Tahoma"/>
                        </a:rPr>
                        <a:t>(Non-</a:t>
                      </a:r>
                      <a:r>
                        <a:rPr sz="900" b="1" spc="-35" dirty="0">
                          <a:latin typeface="Tahoma"/>
                          <a:cs typeface="Tahoma"/>
                        </a:rPr>
                        <a:t>GAAP)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33909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900" b="1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900" b="1" spc="170" dirty="0">
                          <a:latin typeface="Tahoma"/>
                          <a:cs typeface="Tahoma"/>
                        </a:rPr>
                        <a:t>  </a:t>
                      </a:r>
                      <a:r>
                        <a:rPr sz="900" b="1" spc="-20" dirty="0">
                          <a:latin typeface="Tahoma"/>
                          <a:cs typeface="Tahoma"/>
                        </a:rPr>
                        <a:t>9.6B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26364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9685" algn="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900" b="1" spc="-20" dirty="0">
                          <a:latin typeface="Tahoma"/>
                          <a:cs typeface="Tahoma"/>
                        </a:rPr>
                        <a:t>58.7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26364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76835"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6364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9685" algn="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900" b="1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900" b="1" spc="170" dirty="0">
                          <a:latin typeface="Tahoma"/>
                          <a:cs typeface="Tahoma"/>
                        </a:rPr>
                        <a:t>  </a:t>
                      </a:r>
                      <a:r>
                        <a:rPr sz="900" b="1" spc="-20" dirty="0">
                          <a:latin typeface="Tahoma"/>
                          <a:cs typeface="Tahoma"/>
                        </a:rPr>
                        <a:t>3.0B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26364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9685" algn="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900" b="1" spc="-20" dirty="0">
                          <a:latin typeface="Tahoma"/>
                          <a:cs typeface="Tahoma"/>
                        </a:rPr>
                        <a:t>18.6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26364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6364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8415" algn="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900" b="1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900" b="1" spc="170" dirty="0">
                          <a:latin typeface="Tahoma"/>
                          <a:cs typeface="Tahoma"/>
                        </a:rPr>
                        <a:t>  </a:t>
                      </a:r>
                      <a:r>
                        <a:rPr sz="900" b="1" spc="-20" dirty="0">
                          <a:latin typeface="Tahoma"/>
                          <a:cs typeface="Tahoma"/>
                        </a:rPr>
                        <a:t>2.5B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26364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9685" algn="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900" b="1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900" b="1" spc="200" dirty="0">
                          <a:latin typeface="Tahoma"/>
                          <a:cs typeface="Tahoma"/>
                        </a:rPr>
                        <a:t>  </a:t>
                      </a:r>
                      <a:r>
                        <a:rPr sz="900" b="1" spc="-20" dirty="0">
                          <a:latin typeface="Tahoma"/>
                          <a:cs typeface="Tahoma"/>
                        </a:rPr>
                        <a:t>2.65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26364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marR="39370" algn="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900" spc="-10" dirty="0">
                          <a:latin typeface="Verdana"/>
                          <a:cs typeface="Verdana"/>
                        </a:rPr>
                        <a:t>Year/Year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984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8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11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984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984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2545" algn="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1.2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984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Pts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984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85" algn="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22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984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984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2545" algn="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2.0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984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Pts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984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17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984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984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85" algn="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15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984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984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31012" y="7174458"/>
            <a:ext cx="6295390" cy="157289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350"/>
              </a:spcBef>
              <a:buSzPct val="93750"/>
              <a:buAutoNum type="arabicParenBoth"/>
              <a:tabLst>
                <a:tab pos="189230" algn="l"/>
              </a:tabLst>
            </a:pPr>
            <a:r>
              <a:rPr sz="800" spc="-85" dirty="0">
                <a:latin typeface="Verdana"/>
                <a:cs typeface="Verdana"/>
              </a:rPr>
              <a:t>7%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at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constant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currency.</a:t>
            </a:r>
            <a:endParaRPr sz="800">
              <a:latin typeface="Verdana"/>
              <a:cs typeface="Verdana"/>
            </a:endParaRPr>
          </a:p>
          <a:p>
            <a:pPr marL="165100" indent="-158750">
              <a:lnSpc>
                <a:spcPct val="100000"/>
              </a:lnSpc>
              <a:spcBef>
                <a:spcPts val="250"/>
              </a:spcBef>
              <a:buSzPct val="93750"/>
              <a:buAutoNum type="arabicParenBoth"/>
              <a:tabLst>
                <a:tab pos="165100" algn="l"/>
              </a:tabLst>
            </a:pPr>
            <a:r>
              <a:rPr sz="800" spc="-40" dirty="0">
                <a:latin typeface="Verdana"/>
                <a:cs typeface="Verdana"/>
              </a:rPr>
              <a:t>2025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GAAP </a:t>
            </a:r>
            <a:r>
              <a:rPr sz="800" spc="-45" dirty="0">
                <a:latin typeface="Verdana"/>
                <a:cs typeface="Verdana"/>
              </a:rPr>
              <a:t>results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include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one-time, </a:t>
            </a:r>
            <a:r>
              <a:rPr sz="800" spc="-65" dirty="0">
                <a:latin typeface="Verdana"/>
                <a:cs typeface="Verdana"/>
              </a:rPr>
              <a:t>non-</a:t>
            </a:r>
            <a:r>
              <a:rPr sz="800" spc="-45" dirty="0">
                <a:latin typeface="Verdana"/>
                <a:cs typeface="Verdana"/>
              </a:rPr>
              <a:t>cash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income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tax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charge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associated</a:t>
            </a:r>
            <a:r>
              <a:rPr sz="800" spc="-50" dirty="0">
                <a:latin typeface="Verdana"/>
                <a:cs typeface="Verdana"/>
              </a:rPr>
              <a:t> with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the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enactment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65" dirty="0">
                <a:latin typeface="Verdana"/>
                <a:cs typeface="Verdana"/>
              </a:rPr>
              <a:t>H.R.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1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35" dirty="0">
                <a:latin typeface="Verdana"/>
                <a:cs typeface="Verdana"/>
              </a:rPr>
              <a:t>July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2025.</a:t>
            </a:r>
            <a:endParaRPr sz="800">
              <a:latin typeface="Verdana"/>
              <a:cs typeface="Verdana"/>
            </a:endParaRPr>
          </a:p>
          <a:p>
            <a:pPr marL="164465" indent="-158750">
              <a:lnSpc>
                <a:spcPct val="100000"/>
              </a:lnSpc>
              <a:spcBef>
                <a:spcPts val="234"/>
              </a:spcBef>
              <a:buSzPct val="93750"/>
              <a:buAutoNum type="arabicParenBoth"/>
              <a:tabLst>
                <a:tab pos="164465" algn="l"/>
              </a:tabLst>
            </a:pPr>
            <a:r>
              <a:rPr sz="800" spc="-45" dirty="0">
                <a:latin typeface="Verdana"/>
                <a:cs typeface="Verdana"/>
              </a:rPr>
              <a:t>GAAP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30" dirty="0">
                <a:latin typeface="Verdana"/>
                <a:cs typeface="Verdana"/>
              </a:rPr>
              <a:t>YTY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results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include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the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impact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pension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settlement</a:t>
            </a:r>
            <a:r>
              <a:rPr sz="800" spc="-55" dirty="0">
                <a:latin typeface="Verdana"/>
                <a:cs typeface="Verdana"/>
              </a:rPr>
              <a:t> charge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third-</a:t>
            </a:r>
            <a:r>
              <a:rPr sz="800" spc="-55" dirty="0">
                <a:latin typeface="Verdana"/>
                <a:cs typeface="Verdana"/>
              </a:rPr>
              <a:t>quarter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2024.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800" spc="-40" dirty="0">
                <a:latin typeface="Verdana"/>
                <a:cs typeface="Verdana"/>
              </a:rPr>
              <a:t>NM</a:t>
            </a:r>
            <a:r>
              <a:rPr sz="800" spc="-8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-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not</a:t>
            </a:r>
            <a:r>
              <a:rPr sz="800" spc="-8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meaningful</a:t>
            </a:r>
            <a:endParaRPr sz="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800">
              <a:latin typeface="Verdana"/>
              <a:cs typeface="Verdana"/>
            </a:endParaRPr>
          </a:p>
          <a:p>
            <a:pPr marL="12700" marR="5080" indent="457200">
              <a:lnSpc>
                <a:spcPct val="93400"/>
              </a:lnSpc>
            </a:pPr>
            <a:r>
              <a:rPr sz="1100" spc="-40" dirty="0">
                <a:latin typeface="Verdana"/>
                <a:cs typeface="Verdana"/>
              </a:rPr>
              <a:t>“New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innovation,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strength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diversity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our </a:t>
            </a:r>
            <a:r>
              <a:rPr sz="1100" spc="-55" dirty="0">
                <a:latin typeface="Verdana"/>
                <a:cs typeface="Verdana"/>
              </a:rPr>
              <a:t>portfolio,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our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disciplined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execution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led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acceleration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revenue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growth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profit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quarter,"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said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James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95" dirty="0">
                <a:latin typeface="Verdana"/>
                <a:cs typeface="Verdana"/>
              </a:rPr>
              <a:t>Kavanaugh,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IBM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senior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vice </a:t>
            </a:r>
            <a:r>
              <a:rPr sz="1100" spc="-60" dirty="0">
                <a:latin typeface="Verdana"/>
                <a:cs typeface="Verdana"/>
              </a:rPr>
              <a:t>president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chief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financial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officer.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"Consistent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focus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on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 fundamentals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of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our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business </a:t>
            </a:r>
            <a:r>
              <a:rPr sz="1100" spc="-40" dirty="0">
                <a:latin typeface="Verdana"/>
                <a:cs typeface="Verdana"/>
              </a:rPr>
              <a:t>delivered</a:t>
            </a:r>
            <a:r>
              <a:rPr sz="1100" spc="17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double-</a:t>
            </a:r>
            <a:r>
              <a:rPr sz="1100" spc="-65" dirty="0">
                <a:latin typeface="Verdana"/>
                <a:cs typeface="Verdana"/>
              </a:rPr>
              <a:t>digit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growth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adjusted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EBITDA,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drove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another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quarter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of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strong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free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cash </a:t>
            </a:r>
            <a:r>
              <a:rPr sz="1100" spc="-55" dirty="0">
                <a:latin typeface="Verdana"/>
                <a:cs typeface="Verdana"/>
              </a:rPr>
              <a:t>flow,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fuel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for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our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investments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ability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to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return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value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to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shareholders.”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1012" y="445109"/>
            <a:ext cx="6311900" cy="901573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100" b="1" spc="-55" dirty="0">
                <a:latin typeface="Tahoma"/>
                <a:cs typeface="Tahoma"/>
              </a:rPr>
              <a:t>Segment</a:t>
            </a:r>
            <a:r>
              <a:rPr sz="1100" b="1" spc="-45" dirty="0">
                <a:latin typeface="Tahoma"/>
                <a:cs typeface="Tahoma"/>
              </a:rPr>
              <a:t> </a:t>
            </a:r>
            <a:r>
              <a:rPr sz="1100" b="1" spc="-35" dirty="0">
                <a:latin typeface="Tahoma"/>
                <a:cs typeface="Tahoma"/>
              </a:rPr>
              <a:t>Results</a:t>
            </a:r>
            <a:r>
              <a:rPr sz="1100" b="1" spc="-50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Tahoma"/>
                <a:cs typeface="Tahoma"/>
              </a:rPr>
              <a:t>for</a:t>
            </a:r>
            <a:r>
              <a:rPr sz="1100" b="1" spc="-50" dirty="0">
                <a:latin typeface="Tahoma"/>
                <a:cs typeface="Tahoma"/>
              </a:rPr>
              <a:t> </a:t>
            </a:r>
            <a:r>
              <a:rPr sz="1100" b="1" spc="-35" dirty="0">
                <a:latin typeface="Tahoma"/>
                <a:cs typeface="Tahoma"/>
              </a:rPr>
              <a:t>Third</a:t>
            </a:r>
            <a:r>
              <a:rPr sz="1100" b="1" spc="-4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Quarter</a:t>
            </a:r>
            <a:endParaRPr sz="110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Font typeface="Verdana"/>
              <a:buChar char="•"/>
              <a:tabLst>
                <a:tab pos="241300" algn="l"/>
              </a:tabLst>
            </a:pPr>
            <a:r>
              <a:rPr sz="1100" i="1" spc="-85" dirty="0">
                <a:latin typeface="Verdana"/>
                <a:cs typeface="Verdana"/>
              </a:rPr>
              <a:t>Software</a:t>
            </a:r>
            <a:r>
              <a:rPr sz="1100" i="1" spc="-90" dirty="0">
                <a:latin typeface="Verdana"/>
                <a:cs typeface="Verdana"/>
              </a:rPr>
              <a:t> </a:t>
            </a:r>
            <a:r>
              <a:rPr sz="1100" i="1" spc="-275" dirty="0">
                <a:latin typeface="Verdana"/>
                <a:cs typeface="Verdana"/>
              </a:rPr>
              <a:t>—</a:t>
            </a:r>
            <a:r>
              <a:rPr sz="1100" i="1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revenues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of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$7.2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billion,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10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9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constant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currency: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SzPct val="90909"/>
              <a:buChar char="–"/>
              <a:tabLst>
                <a:tab pos="412750" algn="l"/>
              </a:tabLst>
            </a:pPr>
            <a:r>
              <a:rPr sz="1100" spc="-65" dirty="0">
                <a:latin typeface="Verdana"/>
                <a:cs typeface="Verdana"/>
              </a:rPr>
              <a:t>Hybrid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Cloud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(Red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Hat)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up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14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12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70" dirty="0">
                <a:latin typeface="Verdana"/>
                <a:cs typeface="Verdana"/>
              </a:rPr>
              <a:t>Automation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24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22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constant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85" dirty="0">
                <a:latin typeface="Verdana"/>
                <a:cs typeface="Verdana"/>
              </a:rPr>
              <a:t>Data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8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7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65" dirty="0">
                <a:latin typeface="Verdana"/>
                <a:cs typeface="Verdana"/>
              </a:rPr>
              <a:t>Transaction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Processing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down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down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3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1320"/>
              </a:spcBef>
              <a:buFont typeface="Verdana"/>
              <a:buChar char="•"/>
              <a:tabLst>
                <a:tab pos="241300" algn="l"/>
              </a:tabLst>
            </a:pPr>
            <a:r>
              <a:rPr sz="1100" i="1" spc="-80" dirty="0">
                <a:latin typeface="Verdana"/>
                <a:cs typeface="Verdana"/>
              </a:rPr>
              <a:t>Consulting</a:t>
            </a:r>
            <a:r>
              <a:rPr sz="1100" i="1" spc="-100" dirty="0">
                <a:latin typeface="Verdana"/>
                <a:cs typeface="Verdana"/>
              </a:rPr>
              <a:t> </a:t>
            </a:r>
            <a:r>
              <a:rPr sz="1100" i="1" spc="-275" dirty="0">
                <a:latin typeface="Verdana"/>
                <a:cs typeface="Verdana"/>
              </a:rPr>
              <a:t>—</a:t>
            </a:r>
            <a:r>
              <a:rPr sz="1100" i="1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revenues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of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$5.3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billion,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3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2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currency: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85" dirty="0">
                <a:latin typeface="Verdana"/>
                <a:cs typeface="Verdana"/>
              </a:rPr>
              <a:t>Strategy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Technology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2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flat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constant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55" dirty="0">
                <a:latin typeface="Verdana"/>
                <a:cs typeface="Verdana"/>
              </a:rPr>
              <a:t>Intelligent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Operations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up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5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4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1320"/>
              </a:spcBef>
              <a:buFont typeface="Verdana"/>
              <a:buChar char="•"/>
              <a:tabLst>
                <a:tab pos="241300" algn="l"/>
              </a:tabLst>
            </a:pPr>
            <a:r>
              <a:rPr sz="1100" i="1" spc="-80" dirty="0">
                <a:latin typeface="Verdana"/>
                <a:cs typeface="Verdana"/>
              </a:rPr>
              <a:t>Infrastructure </a:t>
            </a:r>
            <a:r>
              <a:rPr sz="1100" i="1" spc="-275" dirty="0">
                <a:latin typeface="Verdana"/>
                <a:cs typeface="Verdana"/>
              </a:rPr>
              <a:t>—</a:t>
            </a:r>
            <a:r>
              <a:rPr sz="1100" i="1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revenues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of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$3.6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billion,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17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15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currency: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65" dirty="0">
                <a:latin typeface="Verdana"/>
                <a:cs typeface="Verdana"/>
              </a:rPr>
              <a:t>Hybrid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Infrastructure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28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26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</a:t>
            </a:r>
            <a:r>
              <a:rPr sz="1100" spc="-75" dirty="0">
                <a:latin typeface="Verdana"/>
                <a:cs typeface="Verdana"/>
              </a:rPr>
              <a:t> at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1100455" lvl="2" indent="-227965">
              <a:lnSpc>
                <a:spcPct val="100000"/>
              </a:lnSpc>
              <a:buSzPct val="90909"/>
              <a:buChar char="•"/>
              <a:tabLst>
                <a:tab pos="1100455" algn="l"/>
              </a:tabLst>
            </a:pPr>
            <a:r>
              <a:rPr sz="1100" spc="-35" dirty="0">
                <a:latin typeface="Verdana"/>
                <a:cs typeface="Verdana"/>
              </a:rPr>
              <a:t>IBM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20" dirty="0">
                <a:latin typeface="Verdana"/>
                <a:cs typeface="Verdana"/>
              </a:rPr>
              <a:t>Z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61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percent,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59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1100455" lvl="2" indent="-227965">
              <a:lnSpc>
                <a:spcPct val="100000"/>
              </a:lnSpc>
              <a:buSzPct val="90909"/>
              <a:buChar char="•"/>
              <a:tabLst>
                <a:tab pos="1100455" algn="l"/>
              </a:tabLst>
            </a:pPr>
            <a:r>
              <a:rPr sz="1100" spc="-60" dirty="0">
                <a:latin typeface="Verdana"/>
                <a:cs typeface="Verdana"/>
              </a:rPr>
              <a:t>Distributed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Infrastructure</a:t>
            </a:r>
            <a:r>
              <a:rPr sz="1100" spc="-70" dirty="0">
                <a:latin typeface="Verdana"/>
                <a:cs typeface="Verdana"/>
              </a:rPr>
              <a:t> 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10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8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spcBef>
                <a:spcPts val="5"/>
              </a:spcBef>
              <a:buChar char="–"/>
              <a:tabLst>
                <a:tab pos="412750" algn="l"/>
              </a:tabLst>
            </a:pPr>
            <a:r>
              <a:rPr sz="1100" spc="-65" dirty="0">
                <a:latin typeface="Verdana"/>
                <a:cs typeface="Verdana"/>
              </a:rPr>
              <a:t>Infrastructure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Support up </a:t>
            </a:r>
            <a:r>
              <a:rPr sz="1100" spc="-50" dirty="0">
                <a:latin typeface="Verdana"/>
                <a:cs typeface="Verdana"/>
              </a:rPr>
              <a:t>1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flat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constant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1320"/>
              </a:spcBef>
              <a:buFont typeface="Verdana"/>
              <a:buChar char="•"/>
              <a:tabLst>
                <a:tab pos="241300" algn="l"/>
              </a:tabLst>
            </a:pPr>
            <a:r>
              <a:rPr sz="1100" i="1" spc="-65" dirty="0">
                <a:latin typeface="Verdana"/>
                <a:cs typeface="Verdana"/>
              </a:rPr>
              <a:t>Financing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spc="-275" dirty="0">
                <a:latin typeface="Verdana"/>
                <a:cs typeface="Verdana"/>
              </a:rPr>
              <a:t>—</a:t>
            </a:r>
            <a:r>
              <a:rPr sz="1100" i="1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revenues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of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$0.2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billion,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10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8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constant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100" b="1" spc="-35" dirty="0">
                <a:latin typeface="Tahoma"/>
                <a:cs typeface="Tahoma"/>
              </a:rPr>
              <a:t>Cash</a:t>
            </a:r>
            <a:r>
              <a:rPr sz="1100" b="1" spc="-45" dirty="0">
                <a:latin typeface="Tahoma"/>
                <a:cs typeface="Tahoma"/>
              </a:rPr>
              <a:t> </a:t>
            </a:r>
            <a:r>
              <a:rPr sz="1100" b="1" spc="-30" dirty="0">
                <a:latin typeface="Tahoma"/>
                <a:cs typeface="Tahoma"/>
              </a:rPr>
              <a:t>Flow</a:t>
            </a:r>
            <a:r>
              <a:rPr sz="1100" b="1" spc="-50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Tahoma"/>
                <a:cs typeface="Tahoma"/>
              </a:rPr>
              <a:t>and</a:t>
            </a:r>
            <a:r>
              <a:rPr sz="1100" b="1" spc="-55" dirty="0">
                <a:latin typeface="Tahoma"/>
                <a:cs typeface="Tahoma"/>
              </a:rPr>
              <a:t> </a:t>
            </a:r>
            <a:r>
              <a:rPr sz="1100" b="1" spc="-35" dirty="0">
                <a:latin typeface="Tahoma"/>
                <a:cs typeface="Tahoma"/>
              </a:rPr>
              <a:t>Balance</a:t>
            </a:r>
            <a:r>
              <a:rPr sz="1100" b="1" spc="-50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Tahoma"/>
                <a:cs typeface="Tahoma"/>
              </a:rPr>
              <a:t>Sheet</a:t>
            </a:r>
            <a:endParaRPr sz="1100">
              <a:latin typeface="Tahoma"/>
              <a:cs typeface="Tahoma"/>
            </a:endParaRPr>
          </a:p>
          <a:p>
            <a:pPr marL="12700" marR="22860" indent="457200">
              <a:lnSpc>
                <a:spcPct val="93200"/>
              </a:lnSpc>
              <a:spcBef>
                <a:spcPts val="685"/>
              </a:spcBef>
            </a:pPr>
            <a:r>
              <a:rPr sz="1100" spc="-60" dirty="0">
                <a:latin typeface="Verdana"/>
                <a:cs typeface="Verdana"/>
              </a:rPr>
              <a:t>In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third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quarter,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the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company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generated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net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from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operating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activities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65" dirty="0">
                <a:latin typeface="Verdana"/>
                <a:cs typeface="Verdana"/>
              </a:rPr>
              <a:t> $3.1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billion,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$0.2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billion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year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year. </a:t>
            </a:r>
            <a:r>
              <a:rPr sz="1100" spc="-40" dirty="0">
                <a:latin typeface="Verdana"/>
                <a:cs typeface="Verdana"/>
              </a:rPr>
              <a:t>IBM’s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free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flow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was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$2.4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billion,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$0.3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billion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year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to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year.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The </a:t>
            </a:r>
            <a:r>
              <a:rPr sz="1100" spc="-80" dirty="0">
                <a:latin typeface="Verdana"/>
                <a:cs typeface="Verdana"/>
              </a:rPr>
              <a:t>company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returned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$1.6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billion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to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shareholders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dividends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third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quarter.</a:t>
            </a:r>
            <a:endParaRPr sz="1100">
              <a:latin typeface="Verdana"/>
              <a:cs typeface="Verdana"/>
            </a:endParaRPr>
          </a:p>
          <a:p>
            <a:pPr marL="469900">
              <a:lnSpc>
                <a:spcPts val="1235"/>
              </a:lnSpc>
            </a:pPr>
            <a:r>
              <a:rPr sz="1100" spc="-60" dirty="0">
                <a:latin typeface="Verdana"/>
                <a:cs typeface="Verdana"/>
              </a:rPr>
              <a:t>For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the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first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nine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months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year, </a:t>
            </a:r>
            <a:r>
              <a:rPr sz="1100" spc="-75" dirty="0">
                <a:latin typeface="Verdana"/>
                <a:cs typeface="Verdana"/>
              </a:rPr>
              <a:t>the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company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generated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net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from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operating</a:t>
            </a:r>
            <a:endParaRPr sz="1100">
              <a:latin typeface="Verdana"/>
              <a:cs typeface="Verdana"/>
            </a:endParaRPr>
          </a:p>
          <a:p>
            <a:pPr marL="12700" marR="139065">
              <a:lnSpc>
                <a:spcPct val="100000"/>
              </a:lnSpc>
            </a:pPr>
            <a:r>
              <a:rPr sz="1100" spc="-60" dirty="0">
                <a:latin typeface="Verdana"/>
                <a:cs typeface="Verdana"/>
              </a:rPr>
              <a:t>activities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$9.2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billion,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flat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year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to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95" dirty="0">
                <a:latin typeface="Verdana"/>
                <a:cs typeface="Verdana"/>
              </a:rPr>
              <a:t>year. </a:t>
            </a:r>
            <a:r>
              <a:rPr sz="1100" spc="-45" dirty="0">
                <a:latin typeface="Verdana"/>
                <a:cs typeface="Verdana"/>
              </a:rPr>
              <a:t>IBM's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free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flow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was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$7.2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billion,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$0.6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billion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year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year.</a:t>
            </a:r>
            <a:endParaRPr sz="1100">
              <a:latin typeface="Verdana"/>
              <a:cs typeface="Verdana"/>
            </a:endParaRPr>
          </a:p>
          <a:p>
            <a:pPr marL="12700" marR="129539" indent="457200">
              <a:lnSpc>
                <a:spcPct val="100000"/>
              </a:lnSpc>
            </a:pPr>
            <a:r>
              <a:rPr sz="1100" spc="-35" dirty="0">
                <a:latin typeface="Verdana"/>
                <a:cs typeface="Verdana"/>
              </a:rPr>
              <a:t>IBM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ended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third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quarter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with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$14.9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billion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cash,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restricted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marketable </a:t>
            </a:r>
            <a:r>
              <a:rPr sz="1100" spc="-60" dirty="0">
                <a:latin typeface="Verdana"/>
                <a:cs typeface="Verdana"/>
              </a:rPr>
              <a:t>securities,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$0.1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billion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from</a:t>
            </a:r>
            <a:r>
              <a:rPr sz="1100" spc="-85" dirty="0">
                <a:latin typeface="Verdana"/>
                <a:cs typeface="Verdana"/>
              </a:rPr>
              <a:t> year-</a:t>
            </a:r>
            <a:r>
              <a:rPr sz="1100" spc="-65" dirty="0">
                <a:latin typeface="Verdana"/>
                <a:cs typeface="Verdana"/>
              </a:rPr>
              <a:t>end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2024.</a:t>
            </a:r>
            <a:r>
              <a:rPr sz="1100" spc="-85" dirty="0">
                <a:latin typeface="Verdana"/>
                <a:cs typeface="Verdana"/>
              </a:rPr>
              <a:t> Debt, </a:t>
            </a:r>
            <a:r>
              <a:rPr sz="1100" spc="-60" dirty="0">
                <a:latin typeface="Verdana"/>
                <a:cs typeface="Verdana"/>
              </a:rPr>
              <a:t>including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IBM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Financing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debt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$11.3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billion, </a:t>
            </a:r>
            <a:r>
              <a:rPr sz="1100" spc="-55" dirty="0">
                <a:latin typeface="Verdana"/>
                <a:cs typeface="Verdana"/>
              </a:rPr>
              <a:t>totaled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$63.1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billion,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$8.1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billion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year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to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date.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1100" b="1" spc="-25" dirty="0">
                <a:latin typeface="Tahoma"/>
                <a:cs typeface="Tahoma"/>
              </a:rPr>
              <a:t>Full-</a:t>
            </a:r>
            <a:r>
              <a:rPr sz="1100" b="1" spc="-35" dirty="0">
                <a:latin typeface="Tahoma"/>
                <a:cs typeface="Tahoma"/>
              </a:rPr>
              <a:t>Year</a:t>
            </a:r>
            <a:r>
              <a:rPr sz="1100" b="1" spc="-30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2025</a:t>
            </a:r>
            <a:r>
              <a:rPr sz="1100" b="1" spc="-4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Expectations</a:t>
            </a:r>
            <a:endParaRPr sz="1100">
              <a:latin typeface="Tahoma"/>
              <a:cs typeface="Tahoma"/>
            </a:endParaRPr>
          </a:p>
          <a:p>
            <a:pPr marL="241300" marR="94615" indent="-229235">
              <a:lnSpc>
                <a:spcPct val="100000"/>
              </a:lnSpc>
              <a:spcBef>
                <a:spcPts val="600"/>
              </a:spcBef>
              <a:buChar char="•"/>
              <a:tabLst>
                <a:tab pos="241300" algn="l"/>
              </a:tabLst>
            </a:pPr>
            <a:r>
              <a:rPr sz="1100" spc="-90" dirty="0">
                <a:latin typeface="Verdana"/>
                <a:cs typeface="Verdana"/>
              </a:rPr>
              <a:t>Revenue: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company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now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expects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currency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revenue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growth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of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more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than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5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30" dirty="0">
                <a:latin typeface="Verdana"/>
                <a:cs typeface="Verdana"/>
              </a:rPr>
              <a:t>percent. </a:t>
            </a:r>
            <a:r>
              <a:rPr sz="1100" spc="-55" dirty="0">
                <a:latin typeface="Verdana"/>
                <a:cs typeface="Verdana"/>
              </a:rPr>
              <a:t>At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current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foreign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exchange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rates,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currency </a:t>
            </a:r>
            <a:r>
              <a:rPr sz="1100" spc="-35" dirty="0">
                <a:latin typeface="Verdana"/>
                <a:cs typeface="Verdana"/>
              </a:rPr>
              <a:t>is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expected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to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be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about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a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one-</a:t>
            </a:r>
            <a:r>
              <a:rPr sz="1100" spc="-75" dirty="0">
                <a:latin typeface="Verdana"/>
                <a:cs typeface="Verdana"/>
              </a:rPr>
              <a:t>and-</a:t>
            </a:r>
            <a:r>
              <a:rPr sz="1100" spc="-80" dirty="0">
                <a:latin typeface="Verdana"/>
                <a:cs typeface="Verdana"/>
              </a:rPr>
              <a:t>a-</a:t>
            </a:r>
            <a:r>
              <a:rPr sz="1100" spc="-60" dirty="0">
                <a:latin typeface="Verdana"/>
                <a:cs typeface="Verdana"/>
              </a:rPr>
              <a:t>half-</a:t>
            </a:r>
            <a:r>
              <a:rPr sz="1100" spc="-10" dirty="0">
                <a:latin typeface="Verdana"/>
                <a:cs typeface="Verdana"/>
              </a:rPr>
              <a:t>point </a:t>
            </a:r>
            <a:r>
              <a:rPr sz="1100" spc="-55" dirty="0">
                <a:latin typeface="Verdana"/>
                <a:cs typeface="Verdana"/>
              </a:rPr>
              <a:t>tailwind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growth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for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year.</a:t>
            </a:r>
            <a:endParaRPr sz="11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Char char="•"/>
              <a:tabLst>
                <a:tab pos="241300" algn="l"/>
              </a:tabLst>
            </a:pPr>
            <a:r>
              <a:rPr sz="1100" spc="-55" dirty="0">
                <a:latin typeface="Verdana"/>
                <a:cs typeface="Verdana"/>
              </a:rPr>
              <a:t>Free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flow: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85" dirty="0">
                <a:latin typeface="Verdana"/>
                <a:cs typeface="Verdana"/>
              </a:rPr>
              <a:t> company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now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expects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about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$14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billion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free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flow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for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the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full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year.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100" b="1" spc="-45" dirty="0">
                <a:latin typeface="Tahoma"/>
                <a:cs typeface="Tahoma"/>
              </a:rPr>
              <a:t>Dividend</a:t>
            </a:r>
            <a:r>
              <a:rPr sz="1100" b="1" spc="-1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Declaration</a:t>
            </a:r>
            <a:endParaRPr sz="1100">
              <a:latin typeface="Tahoma"/>
              <a:cs typeface="Tahoma"/>
            </a:endParaRPr>
          </a:p>
          <a:p>
            <a:pPr marL="12700" marR="80645" indent="457200">
              <a:lnSpc>
                <a:spcPct val="100000"/>
              </a:lnSpc>
              <a:spcBef>
                <a:spcPts val="600"/>
              </a:spcBef>
            </a:pPr>
            <a:r>
              <a:rPr sz="1100" spc="-85" dirty="0">
                <a:latin typeface="Verdana"/>
                <a:cs typeface="Verdana"/>
              </a:rPr>
              <a:t>On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October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22,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2025,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IBM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board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directors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approved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a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regular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quarterly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30" dirty="0">
                <a:latin typeface="Verdana"/>
                <a:cs typeface="Verdana"/>
              </a:rPr>
              <a:t>dividend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$1.68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</a:t>
            </a:r>
            <a:r>
              <a:rPr sz="1100" spc="-85" dirty="0">
                <a:latin typeface="Verdana"/>
                <a:cs typeface="Verdana"/>
              </a:rPr>
              <a:t> common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share,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stockholders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record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November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10,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2025.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With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payment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the </a:t>
            </a:r>
            <a:r>
              <a:rPr sz="1100" spc="-75" dirty="0">
                <a:latin typeface="Verdana"/>
                <a:cs typeface="Verdana"/>
              </a:rPr>
              <a:t>December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10,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2025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dividend,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IBM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30" dirty="0">
                <a:latin typeface="Verdana"/>
                <a:cs typeface="Verdana"/>
              </a:rPr>
              <a:t>will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have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paid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consecutive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quarterly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dividends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every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year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since 1916.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100" b="1" spc="-40" dirty="0">
                <a:latin typeface="Tahoma"/>
                <a:cs typeface="Tahoma"/>
              </a:rPr>
              <a:t>Forward-</a:t>
            </a:r>
            <a:r>
              <a:rPr sz="1100" b="1" spc="-55" dirty="0">
                <a:latin typeface="Tahoma"/>
                <a:cs typeface="Tahoma"/>
              </a:rPr>
              <a:t>Looking</a:t>
            </a:r>
            <a:r>
              <a:rPr sz="1100" b="1" spc="-30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Tahoma"/>
                <a:cs typeface="Tahoma"/>
              </a:rPr>
              <a:t>and</a:t>
            </a:r>
            <a:r>
              <a:rPr sz="1100" b="1" spc="-30" dirty="0">
                <a:latin typeface="Tahoma"/>
                <a:cs typeface="Tahoma"/>
              </a:rPr>
              <a:t> </a:t>
            </a:r>
            <a:r>
              <a:rPr sz="1100" b="1" spc="-45" dirty="0">
                <a:latin typeface="Tahoma"/>
                <a:cs typeface="Tahoma"/>
              </a:rPr>
              <a:t>Cautionary</a:t>
            </a:r>
            <a:r>
              <a:rPr sz="1100" b="1" spc="-2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Statements</a:t>
            </a:r>
            <a:endParaRPr sz="1100">
              <a:latin typeface="Tahoma"/>
              <a:cs typeface="Tahoma"/>
            </a:endParaRPr>
          </a:p>
          <a:p>
            <a:pPr marL="12700" marR="5080" indent="457200" algn="just">
              <a:lnSpc>
                <a:spcPct val="100000"/>
              </a:lnSpc>
              <a:spcBef>
                <a:spcPts val="600"/>
              </a:spcBef>
            </a:pPr>
            <a:r>
              <a:rPr sz="1100" spc="-60" dirty="0">
                <a:latin typeface="Verdana"/>
                <a:cs typeface="Verdana"/>
              </a:rPr>
              <a:t>Except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for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historical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information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discussions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contained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herein,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statements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contained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24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this</a:t>
            </a:r>
            <a:r>
              <a:rPr sz="1100" spc="24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release</a:t>
            </a:r>
            <a:r>
              <a:rPr sz="1100" spc="250" dirty="0">
                <a:latin typeface="Verdana"/>
                <a:cs typeface="Verdana"/>
              </a:rPr>
              <a:t> </a:t>
            </a:r>
            <a:r>
              <a:rPr sz="1100" spc="-110" dirty="0">
                <a:latin typeface="Verdana"/>
                <a:cs typeface="Verdana"/>
              </a:rPr>
              <a:t>may</a:t>
            </a:r>
            <a:r>
              <a:rPr sz="1100" spc="24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constitute</a:t>
            </a:r>
            <a:r>
              <a:rPr sz="1100" spc="25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forward-looking</a:t>
            </a:r>
            <a:r>
              <a:rPr sz="1100" spc="25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statements</a:t>
            </a:r>
            <a:r>
              <a:rPr sz="1100" spc="23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within</a:t>
            </a:r>
            <a:r>
              <a:rPr sz="1100" spc="23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25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meaning</a:t>
            </a:r>
            <a:r>
              <a:rPr sz="1100" spc="23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24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25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Private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Securities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Litigation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Reform</a:t>
            </a:r>
            <a:r>
              <a:rPr sz="1100" spc="-45" dirty="0">
                <a:latin typeface="Verdana"/>
                <a:cs typeface="Verdana"/>
              </a:rPr>
              <a:t> Act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1995.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Forward-</a:t>
            </a:r>
            <a:r>
              <a:rPr sz="1100" spc="-55" dirty="0">
                <a:latin typeface="Verdana"/>
                <a:cs typeface="Verdana"/>
              </a:rPr>
              <a:t>looking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statements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are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based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on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current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assumptions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regarding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future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business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financial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performance.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These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statements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involve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number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risks,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uncertainties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other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factors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that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could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cause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actual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results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differ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materially,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including,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but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not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limited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to,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following: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downturn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economic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environment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client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spending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budgets;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failure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innovation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initiatives;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damage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reputation;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risks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from</a:t>
            </a:r>
            <a:r>
              <a:rPr sz="1100" spc="5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investing</a:t>
            </a:r>
            <a:r>
              <a:rPr sz="1100" spc="6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5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growth</a:t>
            </a:r>
            <a:r>
              <a:rPr sz="1100" spc="5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opportunities;</a:t>
            </a:r>
            <a:r>
              <a:rPr sz="1100" spc="4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failure</a:t>
            </a:r>
            <a:r>
              <a:rPr sz="1100" spc="4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5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5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5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intellectual</a:t>
            </a:r>
            <a:r>
              <a:rPr sz="1100" spc="5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property</a:t>
            </a:r>
            <a:r>
              <a:rPr sz="1100" spc="5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portfolio</a:t>
            </a:r>
            <a:r>
              <a:rPr sz="1100" spc="6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1012" y="520699"/>
            <a:ext cx="6314440" cy="7780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255" algn="just">
              <a:lnSpc>
                <a:spcPct val="100000"/>
              </a:lnSpc>
              <a:spcBef>
                <a:spcPts val="100"/>
              </a:spcBef>
            </a:pPr>
            <a:r>
              <a:rPr sz="1100" spc="-70" dirty="0">
                <a:latin typeface="Verdana"/>
                <a:cs typeface="Verdana"/>
              </a:rPr>
              <a:t>prevent</a:t>
            </a:r>
            <a:r>
              <a:rPr sz="1100" spc="12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competitive</a:t>
            </a:r>
            <a:r>
              <a:rPr sz="1100" spc="12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offerings</a:t>
            </a:r>
            <a:r>
              <a:rPr sz="1100" spc="13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12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13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failure</a:t>
            </a:r>
            <a:r>
              <a:rPr sz="1100" spc="12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13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13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company</a:t>
            </a:r>
            <a:r>
              <a:rPr sz="1100" spc="1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12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obtain</a:t>
            </a:r>
            <a:r>
              <a:rPr sz="1100" spc="12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necessary</a:t>
            </a:r>
            <a:r>
              <a:rPr sz="1100" spc="13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licenses;</a:t>
            </a:r>
            <a:r>
              <a:rPr sz="1100" spc="12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3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ability</a:t>
            </a:r>
            <a:r>
              <a:rPr sz="1100" spc="4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3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successfully</a:t>
            </a:r>
            <a:r>
              <a:rPr sz="1100" spc="400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manage</a:t>
            </a:r>
            <a:r>
              <a:rPr sz="1100" spc="40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acquisitions,</a:t>
            </a:r>
            <a:r>
              <a:rPr sz="1100" dirty="0">
                <a:latin typeface="Verdana"/>
                <a:cs typeface="Verdana"/>
              </a:rPr>
              <a:t>  </a:t>
            </a:r>
            <a:r>
              <a:rPr sz="1100" spc="-45" dirty="0">
                <a:latin typeface="Verdana"/>
                <a:cs typeface="Verdana"/>
              </a:rPr>
              <a:t>alliances</a:t>
            </a:r>
            <a:r>
              <a:rPr sz="1100" spc="3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3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divestitures,</a:t>
            </a:r>
            <a:r>
              <a:rPr sz="1100" spc="3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including</a:t>
            </a:r>
            <a:r>
              <a:rPr sz="1100" spc="-65" dirty="0">
                <a:latin typeface="Verdana"/>
                <a:cs typeface="Verdana"/>
              </a:rPr>
              <a:t> integration</a:t>
            </a:r>
            <a:r>
              <a:rPr sz="1100" spc="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challenges,</a:t>
            </a:r>
            <a:r>
              <a:rPr sz="1100" spc="2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failure</a:t>
            </a:r>
            <a:r>
              <a:rPr sz="1100" spc="3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3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achieve</a:t>
            </a:r>
            <a:r>
              <a:rPr sz="1100" spc="3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objectives,</a:t>
            </a:r>
            <a:r>
              <a:rPr sz="1100" spc="3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3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assumption</a:t>
            </a:r>
            <a:r>
              <a:rPr sz="1100" spc="1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or</a:t>
            </a:r>
            <a:r>
              <a:rPr sz="1100" spc="2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retention</a:t>
            </a:r>
            <a:r>
              <a:rPr sz="1100" spc="1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3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liabilities</a:t>
            </a:r>
            <a:r>
              <a:rPr sz="1100" spc="3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higher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debt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levels;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fluctuations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financial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results;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impact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local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legal,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economic,</a:t>
            </a:r>
            <a:r>
              <a:rPr sz="1100" spc="-45" dirty="0">
                <a:latin typeface="Verdana"/>
                <a:cs typeface="Verdana"/>
              </a:rPr>
              <a:t> political,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health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other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conditions;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failure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meet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growth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productivity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objectives;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ineffective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internal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controls;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use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accounting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estimates;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impairment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goodwill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or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amortizable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intangible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assets;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ability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attract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retain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key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employees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45" dirty="0">
                <a:latin typeface="Verdana"/>
                <a:cs typeface="Verdana"/>
              </a:rPr>
              <a:t> its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reliance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on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critical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skills;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impacts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relationships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with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critical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suppliers;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product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service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quality</a:t>
            </a:r>
            <a:r>
              <a:rPr sz="1100" spc="-65" dirty="0">
                <a:latin typeface="Verdana"/>
                <a:cs typeface="Verdana"/>
              </a:rPr>
              <a:t> issues;</a:t>
            </a:r>
            <a:r>
              <a:rPr sz="1100" spc="1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1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development</a:t>
            </a:r>
            <a:r>
              <a:rPr sz="1100" spc="1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18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use</a:t>
            </a:r>
            <a:r>
              <a:rPr sz="1100" spc="18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17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AI</a:t>
            </a:r>
            <a:r>
              <a:rPr sz="1100" spc="17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17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generative</a:t>
            </a:r>
            <a:r>
              <a:rPr sz="1100" spc="1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AI,</a:t>
            </a:r>
            <a:r>
              <a:rPr sz="1100" spc="1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including</a:t>
            </a:r>
            <a:r>
              <a:rPr sz="1100" spc="1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17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company's</a:t>
            </a:r>
            <a:r>
              <a:rPr sz="1100" spc="17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increased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offerings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use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AI-</a:t>
            </a:r>
            <a:r>
              <a:rPr sz="1100" spc="-55" dirty="0">
                <a:latin typeface="Verdana"/>
                <a:cs typeface="Verdana"/>
              </a:rPr>
              <a:t>based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technologies;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impacts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business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with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government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clients;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reliance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on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third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party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distribution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channels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ecosystems;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cybersecurity,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privacy,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45" dirty="0">
                <a:latin typeface="Verdana"/>
                <a:cs typeface="Verdana"/>
              </a:rPr>
              <a:t> AI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considerations;</a:t>
            </a:r>
            <a:r>
              <a:rPr sz="1100" spc="-70" dirty="0">
                <a:latin typeface="Verdana"/>
                <a:cs typeface="Verdana"/>
              </a:rPr>
              <a:t> adverse</a:t>
            </a:r>
            <a:r>
              <a:rPr sz="1100" spc="15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effects</a:t>
            </a:r>
            <a:r>
              <a:rPr sz="1100" spc="15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related</a:t>
            </a:r>
            <a:r>
              <a:rPr sz="1100" spc="14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r>
              <a:rPr sz="1100" spc="15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climate</a:t>
            </a:r>
            <a:r>
              <a:rPr sz="1100" spc="15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change</a:t>
            </a:r>
            <a:r>
              <a:rPr sz="1100" spc="15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14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other</a:t>
            </a:r>
            <a:r>
              <a:rPr sz="1100" spc="14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environmental</a:t>
            </a:r>
            <a:r>
              <a:rPr sz="1100" spc="13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matters;</a:t>
            </a:r>
            <a:r>
              <a:rPr sz="1100" spc="15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tax</a:t>
            </a:r>
            <a:r>
              <a:rPr sz="1100" spc="15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matters;</a:t>
            </a:r>
            <a:r>
              <a:rPr sz="1100" spc="15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legal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proceedings</a:t>
            </a:r>
            <a:r>
              <a:rPr sz="1100" spc="27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27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investigatory</a:t>
            </a:r>
            <a:r>
              <a:rPr sz="1100" spc="27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risks;</a:t>
            </a:r>
            <a:r>
              <a:rPr sz="1100" spc="27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27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2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pension</a:t>
            </a:r>
            <a:r>
              <a:rPr sz="1100" spc="27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plans;</a:t>
            </a:r>
            <a:r>
              <a:rPr sz="1100" spc="26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currency</a:t>
            </a:r>
            <a:r>
              <a:rPr sz="1100" spc="27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fluctuations</a:t>
            </a:r>
            <a:r>
              <a:rPr sz="1100" spc="26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customer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financing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risks;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impact</a:t>
            </a:r>
            <a:r>
              <a:rPr sz="1100" spc="-45" dirty="0">
                <a:latin typeface="Verdana"/>
                <a:cs typeface="Verdana"/>
              </a:rPr>
              <a:t> of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changes</a:t>
            </a:r>
            <a:r>
              <a:rPr sz="1100" spc="-50" dirty="0">
                <a:latin typeface="Verdana"/>
                <a:cs typeface="Verdana"/>
              </a:rPr>
              <a:t> in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market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liquidity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conditions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customer</a:t>
            </a:r>
            <a:r>
              <a:rPr sz="1100" spc="-50" dirty="0">
                <a:latin typeface="Verdana"/>
                <a:cs typeface="Verdana"/>
              </a:rPr>
              <a:t> credit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risk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on</a:t>
            </a:r>
            <a:r>
              <a:rPr sz="1100" spc="11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receivables;</a:t>
            </a:r>
            <a:r>
              <a:rPr sz="1100" spc="10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risk</a:t>
            </a:r>
            <a:r>
              <a:rPr sz="1100" spc="11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factors</a:t>
            </a:r>
            <a:r>
              <a:rPr sz="1100" spc="11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related</a:t>
            </a:r>
            <a:r>
              <a:rPr sz="1100" spc="10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r>
              <a:rPr sz="1100" spc="11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IBM</a:t>
            </a:r>
            <a:r>
              <a:rPr sz="1100" spc="114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securities;</a:t>
            </a:r>
            <a:r>
              <a:rPr sz="1100" spc="114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other</a:t>
            </a:r>
            <a:r>
              <a:rPr sz="1100" spc="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risks,</a:t>
            </a:r>
            <a:r>
              <a:rPr sz="1100" spc="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uncertainties</a:t>
            </a:r>
            <a:r>
              <a:rPr sz="1100" spc="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11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factors</a:t>
            </a:r>
            <a:r>
              <a:rPr sz="1100" spc="-45" dirty="0">
                <a:latin typeface="Verdana"/>
                <a:cs typeface="Verdana"/>
              </a:rPr>
              <a:t> discussed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Form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10-</a:t>
            </a:r>
            <a:r>
              <a:rPr sz="1100" spc="-75" dirty="0">
                <a:latin typeface="Verdana"/>
                <a:cs typeface="Verdana"/>
              </a:rPr>
              <a:t>Qs,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Form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10-</a:t>
            </a:r>
            <a:r>
              <a:rPr sz="1100" spc="-70" dirty="0">
                <a:latin typeface="Verdana"/>
                <a:cs typeface="Verdana"/>
              </a:rPr>
              <a:t>K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other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filings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with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100" dirty="0">
                <a:latin typeface="Verdana"/>
                <a:cs typeface="Verdana"/>
              </a:rPr>
              <a:t>U.S. </a:t>
            </a:r>
            <a:r>
              <a:rPr sz="1100" spc="-60" dirty="0">
                <a:latin typeface="Verdana"/>
                <a:cs typeface="Verdana"/>
              </a:rPr>
              <a:t>Securities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Exchange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Commission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or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materials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incorporated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therein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by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reference.</a:t>
            </a:r>
            <a:endParaRPr sz="1100">
              <a:latin typeface="Verdana"/>
              <a:cs typeface="Verdana"/>
            </a:endParaRPr>
          </a:p>
          <a:p>
            <a:pPr marL="12700" marR="5080" indent="457200" algn="just">
              <a:lnSpc>
                <a:spcPct val="100000"/>
              </a:lnSpc>
              <a:spcBef>
                <a:spcPts val="10"/>
              </a:spcBef>
            </a:pPr>
            <a:r>
              <a:rPr sz="1100" spc="-120" dirty="0">
                <a:latin typeface="Verdana"/>
                <a:cs typeface="Verdana"/>
              </a:rPr>
              <a:t>Any</a:t>
            </a:r>
            <a:r>
              <a:rPr sz="1100" spc="2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forward-</a:t>
            </a:r>
            <a:r>
              <a:rPr sz="1100" spc="-75" dirty="0">
                <a:latin typeface="Verdana"/>
                <a:cs typeface="Verdana"/>
              </a:rPr>
              <a:t>looking</a:t>
            </a:r>
            <a:r>
              <a:rPr sz="1100" spc="-2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statement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110" dirty="0">
                <a:latin typeface="Verdana"/>
                <a:cs typeface="Verdana"/>
              </a:rPr>
              <a:t>in</a:t>
            </a:r>
            <a:r>
              <a:rPr sz="1100" spc="1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this</a:t>
            </a:r>
            <a:r>
              <a:rPr sz="1100" spc="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release</a:t>
            </a:r>
            <a:r>
              <a:rPr sz="1100" spc="1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speaks</a:t>
            </a:r>
            <a:r>
              <a:rPr sz="1100" spc="2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only</a:t>
            </a:r>
            <a:r>
              <a:rPr sz="1100" spc="10" dirty="0">
                <a:latin typeface="Verdana"/>
                <a:cs typeface="Verdana"/>
              </a:rPr>
              <a:t> </a:t>
            </a:r>
            <a:r>
              <a:rPr sz="1100" spc="-145" dirty="0">
                <a:latin typeface="Verdana"/>
                <a:cs typeface="Verdana"/>
              </a:rPr>
              <a:t>as</a:t>
            </a:r>
            <a:r>
              <a:rPr sz="1100" spc="50" dirty="0">
                <a:latin typeface="Verdana"/>
                <a:cs typeface="Verdana"/>
              </a:rPr>
              <a:t> </a:t>
            </a:r>
            <a:r>
              <a:rPr sz="1100" spc="-95" dirty="0">
                <a:latin typeface="Verdana"/>
                <a:cs typeface="Verdana"/>
              </a:rPr>
              <a:t>of</a:t>
            </a:r>
            <a:r>
              <a:rPr sz="1100" spc="20" dirty="0">
                <a:latin typeface="Verdana"/>
                <a:cs typeface="Verdana"/>
              </a:rPr>
              <a:t> </a:t>
            </a:r>
            <a:r>
              <a:rPr sz="1100" spc="-100" dirty="0">
                <a:latin typeface="Verdana"/>
                <a:cs typeface="Verdana"/>
              </a:rPr>
              <a:t>the</a:t>
            </a:r>
            <a:r>
              <a:rPr sz="1100" spc="20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date</a:t>
            </a:r>
            <a:r>
              <a:rPr sz="1100" dirty="0">
                <a:latin typeface="Verdana"/>
                <a:cs typeface="Verdana"/>
              </a:rPr>
              <a:t> </a:t>
            </a:r>
            <a:r>
              <a:rPr sz="1100" spc="-155" dirty="0">
                <a:latin typeface="Verdana"/>
                <a:cs typeface="Verdana"/>
              </a:rPr>
              <a:t>on</a:t>
            </a:r>
            <a:r>
              <a:rPr sz="1100" spc="6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which</a:t>
            </a:r>
            <a:r>
              <a:rPr sz="1100" spc="25" dirty="0">
                <a:latin typeface="Verdana"/>
                <a:cs typeface="Verdana"/>
              </a:rPr>
              <a:t> </a:t>
            </a:r>
            <a:r>
              <a:rPr sz="1100" spc="-105" dirty="0">
                <a:latin typeface="Verdana"/>
                <a:cs typeface="Verdana"/>
              </a:rPr>
              <a:t>it</a:t>
            </a:r>
            <a:r>
              <a:rPr sz="1100" spc="10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is</a:t>
            </a:r>
            <a:r>
              <a:rPr sz="1100" spc="20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made. </a:t>
            </a:r>
            <a:r>
              <a:rPr sz="1100" spc="-45" dirty="0">
                <a:latin typeface="Verdana"/>
                <a:cs typeface="Verdana"/>
              </a:rPr>
              <a:t>Except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as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required </a:t>
            </a:r>
            <a:r>
              <a:rPr sz="1100" spc="-30" dirty="0">
                <a:latin typeface="Verdana"/>
                <a:cs typeface="Verdana"/>
              </a:rPr>
              <a:t>by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law,</a:t>
            </a:r>
            <a:r>
              <a:rPr sz="1100" spc="-35" dirty="0">
                <a:latin typeface="Verdana"/>
                <a:cs typeface="Verdana"/>
              </a:rPr>
              <a:t> the </a:t>
            </a:r>
            <a:r>
              <a:rPr sz="1100" spc="-70" dirty="0">
                <a:latin typeface="Verdana"/>
                <a:cs typeface="Verdana"/>
              </a:rPr>
              <a:t>company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assumes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no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obligation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to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update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or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revise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any</a:t>
            </a:r>
            <a:r>
              <a:rPr sz="1100" spc="-25" dirty="0">
                <a:latin typeface="Verdana"/>
                <a:cs typeface="Verdana"/>
              </a:rPr>
              <a:t> forward- </a:t>
            </a:r>
            <a:r>
              <a:rPr sz="1100" spc="-65" dirty="0">
                <a:latin typeface="Verdana"/>
                <a:cs typeface="Verdana"/>
              </a:rPr>
              <a:t>looking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statements.</a:t>
            </a:r>
            <a:endParaRPr sz="110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800"/>
              </a:spcBef>
            </a:pPr>
            <a:r>
              <a:rPr sz="1100" b="1" spc="-45" dirty="0">
                <a:latin typeface="Tahoma"/>
                <a:cs typeface="Tahoma"/>
              </a:rPr>
              <a:t>Presentation</a:t>
            </a:r>
            <a:r>
              <a:rPr sz="1100" b="1" spc="-35" dirty="0">
                <a:latin typeface="Tahoma"/>
                <a:cs typeface="Tahoma"/>
              </a:rPr>
              <a:t> </a:t>
            </a:r>
            <a:r>
              <a:rPr sz="1100" b="1" spc="-45" dirty="0">
                <a:latin typeface="Tahoma"/>
                <a:cs typeface="Tahoma"/>
              </a:rPr>
              <a:t>of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b="1" spc="-55" dirty="0">
                <a:latin typeface="Tahoma"/>
                <a:cs typeface="Tahoma"/>
              </a:rPr>
              <a:t>Information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b="1" spc="-45" dirty="0">
                <a:latin typeface="Tahoma"/>
                <a:cs typeface="Tahoma"/>
              </a:rPr>
              <a:t>in</a:t>
            </a:r>
            <a:r>
              <a:rPr sz="1100" b="1" spc="-20" dirty="0">
                <a:latin typeface="Tahoma"/>
                <a:cs typeface="Tahoma"/>
              </a:rPr>
              <a:t> </a:t>
            </a:r>
            <a:r>
              <a:rPr sz="1100" b="1" spc="-35" dirty="0">
                <a:latin typeface="Tahoma"/>
                <a:cs typeface="Tahoma"/>
              </a:rPr>
              <a:t>this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b="1" spc="-30" dirty="0">
                <a:latin typeface="Tahoma"/>
                <a:cs typeface="Tahoma"/>
              </a:rPr>
              <a:t>Press </a:t>
            </a:r>
            <a:r>
              <a:rPr sz="1100" b="1" spc="-10" dirty="0">
                <a:latin typeface="Tahoma"/>
                <a:cs typeface="Tahoma"/>
              </a:rPr>
              <a:t>Release</a:t>
            </a:r>
            <a:endParaRPr sz="1100">
              <a:latin typeface="Tahoma"/>
              <a:cs typeface="Tahoma"/>
            </a:endParaRPr>
          </a:p>
          <a:p>
            <a:pPr marL="12700" marR="86360" indent="457200">
              <a:lnSpc>
                <a:spcPct val="99700"/>
              </a:lnSpc>
              <a:spcBef>
                <a:spcPts val="810"/>
              </a:spcBef>
            </a:pPr>
            <a:r>
              <a:rPr sz="1100" spc="-60" dirty="0">
                <a:latin typeface="Verdana"/>
                <a:cs typeface="Verdana"/>
              </a:rPr>
              <a:t>For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generative </a:t>
            </a:r>
            <a:r>
              <a:rPr sz="1100" spc="-70" dirty="0">
                <a:latin typeface="Verdana"/>
                <a:cs typeface="Verdana"/>
              </a:rPr>
              <a:t>AI,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book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business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includes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inception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to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date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Software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transactional </a:t>
            </a:r>
            <a:r>
              <a:rPr sz="1100" spc="-85" dirty="0">
                <a:latin typeface="Verdana"/>
                <a:cs typeface="Verdana"/>
              </a:rPr>
              <a:t>revenue,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plus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new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5" dirty="0">
                <a:latin typeface="Verdana"/>
                <a:cs typeface="Verdana"/>
              </a:rPr>
              <a:t>SaaS </a:t>
            </a:r>
            <a:r>
              <a:rPr sz="1100" spc="-65" dirty="0">
                <a:latin typeface="Verdana"/>
                <a:cs typeface="Verdana"/>
              </a:rPr>
              <a:t>Annual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Contract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Value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and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Consulting</a:t>
            </a:r>
            <a:r>
              <a:rPr sz="1100" spc="-75" dirty="0">
                <a:latin typeface="Verdana"/>
                <a:cs typeface="Verdana"/>
              </a:rPr>
              <a:t> signings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related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to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specific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offerings. </a:t>
            </a: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generative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AI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book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business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is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further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defined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within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Exhibit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99.2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in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Form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8-</a:t>
            </a:r>
            <a:r>
              <a:rPr sz="1100" spc="-75" dirty="0">
                <a:latin typeface="Verdana"/>
                <a:cs typeface="Verdana"/>
              </a:rPr>
              <a:t>K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that </a:t>
            </a:r>
            <a:r>
              <a:rPr sz="1100" spc="-45" dirty="0">
                <a:latin typeface="Verdana"/>
                <a:cs typeface="Verdana"/>
              </a:rPr>
              <a:t>includes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this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press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release.</a:t>
            </a:r>
            <a:endParaRPr sz="1100">
              <a:latin typeface="Verdana"/>
              <a:cs typeface="Verdana"/>
            </a:endParaRPr>
          </a:p>
          <a:p>
            <a:pPr marL="12700" marR="66675" indent="457200">
              <a:lnSpc>
                <a:spcPct val="100000"/>
              </a:lnSpc>
              <a:spcBef>
                <a:spcPts val="805"/>
              </a:spcBef>
            </a:pPr>
            <a:r>
              <a:rPr sz="1100" spc="-60" dirty="0">
                <a:latin typeface="Verdana"/>
                <a:cs typeface="Verdana"/>
              </a:rPr>
              <a:t>In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an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effort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to</a:t>
            </a:r>
            <a:r>
              <a:rPr sz="1100" spc="-70" dirty="0">
                <a:latin typeface="Verdana"/>
                <a:cs typeface="Verdana"/>
              </a:rPr>
              <a:t> provide investors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with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additional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information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regarding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the</a:t>
            </a:r>
            <a:r>
              <a:rPr sz="1100" spc="-70" dirty="0">
                <a:latin typeface="Verdana"/>
                <a:cs typeface="Verdana"/>
              </a:rPr>
              <a:t> company’s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results </a:t>
            </a:r>
            <a:r>
              <a:rPr sz="1100" spc="-65" dirty="0">
                <a:latin typeface="Verdana"/>
                <a:cs typeface="Verdana"/>
              </a:rPr>
              <a:t>as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determined</a:t>
            </a:r>
            <a:r>
              <a:rPr sz="1100" spc="-85" dirty="0">
                <a:latin typeface="Verdana"/>
                <a:cs typeface="Verdana"/>
              </a:rPr>
              <a:t> by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generally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accepted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accounting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principles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(GAAP),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company </a:t>
            </a:r>
            <a:r>
              <a:rPr sz="1100" spc="-75" dirty="0">
                <a:latin typeface="Verdana"/>
                <a:cs typeface="Verdana"/>
              </a:rPr>
              <a:t>has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also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disclosed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this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press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release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the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following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non-</a:t>
            </a:r>
            <a:r>
              <a:rPr sz="1100" spc="-55" dirty="0">
                <a:latin typeface="Verdana"/>
                <a:cs typeface="Verdana"/>
              </a:rPr>
              <a:t>GAAP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information,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which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management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believes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provides </a:t>
            </a:r>
            <a:r>
              <a:rPr sz="1100" spc="-55" dirty="0">
                <a:latin typeface="Verdana"/>
                <a:cs typeface="Verdana"/>
              </a:rPr>
              <a:t>useful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information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investors: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100" spc="-35" dirty="0">
                <a:latin typeface="Verdana"/>
                <a:cs typeface="Verdana"/>
              </a:rPr>
              <a:t>IBM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results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—</a:t>
            </a:r>
            <a:endParaRPr sz="11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1100" spc="-75" dirty="0">
                <a:latin typeface="Verdana"/>
                <a:cs typeface="Verdana"/>
              </a:rPr>
              <a:t>adjusting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for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currency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95" dirty="0">
                <a:latin typeface="Verdana"/>
                <a:cs typeface="Verdana"/>
              </a:rPr>
              <a:t>(i.e.,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currency);</a:t>
            </a:r>
            <a:endParaRPr sz="1100">
              <a:latin typeface="Verdana"/>
              <a:cs typeface="Verdana"/>
            </a:endParaRPr>
          </a:p>
          <a:p>
            <a:pPr marL="241300" marR="283210" indent="-229235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1100" spc="-70" dirty="0">
                <a:latin typeface="Verdana"/>
                <a:cs typeface="Verdana"/>
              </a:rPr>
              <a:t>presenting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operating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(non-</a:t>
            </a:r>
            <a:r>
              <a:rPr sz="1100" spc="-75" dirty="0">
                <a:latin typeface="Verdana"/>
                <a:cs typeface="Verdana"/>
              </a:rPr>
              <a:t>GAAP)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earnings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share</a:t>
            </a:r>
            <a:r>
              <a:rPr sz="1100" spc="-6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amounts </a:t>
            </a:r>
            <a:r>
              <a:rPr sz="1100" spc="-75" dirty="0">
                <a:latin typeface="Verdana"/>
                <a:cs typeface="Verdana"/>
              </a:rPr>
              <a:t>and </a:t>
            </a:r>
            <a:r>
              <a:rPr sz="1100" spc="-60" dirty="0">
                <a:latin typeface="Verdana"/>
                <a:cs typeface="Verdana"/>
              </a:rPr>
              <a:t>related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income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statement </a:t>
            </a:r>
            <a:r>
              <a:rPr sz="1100" spc="-10" dirty="0">
                <a:latin typeface="Verdana"/>
                <a:cs typeface="Verdana"/>
              </a:rPr>
              <a:t>items;</a:t>
            </a:r>
            <a:endParaRPr sz="11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1100" spc="-60" dirty="0">
                <a:latin typeface="Verdana"/>
                <a:cs typeface="Verdana"/>
              </a:rPr>
              <a:t>free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flow;</a:t>
            </a:r>
            <a:endParaRPr sz="11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1100" spc="-65" dirty="0">
                <a:latin typeface="Verdana"/>
                <a:cs typeface="Verdana"/>
              </a:rPr>
              <a:t>net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from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operating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activities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excluding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IBM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Financing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receivables;</a:t>
            </a:r>
            <a:endParaRPr sz="11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1100" spc="-70" dirty="0">
                <a:latin typeface="Verdana"/>
                <a:cs typeface="Verdana"/>
              </a:rPr>
              <a:t>adjusted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EBITDA.</a:t>
            </a:r>
            <a:endParaRPr sz="1100">
              <a:latin typeface="Verdana"/>
              <a:cs typeface="Verdana"/>
            </a:endParaRPr>
          </a:p>
          <a:p>
            <a:pPr marL="12700" marR="57785" indent="457200">
              <a:lnSpc>
                <a:spcPts val="1310"/>
              </a:lnSpc>
              <a:spcBef>
                <a:spcPts val="855"/>
              </a:spcBef>
            </a:pP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rationale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for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management’s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use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these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non-</a:t>
            </a:r>
            <a:r>
              <a:rPr sz="1100" spc="-60" dirty="0">
                <a:latin typeface="Verdana"/>
                <a:cs typeface="Verdana"/>
              </a:rPr>
              <a:t>GAAP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measures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is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included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Exhibit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99.2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Form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8-</a:t>
            </a:r>
            <a:r>
              <a:rPr sz="1100" spc="-75" dirty="0">
                <a:latin typeface="Verdana"/>
                <a:cs typeface="Verdana"/>
              </a:rPr>
              <a:t>K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that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includes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this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press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release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and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is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being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submitted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today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the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SEC.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100" b="1" spc="-45" dirty="0">
                <a:latin typeface="Tahoma"/>
                <a:cs typeface="Tahoma"/>
              </a:rPr>
              <a:t>Conference</a:t>
            </a:r>
            <a:r>
              <a:rPr sz="1100" b="1" spc="-35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Tahoma"/>
                <a:cs typeface="Tahoma"/>
              </a:rPr>
              <a:t>Call</a:t>
            </a:r>
            <a:r>
              <a:rPr sz="1100" b="1" spc="-40" dirty="0">
                <a:latin typeface="Tahoma"/>
                <a:cs typeface="Tahoma"/>
              </a:rPr>
              <a:t> and</a:t>
            </a:r>
            <a:r>
              <a:rPr sz="1100" b="1" spc="-3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Webcast</a:t>
            </a:r>
            <a:endParaRPr sz="11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800"/>
              </a:spcBef>
            </a:pPr>
            <a:r>
              <a:rPr sz="1100" spc="-35" dirty="0">
                <a:latin typeface="Verdana"/>
                <a:cs typeface="Verdana"/>
              </a:rPr>
              <a:t>IBM’s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regular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quarterly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earnings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conference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call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is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scheduled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to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begin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5:00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0" dirty="0">
                <a:latin typeface="Verdana"/>
                <a:cs typeface="Verdana"/>
              </a:rPr>
              <a:t>p.m.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ET,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today.</a:t>
            </a:r>
            <a:endParaRPr sz="1100">
              <a:latin typeface="Verdana"/>
              <a:cs typeface="Verdana"/>
            </a:endParaRPr>
          </a:p>
          <a:p>
            <a:pPr marL="12700" marR="172085">
              <a:lnSpc>
                <a:spcPct val="100000"/>
              </a:lnSpc>
            </a:pPr>
            <a:r>
              <a:rPr sz="1100" spc="-65" dirty="0">
                <a:latin typeface="Verdana"/>
                <a:cs typeface="Verdana"/>
              </a:rPr>
              <a:t>The Webcast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110" dirty="0">
                <a:latin typeface="Verdana"/>
                <a:cs typeface="Verdana"/>
              </a:rPr>
              <a:t>may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be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accessed </a:t>
            </a:r>
            <a:r>
              <a:rPr sz="1100" spc="-75" dirty="0">
                <a:latin typeface="Verdana"/>
                <a:cs typeface="Verdana"/>
              </a:rPr>
              <a:t>via </a:t>
            </a:r>
            <a:r>
              <a:rPr sz="1100" spc="-85" dirty="0">
                <a:latin typeface="Verdana"/>
                <a:cs typeface="Verdana"/>
              </a:rPr>
              <a:t>a</a:t>
            </a:r>
            <a:r>
              <a:rPr sz="1100" spc="-55" dirty="0">
                <a:latin typeface="Verdana"/>
                <a:cs typeface="Verdana"/>
              </a:rPr>
              <a:t> link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https:/</a:t>
            </a:r>
            <a:r>
              <a:rPr sz="1100" spc="-80" dirty="0">
                <a:latin typeface="Verdana"/>
                <a:cs typeface="Verdana"/>
                <a:hlinkClick r:id="rId2"/>
              </a:rPr>
              <a:t>/www.ibm.com/investor/events/earnings-</a:t>
            </a:r>
            <a:r>
              <a:rPr sz="1100" spc="-10" dirty="0">
                <a:latin typeface="Verdana"/>
                <a:cs typeface="Verdana"/>
                <a:hlinkClick r:id="rId2"/>
              </a:rPr>
              <a:t>3q25.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Presentation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charts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30" dirty="0">
                <a:latin typeface="Verdana"/>
                <a:cs typeface="Verdana"/>
              </a:rPr>
              <a:t>will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be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available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shortly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before</a:t>
            </a:r>
            <a:r>
              <a:rPr sz="1100" spc="-75" dirty="0">
                <a:latin typeface="Verdana"/>
                <a:cs typeface="Verdana"/>
              </a:rPr>
              <a:t> the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Webcast.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1012" y="520699"/>
            <a:ext cx="553847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b="1" spc="-30" dirty="0">
                <a:latin typeface="Tahoma"/>
                <a:cs typeface="Tahoma"/>
              </a:rPr>
              <a:t>Financial</a:t>
            </a:r>
            <a:r>
              <a:rPr sz="1100" b="1" spc="-50" dirty="0">
                <a:latin typeface="Tahoma"/>
                <a:cs typeface="Tahoma"/>
              </a:rPr>
              <a:t> </a:t>
            </a:r>
            <a:r>
              <a:rPr sz="1100" b="1" spc="-35" dirty="0">
                <a:latin typeface="Tahoma"/>
                <a:cs typeface="Tahoma"/>
              </a:rPr>
              <a:t>Results</a:t>
            </a:r>
            <a:r>
              <a:rPr sz="1100" b="1" spc="-40" dirty="0">
                <a:latin typeface="Tahoma"/>
                <a:cs typeface="Tahoma"/>
              </a:rPr>
              <a:t> Below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spc="-70" dirty="0">
                <a:latin typeface="Verdana"/>
                <a:cs typeface="Verdana"/>
              </a:rPr>
              <a:t>(certain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amounts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110" dirty="0">
                <a:latin typeface="Verdana"/>
                <a:cs typeface="Verdana"/>
              </a:rPr>
              <a:t>may </a:t>
            </a:r>
            <a:r>
              <a:rPr sz="1100" spc="-60" dirty="0">
                <a:latin typeface="Verdana"/>
                <a:cs typeface="Verdana"/>
              </a:rPr>
              <a:t>not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add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due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use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of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rounded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numbers; </a:t>
            </a:r>
            <a:r>
              <a:rPr sz="1100" spc="-70" dirty="0">
                <a:latin typeface="Verdana"/>
                <a:cs typeface="Verdana"/>
              </a:rPr>
              <a:t>percentages </a:t>
            </a:r>
            <a:r>
              <a:rPr sz="1100" spc="-65" dirty="0">
                <a:latin typeface="Verdana"/>
                <a:cs typeface="Verdana"/>
              </a:rPr>
              <a:t>presented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are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calculated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from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 </a:t>
            </a:r>
            <a:r>
              <a:rPr sz="1100" spc="-75" dirty="0">
                <a:latin typeface="Verdana"/>
                <a:cs typeface="Verdana"/>
              </a:rPr>
              <a:t>underlying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whole-</a:t>
            </a:r>
            <a:r>
              <a:rPr sz="1100" spc="-55" dirty="0">
                <a:latin typeface="Verdana"/>
                <a:cs typeface="Verdana"/>
              </a:rPr>
              <a:t>dollar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amounts).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1012" y="1205230"/>
            <a:ext cx="5543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75" dirty="0">
                <a:latin typeface="Verdana"/>
                <a:cs typeface="Verdana"/>
              </a:rPr>
              <a:t>Contact: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3266" y="1160119"/>
            <a:ext cx="1894205" cy="115951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100" spc="-25" dirty="0">
                <a:latin typeface="Verdana"/>
                <a:cs typeface="Verdana"/>
              </a:rPr>
              <a:t>IBM</a:t>
            </a:r>
            <a:endParaRPr sz="1100">
              <a:latin typeface="Verdana"/>
              <a:cs typeface="Verdana"/>
            </a:endParaRPr>
          </a:p>
          <a:p>
            <a:pPr marL="12700" marR="5080">
              <a:lnSpc>
                <a:spcPts val="1689"/>
              </a:lnSpc>
              <a:spcBef>
                <a:spcPts val="105"/>
              </a:spcBef>
            </a:pPr>
            <a:r>
              <a:rPr sz="1100" spc="-70" dirty="0">
                <a:latin typeface="Verdana"/>
                <a:cs typeface="Verdana"/>
              </a:rPr>
              <a:t>Tim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Davidson,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914-</a:t>
            </a:r>
            <a:r>
              <a:rPr sz="1100" spc="-65" dirty="0">
                <a:latin typeface="Verdana"/>
                <a:cs typeface="Verdana"/>
              </a:rPr>
              <a:t>844-</a:t>
            </a:r>
            <a:r>
              <a:rPr sz="1100" spc="-30" dirty="0">
                <a:latin typeface="Verdana"/>
                <a:cs typeface="Verdana"/>
              </a:rPr>
              <a:t>7847 </a:t>
            </a:r>
            <a:r>
              <a:rPr sz="1100" spc="-20" dirty="0">
                <a:latin typeface="Verdana"/>
                <a:cs typeface="Verdana"/>
                <a:hlinkClick r:id="rId2"/>
              </a:rPr>
              <a:t>tfdavids@us.ibm.com</a:t>
            </a:r>
            <a:endParaRPr sz="1100">
              <a:latin typeface="Verdana"/>
              <a:cs typeface="Verdana"/>
            </a:endParaRPr>
          </a:p>
          <a:p>
            <a:pPr marL="12700" marR="9525">
              <a:lnSpc>
                <a:spcPct val="127299"/>
              </a:lnSpc>
              <a:spcBef>
                <a:spcPts val="400"/>
              </a:spcBef>
            </a:pPr>
            <a:r>
              <a:rPr sz="1100" spc="-60" dirty="0">
                <a:latin typeface="Verdana"/>
                <a:cs typeface="Verdana"/>
              </a:rPr>
              <a:t>Erin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McElwee,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347-</a:t>
            </a:r>
            <a:r>
              <a:rPr sz="1100" spc="-65" dirty="0">
                <a:latin typeface="Verdana"/>
                <a:cs typeface="Verdana"/>
              </a:rPr>
              <a:t>920-</a:t>
            </a:r>
            <a:r>
              <a:rPr sz="1100" spc="-30" dirty="0">
                <a:latin typeface="Verdana"/>
                <a:cs typeface="Verdana"/>
              </a:rPr>
              <a:t>6825 </a:t>
            </a:r>
            <a:r>
              <a:rPr sz="1100" spc="-25" dirty="0">
                <a:latin typeface="Verdana"/>
                <a:cs typeface="Verdana"/>
                <a:hlinkClick r:id="rId3"/>
              </a:rPr>
              <a:t>erin.mcelwee@ibm.com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1010" y="531368"/>
            <a:ext cx="27711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 marR="42545" algn="ctr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INTERNATIONAL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BUSINESS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MACHINES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CORPORATION COMPARATIVE</a:t>
            </a:r>
            <a:r>
              <a:rPr sz="800" b="1" spc="20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FINANCIAL</a:t>
            </a:r>
            <a:r>
              <a:rPr sz="800" b="1" spc="35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RESULTS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800" b="1" spc="-40" dirty="0">
                <a:latin typeface="Tahoma"/>
                <a:cs typeface="Tahoma"/>
              </a:rPr>
              <a:t>(Unaudited;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Dollars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in</a:t>
            </a:r>
            <a:r>
              <a:rPr sz="800" b="1" spc="-25" dirty="0">
                <a:latin typeface="Tahoma"/>
                <a:cs typeface="Tahoma"/>
              </a:rPr>
              <a:t> millions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except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per</a:t>
            </a:r>
            <a:r>
              <a:rPr sz="800" b="1" spc="-30" dirty="0">
                <a:latin typeface="Tahoma"/>
                <a:cs typeface="Tahoma"/>
              </a:rPr>
              <a:t> share</a:t>
            </a:r>
            <a:r>
              <a:rPr sz="800" b="1" spc="-10" dirty="0">
                <a:latin typeface="Tahoma"/>
                <a:cs typeface="Tahoma"/>
              </a:rPr>
              <a:t> amounts)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03446" y="1090930"/>
            <a:ext cx="1004569" cy="26225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47955" marR="5080" indent="-135890">
              <a:lnSpc>
                <a:spcPts val="900"/>
              </a:lnSpc>
              <a:spcBef>
                <a:spcPts val="180"/>
              </a:spcBef>
            </a:pPr>
            <a:r>
              <a:rPr sz="800" b="1" spc="-35" dirty="0">
                <a:latin typeface="Tahoma"/>
                <a:cs typeface="Tahoma"/>
              </a:rPr>
              <a:t>Three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Ended </a:t>
            </a:r>
            <a:r>
              <a:rPr sz="800" b="1" spc="-35" dirty="0">
                <a:latin typeface="Tahoma"/>
                <a:cs typeface="Tahoma"/>
              </a:rPr>
              <a:t>September</a:t>
            </a:r>
            <a:r>
              <a:rPr sz="800" b="1" spc="2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30,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17845" y="1090930"/>
            <a:ext cx="949960" cy="26225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0650" marR="5080" indent="-108585">
              <a:lnSpc>
                <a:spcPts val="900"/>
              </a:lnSpc>
              <a:spcBef>
                <a:spcPts val="180"/>
              </a:spcBef>
            </a:pPr>
            <a:r>
              <a:rPr sz="800" b="1" spc="-30" dirty="0">
                <a:latin typeface="Tahoma"/>
                <a:cs typeface="Tahoma"/>
              </a:rPr>
              <a:t>Nine</a:t>
            </a:r>
            <a:r>
              <a:rPr sz="800" b="1" spc="-35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3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Ended </a:t>
            </a:r>
            <a:r>
              <a:rPr sz="800" b="1" spc="-35" dirty="0">
                <a:latin typeface="Tahoma"/>
                <a:cs typeface="Tahoma"/>
              </a:rPr>
              <a:t>September</a:t>
            </a:r>
            <a:r>
              <a:rPr sz="800" b="1" spc="2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30,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66241" y="1382522"/>
          <a:ext cx="6440803" cy="76434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87320"/>
                <a:gridCol w="762000"/>
                <a:gridCol w="181610"/>
                <a:gridCol w="762000"/>
                <a:gridCol w="181610"/>
                <a:gridCol w="762635"/>
                <a:gridCol w="180339"/>
                <a:gridCol w="762635"/>
                <a:gridCol w="160654"/>
              </a:tblGrid>
              <a:tr h="3105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2705">
                        <a:lnSpc>
                          <a:spcPct val="100000"/>
                        </a:lnSpc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REVENUE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BY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SEGMENT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  <a:tabLst>
                          <a:tab pos="258445" algn="l"/>
                          <a:tab pos="761365" algn="l"/>
                        </a:tabLst>
                      </a:pPr>
                      <a:r>
                        <a:rPr sz="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2025</a:t>
                      </a:r>
                      <a:r>
                        <a:rPr sz="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	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10"/>
                        </a:spcBef>
                        <a:tabLst>
                          <a:tab pos="258445" algn="l"/>
                          <a:tab pos="761365" algn="l"/>
                        </a:tabLst>
                      </a:pPr>
                      <a:r>
                        <a:rPr sz="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2024</a:t>
                      </a:r>
                      <a:r>
                        <a:rPr sz="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	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  <a:tabLst>
                          <a:tab pos="258445" algn="l"/>
                          <a:tab pos="762000" algn="l"/>
                        </a:tabLst>
                      </a:pPr>
                      <a:r>
                        <a:rPr sz="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2025</a:t>
                      </a:r>
                      <a:r>
                        <a:rPr sz="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	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10"/>
                        </a:spcBef>
                        <a:tabLst>
                          <a:tab pos="258445" algn="l"/>
                          <a:tab pos="761365" algn="l"/>
                        </a:tabLst>
                      </a:pPr>
                      <a:r>
                        <a:rPr sz="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2024</a:t>
                      </a:r>
                      <a:r>
                        <a:rPr sz="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	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9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4465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Software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44767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7,209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4140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6,524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38671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20,932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35306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19,162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Consulting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5,324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5,152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15,706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15,517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Infrastructure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3,559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3,042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10,586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9,764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Financing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200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181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557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543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4859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Other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9690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38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9690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68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9690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68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3594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214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77165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REVENUE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16,331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14,968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47,849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45,199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889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3749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GROSS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PROFIT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9,360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8,420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27,369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25,112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191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20979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GROSS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PROFIT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MARGIN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92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64465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Software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83.1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83.2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83.5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83.1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</a:tr>
              <a:tr h="15240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Consulting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29.3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28.4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28.0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26.7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Infrastructure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57.2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55.0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57.7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55.3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68275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Financing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45.6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47.2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45.7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48.2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9558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GROSS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PROFIT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MARGIN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57.3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56.3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57.2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55.6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</a:tr>
              <a:tr h="19177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EXPENSE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OTHER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INCOME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4465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SG&amp;A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4,748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4,911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14,661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14,823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R&amp;D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2,082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1,876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6,129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5,512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40" dirty="0">
                          <a:latin typeface="Verdana"/>
                          <a:cs typeface="Verdana"/>
                        </a:rPr>
                        <a:t>Intellectual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property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custom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development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income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(219)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(238)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(687)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(696)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Other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(income)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expense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(1)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(173)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2,244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(376)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1,694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47955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Interest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expense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3594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492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3594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429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44767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1,457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44767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1,288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7653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EXPENSE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OTHER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INCOME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6,931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9,222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21,184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22,621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1925">
                <a:tc>
                  <a:txBody>
                    <a:bodyPr/>
                    <a:lstStyle/>
                    <a:p>
                      <a:pPr marL="52705">
                        <a:lnSpc>
                          <a:spcPts val="855"/>
                        </a:lnSpc>
                        <a:spcBef>
                          <a:spcPts val="320"/>
                        </a:spcBef>
                      </a:pPr>
                      <a:r>
                        <a:rPr sz="800" b="1" spc="-55" dirty="0">
                          <a:latin typeface="Tahoma"/>
                          <a:cs typeface="Tahoma"/>
                        </a:rPr>
                        <a:t>INCOME/(LOSS)</a:t>
                      </a:r>
                      <a:r>
                        <a:rPr sz="800" b="1" spc="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FROM</a:t>
                      </a:r>
                      <a:r>
                        <a:rPr sz="800" b="1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CONTINUING</a:t>
                      </a:r>
                      <a:r>
                        <a:rPr sz="800" b="1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OPERATIONS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06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46050">
                <a:tc>
                  <a:txBody>
                    <a:bodyPr/>
                    <a:lstStyle/>
                    <a:p>
                      <a:pPr marL="52705">
                        <a:lnSpc>
                          <a:spcPts val="915"/>
                        </a:lnSpc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BEFORE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INCOME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TAXES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915"/>
                        </a:lnSpc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2,430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ts val="915"/>
                        </a:lnSpc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(802)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915"/>
                        </a:lnSpc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6,185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915"/>
                        </a:lnSpc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2,491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446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Pre-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margin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14.9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(5.4)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12.9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5.5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</a:tr>
              <a:tr h="15240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Provision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for/(Benefit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from)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taxes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(1)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686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(485)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1,193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(597)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827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Effective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rate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28.2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60.4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19.3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(24.0)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96215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b="1" spc="-55" dirty="0">
                          <a:latin typeface="Tahoma"/>
                          <a:cs typeface="Tahoma"/>
                        </a:rPr>
                        <a:t>INCOME/(LOSS)</a:t>
                      </a:r>
                      <a:r>
                        <a:rPr sz="800" b="1" spc="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FROM</a:t>
                      </a:r>
                      <a:r>
                        <a:rPr sz="800" b="1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CONTINUING</a:t>
                      </a:r>
                      <a:r>
                        <a:rPr sz="800" b="1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OPERATIONS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44767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1,744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45656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(317)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44767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4,992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4140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3,088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70180">
                <a:tc>
                  <a:txBody>
                    <a:bodyPr/>
                    <a:lstStyle/>
                    <a:p>
                      <a:pPr marL="52705">
                        <a:lnSpc>
                          <a:spcPts val="919"/>
                        </a:lnSpc>
                        <a:spcBef>
                          <a:spcPts val="320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DISCONTINUED</a:t>
                      </a:r>
                      <a:r>
                        <a:rPr sz="800" b="1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OPERATIONS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06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16230">
                <a:tc>
                  <a:txBody>
                    <a:bodyPr/>
                    <a:lstStyle/>
                    <a:p>
                      <a:pPr marL="95250" marR="261620">
                        <a:lnSpc>
                          <a:spcPts val="900"/>
                        </a:lnSpc>
                        <a:spcBef>
                          <a:spcPts val="39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Income/(loss)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discontinued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operations,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net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of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taxes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95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46355" algn="r">
                        <a:lnSpc>
                          <a:spcPct val="100000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810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1905" algn="r">
                        <a:lnSpc>
                          <a:spcPct val="100000"/>
                        </a:lnSpc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(13)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810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ct val="100000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810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4925" algn="r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810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20979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55" dirty="0">
                          <a:latin typeface="Tahoma"/>
                          <a:cs typeface="Tahoma"/>
                        </a:rPr>
                        <a:t>INCOME/(LOSS)</a:t>
                      </a:r>
                      <a:r>
                        <a:rPr sz="800" b="1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50" b="1" spc="-37" baseline="33333" dirty="0">
                          <a:latin typeface="Tahoma"/>
                          <a:cs typeface="Tahoma"/>
                        </a:rPr>
                        <a:t>(1)</a:t>
                      </a:r>
                      <a:endParaRPr sz="750" baseline="33333">
                        <a:latin typeface="Tahoma"/>
                        <a:cs typeface="Tahoma"/>
                      </a:endParaRPr>
                    </a:p>
                  </a:txBody>
                  <a:tcPr marL="0" marR="0" marT="4762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375"/>
                        </a:spcBef>
                        <a:tabLst>
                          <a:tab pos="44767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1,744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375"/>
                        </a:spcBef>
                        <a:tabLst>
                          <a:tab pos="45656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(330)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375"/>
                        </a:spcBef>
                        <a:tabLst>
                          <a:tab pos="44767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4,993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375"/>
                        </a:spcBef>
                        <a:tabLst>
                          <a:tab pos="4140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3,109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43204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EARNINGS/(LOSS)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PER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SHARE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OF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50" dirty="0">
                          <a:latin typeface="Tahoma"/>
                          <a:cs typeface="Tahoma"/>
                        </a:rPr>
                        <a:t>COMMON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STOCK</a:t>
                      </a:r>
                      <a:r>
                        <a:rPr sz="800" b="1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50" b="1" spc="-37" baseline="33333" dirty="0">
                          <a:latin typeface="Tahoma"/>
                          <a:cs typeface="Tahoma"/>
                        </a:rPr>
                        <a:t>(1)</a:t>
                      </a:r>
                      <a:endParaRPr sz="750" baseline="33333">
                        <a:latin typeface="Tahoma"/>
                        <a:cs typeface="Tahoma"/>
                      </a:endParaRPr>
                    </a:p>
                  </a:txBody>
                  <a:tcPr marL="0" marR="0" marT="920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446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Assuming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Dilution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Continuing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8634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1.84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42799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(0.34)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8634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5.27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4749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3.30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Discontinued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8634" algn="l"/>
                        </a:tabLst>
                      </a:pP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473709" algn="l"/>
                        </a:tabLst>
                      </a:pPr>
                      <a:r>
                        <a:rPr sz="800" u="sng" spc="7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6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7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(0.01)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8634" algn="l"/>
                        </a:tabLst>
                      </a:pP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8634" algn="l"/>
                        </a:tabLst>
                      </a:pP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0.02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75260"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TOTAL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8634" algn="l"/>
                        </a:tabLst>
                      </a:pP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1.84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473709" algn="l"/>
                        </a:tabLst>
                      </a:pPr>
                      <a:r>
                        <a:rPr sz="800" u="sng" spc="7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6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7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(0.36)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8634" algn="l"/>
                        </a:tabLst>
                      </a:pP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5.27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8634" algn="l"/>
                        </a:tabLst>
                      </a:pP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3.32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7480">
                <a:tc>
                  <a:txBody>
                    <a:bodyPr/>
                    <a:lstStyle/>
                    <a:p>
                      <a:pPr marL="95250">
                        <a:lnSpc>
                          <a:spcPts val="919"/>
                        </a:lnSpc>
                        <a:spcBef>
                          <a:spcPts val="219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Basic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93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1925"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Continuing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75"/>
                        </a:spcBef>
                        <a:tabLst>
                          <a:tab pos="508634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1.87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75"/>
                        </a:spcBef>
                        <a:tabLst>
                          <a:tab pos="42799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(0.34)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75"/>
                        </a:spcBef>
                        <a:tabLst>
                          <a:tab pos="508634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5.36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75"/>
                        </a:spcBef>
                        <a:tabLst>
                          <a:tab pos="4749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3.36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Discontinued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8634" algn="l"/>
                        </a:tabLst>
                      </a:pP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473709" algn="l"/>
                        </a:tabLst>
                      </a:pPr>
                      <a:r>
                        <a:rPr sz="800" u="sng" spc="7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6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7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(0.01)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8634" algn="l"/>
                        </a:tabLst>
                      </a:pP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8634" algn="l"/>
                        </a:tabLst>
                      </a:pP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0.02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75260"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TOTAL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8634" algn="l"/>
                        </a:tabLst>
                      </a:pP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1.87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473709" algn="l"/>
                        </a:tabLst>
                      </a:pPr>
                      <a:r>
                        <a:rPr sz="800" u="sng" spc="7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6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7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(0.36)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8634" algn="l"/>
                        </a:tabLst>
                      </a:pP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5.36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8634" algn="l"/>
                        </a:tabLst>
                      </a:pP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3.38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42240">
                <a:tc>
                  <a:txBody>
                    <a:bodyPr/>
                    <a:lstStyle/>
                    <a:p>
                      <a:pPr marL="52705">
                        <a:lnSpc>
                          <a:spcPts val="850"/>
                        </a:lnSpc>
                        <a:spcBef>
                          <a:spcPts val="170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WEIGHTED-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AVERAGE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NUMBER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OF</a:t>
                      </a:r>
                      <a:r>
                        <a:rPr sz="800" b="1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50" dirty="0">
                          <a:latin typeface="Tahoma"/>
                          <a:cs typeface="Tahoma"/>
                        </a:rPr>
                        <a:t>COMMON</a:t>
                      </a:r>
                      <a:r>
                        <a:rPr sz="800" b="1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SHARES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45415">
                <a:tc>
                  <a:txBody>
                    <a:bodyPr/>
                    <a:lstStyle/>
                    <a:p>
                      <a:pPr marL="52705">
                        <a:lnSpc>
                          <a:spcPts val="910"/>
                        </a:lnSpc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OUTSTANDING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(M’s)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446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Assuming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Dilution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948.9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923.6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947.4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935.4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7241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Basic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933.9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923.6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930.9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920.3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676655" y="9021774"/>
            <a:ext cx="1600835" cy="12700"/>
          </a:xfrm>
          <a:custGeom>
            <a:avLst/>
            <a:gdLst/>
            <a:ahLst/>
            <a:cxnLst/>
            <a:rect l="l" t="t" r="r" b="b"/>
            <a:pathLst>
              <a:path w="1600835" h="12700">
                <a:moveTo>
                  <a:pt x="1600454" y="0"/>
                </a:moveTo>
                <a:lnTo>
                  <a:pt x="0" y="0"/>
                </a:lnTo>
                <a:lnTo>
                  <a:pt x="0" y="12192"/>
                </a:lnTo>
                <a:lnTo>
                  <a:pt x="1600454" y="12192"/>
                </a:lnTo>
                <a:lnTo>
                  <a:pt x="16004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73100" y="9019743"/>
            <a:ext cx="453390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40" dirty="0">
                <a:latin typeface="Verdana"/>
                <a:cs typeface="Verdana"/>
              </a:rPr>
              <a:t>(1)</a:t>
            </a:r>
            <a:r>
              <a:rPr sz="800" spc="14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2024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includes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the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impact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pension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settlement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charge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$2.7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billion</a:t>
            </a:r>
            <a:r>
              <a:rPr sz="800" spc="-65" dirty="0">
                <a:latin typeface="Verdana"/>
                <a:cs typeface="Verdana"/>
              </a:rPr>
              <a:t> ($2.0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billion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net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tax).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39110" y="485648"/>
            <a:ext cx="26968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INTERNATIONAL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BUSINESS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MACHINES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CORPORATION </a:t>
            </a:r>
            <a:r>
              <a:rPr sz="800" b="1" spc="-35" dirty="0">
                <a:latin typeface="Tahoma"/>
                <a:cs typeface="Tahoma"/>
              </a:rPr>
              <a:t>CONDENSED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40" dirty="0">
                <a:latin typeface="Tahoma"/>
                <a:cs typeface="Tahoma"/>
              </a:rPr>
              <a:t>CONSOLIDATED</a:t>
            </a:r>
            <a:r>
              <a:rPr sz="800" b="1" spc="2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BALANCE</a:t>
            </a:r>
            <a:r>
              <a:rPr sz="800" b="1" spc="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SHEET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800" b="1" spc="-10" dirty="0">
                <a:latin typeface="Tahoma"/>
                <a:cs typeface="Tahoma"/>
              </a:rPr>
              <a:t>(Unaudited)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1012" y="1161034"/>
            <a:ext cx="9436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40" dirty="0">
                <a:latin typeface="Tahoma"/>
                <a:cs typeface="Tahoma"/>
              </a:rPr>
              <a:t>(Dollars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in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Millions)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41772" y="1045210"/>
            <a:ext cx="864869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930"/>
              </a:lnSpc>
              <a:spcBef>
                <a:spcPts val="100"/>
              </a:spcBef>
            </a:pPr>
            <a:r>
              <a:rPr sz="800" b="1" spc="-20" dirty="0">
                <a:latin typeface="Tahoma"/>
                <a:cs typeface="Tahoma"/>
              </a:rPr>
              <a:t>At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September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30,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ts val="930"/>
              </a:lnSpc>
            </a:pPr>
            <a:r>
              <a:rPr sz="800" b="1" spc="-20" dirty="0">
                <a:latin typeface="Tahoma"/>
                <a:cs typeface="Tahoma"/>
              </a:rPr>
              <a:t>2025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0665" y="1045210"/>
            <a:ext cx="824865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930"/>
              </a:lnSpc>
              <a:spcBef>
                <a:spcPts val="100"/>
              </a:spcBef>
            </a:pPr>
            <a:r>
              <a:rPr sz="800" b="1" spc="-20" dirty="0">
                <a:latin typeface="Tahoma"/>
                <a:cs typeface="Tahoma"/>
              </a:rPr>
              <a:t>At</a:t>
            </a:r>
            <a:r>
              <a:rPr sz="800" b="1" spc="-35" dirty="0">
                <a:latin typeface="Tahoma"/>
                <a:cs typeface="Tahoma"/>
              </a:rPr>
              <a:t> December</a:t>
            </a:r>
            <a:r>
              <a:rPr sz="800" b="1" spc="-25" dirty="0">
                <a:latin typeface="Tahoma"/>
                <a:cs typeface="Tahoma"/>
              </a:rPr>
              <a:t> 31,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ts val="930"/>
              </a:lnSpc>
            </a:pPr>
            <a:r>
              <a:rPr sz="800" b="1" spc="-20" dirty="0">
                <a:latin typeface="Tahoma"/>
                <a:cs typeface="Tahoma"/>
              </a:rPr>
              <a:t>2024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10183" y="1335278"/>
          <a:ext cx="6363970" cy="7859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3390"/>
                <a:gridCol w="1018539"/>
                <a:gridCol w="1005204"/>
              </a:tblGrid>
              <a:tr h="45974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ASSETS:</a:t>
                      </a:r>
                      <a:endParaRPr sz="800">
                        <a:latin typeface="Tahoma"/>
                        <a:cs typeface="Tahoma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Current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Assets:</a:t>
                      </a:r>
                      <a:endParaRPr sz="800">
                        <a:latin typeface="Tahoma"/>
                        <a:cs typeface="Tahoma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Cash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cash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equivalents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59690" algn="r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58166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11,569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6195" algn="r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58166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13,947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Restricted</a:t>
                      </a:r>
                      <a:r>
                        <a:rPr sz="8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cash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30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214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Marketable</a:t>
                      </a:r>
                      <a:r>
                        <a:rPr sz="8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securities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3,286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644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Notes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accounts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receivable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-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trade,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net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5,532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6,804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3048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Short-term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financing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receivables</a:t>
                      </a:r>
                      <a:endParaRPr sz="800">
                        <a:latin typeface="Verdana"/>
                        <a:cs typeface="Verdana"/>
                      </a:endParaRPr>
                    </a:p>
                    <a:p>
                      <a:pPr marL="825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800" spc="-40" dirty="0">
                          <a:latin typeface="Verdana"/>
                          <a:cs typeface="Verdana"/>
                        </a:rPr>
                        <a:t>Held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for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investment,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net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59690" algn="r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5,156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826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6195" algn="r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6,259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8260" marB="0"/>
                </a:tc>
              </a:tr>
              <a:tr h="152400"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40" dirty="0">
                          <a:latin typeface="Verdana"/>
                          <a:cs typeface="Verdana"/>
                        </a:rPr>
                        <a:t>Held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for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sale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745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900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Other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accounts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receivable,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net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1,174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947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Inventories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1,397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1,289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Deferred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costs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1,113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959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113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Prepaid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expenses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and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other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current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assets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2,739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2,520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Current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Assets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32,740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34,482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Property,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plant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equipment,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net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5,851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5,731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Operating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right-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of-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use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assets,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net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3,223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3,197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65" dirty="0">
                          <a:latin typeface="Verdana"/>
                          <a:cs typeface="Verdana"/>
                        </a:rPr>
                        <a:t>Long-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term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financing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receivables,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net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6,258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5,353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Prepaid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pension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assets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8,044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7,492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Deferred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costs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768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788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Deferred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taxes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8,505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6,978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Goodwill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67,396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60,706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Intangibles,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net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11,729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10,660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049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Investments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sundry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assets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1,796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1,787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446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Assets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10"/>
                        </a:spcBef>
                        <a:tabLst>
                          <a:tab pos="51625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146,312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10"/>
                        </a:spcBef>
                        <a:tabLst>
                          <a:tab pos="51625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137,175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450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LIABILITIES:</a:t>
                      </a:r>
                      <a:endParaRPr sz="800">
                        <a:latin typeface="Tahoma"/>
                        <a:cs typeface="Tahoma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Current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Liabilities:</a:t>
                      </a:r>
                      <a:endParaRPr sz="800">
                        <a:latin typeface="Tahoma"/>
                        <a:cs typeface="Tahoma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Taxes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59690" algn="r">
                        <a:lnSpc>
                          <a:spcPct val="100000"/>
                        </a:lnSpc>
                        <a:tabLst>
                          <a:tab pos="6426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1,663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6195" algn="r">
                        <a:lnSpc>
                          <a:spcPct val="100000"/>
                        </a:lnSpc>
                        <a:tabLst>
                          <a:tab pos="6426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2,033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Short-term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debt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7,942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5,089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Accounts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payable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3,867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4,032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Compensation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benefits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3,508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3,605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Deferred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income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13,878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13,907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Operating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lease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liabilities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807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768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049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Other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liabilities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3,477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3,709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Current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Liabilities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35,142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33,142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00" spc="-65" dirty="0">
                          <a:latin typeface="Verdana"/>
                          <a:cs typeface="Verdana"/>
                        </a:rPr>
                        <a:t>Long-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term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debt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55,174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49,884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Retirement-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related</a:t>
                      </a:r>
                      <a:r>
                        <a:rPr sz="800" spc="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obligations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9,735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9,432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Deferred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income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3,863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3,622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Operating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lease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liabilities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2,646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2,655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049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Other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liabilities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11,762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11,048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Liabilities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118,322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109,783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EQUITY:</a:t>
                      </a:r>
                      <a:endParaRPr sz="800">
                        <a:latin typeface="Tahoma"/>
                        <a:cs typeface="Tahoma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IBM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Stockholders’</a:t>
                      </a:r>
                      <a:r>
                        <a:rPr sz="800" b="1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Equity:</a:t>
                      </a:r>
                      <a:endParaRPr sz="800">
                        <a:latin typeface="Tahoma"/>
                        <a:cs typeface="Tahoma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800" spc="-70" dirty="0">
                          <a:latin typeface="Verdana"/>
                          <a:cs typeface="Verdana"/>
                        </a:rPr>
                        <a:t>Common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stock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59690" algn="r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62,819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6195" algn="r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61,380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Retained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earnings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151,581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151,163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176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Treasury</a:t>
                      </a:r>
                      <a:r>
                        <a:rPr sz="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stock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-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at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cost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(170,512)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(169,968)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4922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Accumulated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other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comprehensive</a:t>
                      </a:r>
                      <a:r>
                        <a:rPr sz="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income/(loss)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(15,983)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(15,269)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50" dirty="0">
                          <a:latin typeface="Tahoma"/>
                          <a:cs typeface="Tahoma"/>
                        </a:rPr>
                        <a:t>IBM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Stockholders’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Equity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27,905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27,307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827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Noncontrolling</a:t>
                      </a:r>
                      <a:r>
                        <a:rPr sz="800" spc="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interests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85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86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Equity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27,990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27,393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Liabilities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Equity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420"/>
                        </a:spcBef>
                        <a:tabLst>
                          <a:tab pos="51625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146,312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334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420"/>
                        </a:spcBef>
                        <a:tabLst>
                          <a:tab pos="51625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137,175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334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39110" y="531368"/>
            <a:ext cx="26968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INTERNATIONAL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BUSINESS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MACHINES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CORPORATION </a:t>
            </a:r>
            <a:r>
              <a:rPr sz="800" b="1" spc="-20" dirty="0">
                <a:latin typeface="Tahoma"/>
                <a:cs typeface="Tahoma"/>
              </a:rPr>
              <a:t>CASH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FLOW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800" b="1" spc="-10" dirty="0">
                <a:latin typeface="Tahoma"/>
                <a:cs typeface="Tahoma"/>
              </a:rPr>
              <a:t>(Unaudited)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95115" y="1097025"/>
            <a:ext cx="1004569" cy="26416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47955" marR="5080" indent="-135890">
              <a:lnSpc>
                <a:spcPts val="910"/>
              </a:lnSpc>
              <a:spcBef>
                <a:spcPts val="175"/>
              </a:spcBef>
            </a:pPr>
            <a:r>
              <a:rPr sz="800" b="1" spc="-35" dirty="0">
                <a:latin typeface="Tahoma"/>
                <a:cs typeface="Tahoma"/>
              </a:rPr>
              <a:t>Three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Ended </a:t>
            </a:r>
            <a:r>
              <a:rPr sz="800" b="1" spc="-35" dirty="0">
                <a:latin typeface="Tahoma"/>
                <a:cs typeface="Tahoma"/>
              </a:rPr>
              <a:t>September</a:t>
            </a:r>
            <a:r>
              <a:rPr sz="800" b="1" spc="2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30,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61101" y="1097025"/>
            <a:ext cx="949960" cy="26416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1285" marR="5080" indent="-108585">
              <a:lnSpc>
                <a:spcPts val="910"/>
              </a:lnSpc>
              <a:spcBef>
                <a:spcPts val="175"/>
              </a:spcBef>
            </a:pPr>
            <a:r>
              <a:rPr sz="800" b="1" spc="-30" dirty="0">
                <a:latin typeface="Tahoma"/>
                <a:cs typeface="Tahoma"/>
              </a:rPr>
              <a:t>Nine</a:t>
            </a:r>
            <a:r>
              <a:rPr sz="800" b="1" spc="-35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35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Ended </a:t>
            </a:r>
            <a:r>
              <a:rPr sz="800" b="1" spc="-35" dirty="0">
                <a:latin typeface="Tahoma"/>
                <a:cs typeface="Tahoma"/>
              </a:rPr>
              <a:t>September</a:t>
            </a:r>
            <a:r>
              <a:rPr sz="800" b="1" spc="2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30,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3712" y="5432425"/>
            <a:ext cx="1533525" cy="12700"/>
          </a:xfrm>
          <a:custGeom>
            <a:avLst/>
            <a:gdLst/>
            <a:ahLst/>
            <a:cxnLst/>
            <a:rect l="l" t="t" r="r" b="b"/>
            <a:pathLst>
              <a:path w="1533525" h="12700">
                <a:moveTo>
                  <a:pt x="1533398" y="0"/>
                </a:moveTo>
                <a:lnTo>
                  <a:pt x="0" y="0"/>
                </a:lnTo>
                <a:lnTo>
                  <a:pt x="0" y="12191"/>
                </a:lnTo>
                <a:lnTo>
                  <a:pt x="1533398" y="12191"/>
                </a:lnTo>
                <a:lnTo>
                  <a:pt x="15333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43712" y="1390142"/>
          <a:ext cx="6363970" cy="4177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57525"/>
                <a:gridCol w="807720"/>
                <a:gridCol w="819150"/>
                <a:gridCol w="819785"/>
                <a:gridCol w="783589"/>
              </a:tblGrid>
              <a:tr h="18097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(Dollars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Millions)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8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352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87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87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87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87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60" dirty="0">
                          <a:latin typeface="Tahoma"/>
                          <a:cs typeface="Tahoma"/>
                        </a:rPr>
                        <a:t>Income/(Loss)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from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Operations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419100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1,744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464184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(330)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464184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4,993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41846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3,109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Pension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Settlement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Charge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-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2,725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-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2,725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</a:tr>
              <a:tr h="18097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Depreciation/Amortization</a:t>
                      </a:r>
                      <a:r>
                        <a:rPr sz="8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8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Intangibles</a:t>
                      </a:r>
                      <a:r>
                        <a:rPr sz="800" spc="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(1)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1,283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1,268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3,725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3,555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18097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Stock-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based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Compensation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444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330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1,285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966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18034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Operating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assets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liabilities/Other,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net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(2)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5016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(688)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5080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(1,984)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5016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(1,755)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(3,063)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18034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30" dirty="0">
                          <a:latin typeface="Verdana"/>
                          <a:cs typeface="Verdana"/>
                        </a:rPr>
                        <a:t>IBM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Financing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A/R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298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873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905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1,824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</a:tr>
              <a:tr h="27178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Cash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Provided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by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Operating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Activities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419100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3,081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41846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2,881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464184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9,153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41846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9,115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</a:tr>
              <a:tr h="271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524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Capital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Expenditures,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net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payments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proceeds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(3)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5016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(410)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7175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55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5016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(1,067)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(705)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</a:tr>
              <a:tr h="18034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Divestitures,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net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cash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transferred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-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R="50165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(1)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705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</a:tr>
              <a:tr h="18097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Acquisitions,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net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cash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acquired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5080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(58)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5080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(2,513)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5016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(7,903)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(2,748)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18097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Marketable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Securities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/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Other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Investments,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net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30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869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5016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(2,748)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(810)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27114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Cash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Provided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50" dirty="0">
                          <a:latin typeface="Tahoma"/>
                          <a:cs typeface="Tahoma"/>
                        </a:rPr>
                        <a:t>by/(Used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60" dirty="0">
                          <a:latin typeface="Tahoma"/>
                          <a:cs typeface="Tahoma"/>
                        </a:rPr>
                        <a:t>in)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Investing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Activities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464820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(437)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37274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(1,587)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36766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(11,719)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37274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(3,558)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</a:tr>
              <a:tr h="271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52400">
                        <a:lnSpc>
                          <a:spcPct val="100000"/>
                        </a:lnSpc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Debt,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net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payments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proceeds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50165" algn="r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(1,108)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50800" algn="r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(1,259)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71120" algn="r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4,683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(777)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</a:tr>
              <a:tr h="1778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Dividends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5016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(1,569)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5080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(1,542)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5016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(4,681)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(4,601)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17462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Financing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-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Other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5016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(334)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35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5016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(425)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(26)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</a:tr>
              <a:tr h="26860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Cash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Provided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50" dirty="0">
                          <a:latin typeface="Tahoma"/>
                          <a:cs typeface="Tahoma"/>
                        </a:rPr>
                        <a:t>by/(Used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60" dirty="0">
                          <a:latin typeface="Tahoma"/>
                          <a:cs typeface="Tahoma"/>
                        </a:rPr>
                        <a:t>in)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Financing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Activities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373380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(3,012)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37274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(2,766)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521970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(423)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37274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(5,403)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4130" marB="0"/>
                </a:tc>
              </a:tr>
              <a:tr h="271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35" dirty="0">
                          <a:latin typeface="Verdana"/>
                          <a:cs typeface="Verdana"/>
                        </a:rPr>
                        <a:t>Effect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Exchange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Rate changes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on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Cash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5080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(59)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7175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207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7112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429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1587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(29)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</a:tr>
              <a:tr h="26987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Change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in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Cash,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Cash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Equivalents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Restricted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Cash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464820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(426)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37274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(1,264)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429259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(2,561)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511809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125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6669" marB="0"/>
                </a:tc>
              </a:tr>
              <a:tr h="134620"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  <a:spcBef>
                          <a:spcPts val="40"/>
                        </a:spcBef>
                      </a:pPr>
                      <a:r>
                        <a:rPr sz="800" spc="-40" dirty="0">
                          <a:latin typeface="Verdana"/>
                          <a:cs typeface="Verdana"/>
                        </a:rPr>
                        <a:t>(1)</a:t>
                      </a:r>
                      <a:r>
                        <a:rPr sz="800" spc="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Includes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operating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lease</a:t>
                      </a:r>
                      <a:r>
                        <a:rPr sz="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right-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of-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use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assets</a:t>
                      </a:r>
                      <a:r>
                        <a:rPr sz="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amortization.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31012" y="5590413"/>
            <a:ext cx="6123305" cy="4298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5"/>
              </a:spcBef>
              <a:buAutoNum type="arabicParenBoth" startAt="2"/>
              <a:tabLst>
                <a:tab pos="184785" algn="l"/>
                <a:tab pos="187960" algn="l"/>
              </a:tabLst>
            </a:pPr>
            <a:r>
              <a:rPr sz="800" dirty="0">
                <a:latin typeface="Verdana"/>
                <a:cs typeface="Verdana"/>
              </a:rPr>
              <a:t>	</a:t>
            </a:r>
            <a:r>
              <a:rPr sz="800" spc="-40" dirty="0">
                <a:latin typeface="Verdana"/>
                <a:cs typeface="Verdana"/>
              </a:rPr>
              <a:t>2025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includes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one-</a:t>
            </a:r>
            <a:r>
              <a:rPr sz="800" spc="-60" dirty="0">
                <a:latin typeface="Verdana"/>
                <a:cs typeface="Verdana"/>
              </a:rPr>
              <a:t>time,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65" dirty="0">
                <a:latin typeface="Verdana"/>
                <a:cs typeface="Verdana"/>
              </a:rPr>
              <a:t>non-</a:t>
            </a:r>
            <a:r>
              <a:rPr sz="800" spc="-45" dirty="0">
                <a:latin typeface="Verdana"/>
                <a:cs typeface="Verdana"/>
              </a:rPr>
              <a:t>cash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income</a:t>
            </a:r>
            <a:r>
              <a:rPr sz="800" spc="-60" dirty="0">
                <a:latin typeface="Verdana"/>
                <a:cs typeface="Verdana"/>
              </a:rPr>
              <a:t> tax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charge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of</a:t>
            </a:r>
            <a:r>
              <a:rPr sz="800" spc="-50" dirty="0">
                <a:latin typeface="Verdana"/>
                <a:cs typeface="Verdana"/>
              </a:rPr>
              <a:t> $0.3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billion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associated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with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the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enactment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65" dirty="0">
                <a:latin typeface="Verdana"/>
                <a:cs typeface="Verdana"/>
              </a:rPr>
              <a:t>H.R.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1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35" dirty="0">
                <a:latin typeface="Verdana"/>
                <a:cs typeface="Verdana"/>
              </a:rPr>
              <a:t>July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50" dirty="0">
                <a:latin typeface="Verdana"/>
                <a:cs typeface="Verdana"/>
              </a:rPr>
              <a:t> 2025,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25" dirty="0">
                <a:latin typeface="Verdana"/>
                <a:cs typeface="Verdana"/>
              </a:rPr>
              <a:t>and </a:t>
            </a:r>
            <a:r>
              <a:rPr sz="800" spc="-40" dirty="0">
                <a:latin typeface="Verdana"/>
                <a:cs typeface="Verdana"/>
              </a:rPr>
              <a:t>2024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includes</a:t>
            </a:r>
            <a:r>
              <a:rPr sz="800" spc="-55" dirty="0">
                <a:latin typeface="Verdana"/>
                <a:cs typeface="Verdana"/>
              </a:rPr>
              <a:t> a $0.7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billion</a:t>
            </a:r>
            <a:r>
              <a:rPr sz="800" spc="-60" dirty="0">
                <a:latin typeface="Verdana"/>
                <a:cs typeface="Verdana"/>
              </a:rPr>
              <a:t> tax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benefit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associated </a:t>
            </a:r>
            <a:r>
              <a:rPr sz="800" spc="-50" dirty="0">
                <a:latin typeface="Verdana"/>
                <a:cs typeface="Verdana"/>
              </a:rPr>
              <a:t>with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the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pension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settlement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charge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the </a:t>
            </a:r>
            <a:r>
              <a:rPr sz="800" spc="-50" dirty="0">
                <a:latin typeface="Verdana"/>
                <a:cs typeface="Verdana"/>
              </a:rPr>
              <a:t>third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quarter.</a:t>
            </a:r>
            <a:endParaRPr sz="800">
              <a:latin typeface="Verdana"/>
              <a:cs typeface="Verdana"/>
            </a:endParaRPr>
          </a:p>
          <a:p>
            <a:pPr marL="188595" indent="-175895">
              <a:lnSpc>
                <a:spcPct val="100000"/>
              </a:lnSpc>
              <a:spcBef>
                <a:spcPts val="295"/>
              </a:spcBef>
              <a:buAutoNum type="arabicParenBoth" startAt="2"/>
              <a:tabLst>
                <a:tab pos="188595" algn="l"/>
              </a:tabLst>
            </a:pPr>
            <a:r>
              <a:rPr sz="800" spc="-40" dirty="0">
                <a:latin typeface="Verdana"/>
                <a:cs typeface="Verdana"/>
              </a:rPr>
              <a:t>2024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includes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proceeds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of</a:t>
            </a:r>
            <a:r>
              <a:rPr sz="800" spc="-55" dirty="0">
                <a:latin typeface="Verdana"/>
                <a:cs typeface="Verdana"/>
              </a:rPr>
              <a:t> $0.4 </a:t>
            </a:r>
            <a:r>
              <a:rPr sz="800" spc="-40" dirty="0">
                <a:latin typeface="Verdana"/>
                <a:cs typeface="Verdana"/>
              </a:rPr>
              <a:t>billion</a:t>
            </a:r>
            <a:r>
              <a:rPr sz="800" spc="-60" dirty="0">
                <a:latin typeface="Verdana"/>
                <a:cs typeface="Verdana"/>
              </a:rPr>
              <a:t> from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the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sale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certain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QRadar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80" dirty="0">
                <a:latin typeface="Verdana"/>
                <a:cs typeface="Verdana"/>
              </a:rPr>
              <a:t>SaaS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assets</a:t>
            </a:r>
            <a:r>
              <a:rPr sz="800" spc="-50" dirty="0">
                <a:latin typeface="Verdana"/>
                <a:cs typeface="Verdana"/>
              </a:rPr>
              <a:t> in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the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third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quarter.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16810" y="531368"/>
            <a:ext cx="29400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 algn="ctr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INTERNATIONAL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BUSINESS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MACHINES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CORPORATION GAAP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NET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800" b="1" spc="-40" dirty="0">
                <a:latin typeface="Tahoma"/>
                <a:cs typeface="Tahoma"/>
              </a:rPr>
              <a:t>INCOME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800" b="1" spc="-40" dirty="0">
                <a:latin typeface="Tahoma"/>
                <a:cs typeface="Tahoma"/>
              </a:rPr>
              <a:t>TO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ADJUSTED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EBITDA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RECONCILIATION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800" b="1" spc="-10" dirty="0">
                <a:latin typeface="Tahoma"/>
                <a:cs typeface="Tahoma"/>
              </a:rPr>
              <a:t>(Unaudited)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43712" y="1107173"/>
          <a:ext cx="6363970" cy="36429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7235"/>
                <a:gridCol w="508000"/>
                <a:gridCol w="496570"/>
                <a:gridCol w="472439"/>
                <a:gridCol w="66675"/>
                <a:gridCol w="506095"/>
                <a:gridCol w="495300"/>
                <a:gridCol w="464820"/>
              </a:tblGrid>
              <a:tr h="246379">
                <a:tc gridSpan="4">
                  <a:txBody>
                    <a:bodyPr/>
                    <a:lstStyle/>
                    <a:p>
                      <a:pPr marL="3661410" marR="241300" indent="-135890">
                        <a:lnSpc>
                          <a:spcPts val="790"/>
                        </a:lnSpc>
                        <a:spcBef>
                          <a:spcPts val="190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Three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Months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Ended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September</a:t>
                      </a:r>
                      <a:r>
                        <a:rPr sz="800" b="1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30,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445134" marR="264795" indent="-108585">
                        <a:lnSpc>
                          <a:spcPts val="790"/>
                        </a:lnSpc>
                        <a:spcBef>
                          <a:spcPts val="190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Nine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Months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Ended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September</a:t>
                      </a:r>
                      <a:r>
                        <a:rPr sz="800" b="1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30,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413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7970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(Dollars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Billions)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Yr/Yr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Yr/Yr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 Income</a:t>
                      </a:r>
                      <a:r>
                        <a:rPr sz="800" b="1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(Loss)</a:t>
                      </a:r>
                      <a:r>
                        <a:rPr sz="800" b="1" spc="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as</a:t>
                      </a:r>
                      <a:r>
                        <a:rPr sz="800" b="1" spc="-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reported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(GAAP)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50" b="1" spc="-37" baseline="33333" dirty="0">
                          <a:latin typeface="Tahoma"/>
                          <a:cs typeface="Tahoma"/>
                        </a:rPr>
                        <a:t>(1)</a:t>
                      </a:r>
                      <a:endParaRPr sz="750" baseline="33333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26479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1.7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3335" algn="r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217804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(0.3)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27749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2.1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297180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5.0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7625" algn="r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26479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3.1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246379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1.9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65" dirty="0">
                          <a:latin typeface="Verdana"/>
                          <a:cs typeface="Verdana"/>
                        </a:rPr>
                        <a:t>Less: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Income/(Loss)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discontinued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operations,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net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tax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13335" algn="r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255904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255904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28003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30162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13335" algn="r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26924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23749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</a:tr>
              <a:tr h="18097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Income/(Loss)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continuing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(0.3)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16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5.0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3.1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18097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Provision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for/(Benefit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from)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income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taxes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continuing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ops.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3335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6987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0.7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2225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(0.5)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8003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1.2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30162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1.2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2225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(0.6)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49554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1.8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18034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Pre-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tax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50" dirty="0">
                          <a:latin typeface="Tahoma"/>
                          <a:cs typeface="Tahoma"/>
                        </a:rPr>
                        <a:t>income/(loss)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from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continuing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operations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(GAAP)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2.4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333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(0.8)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3.2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6.2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76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2.5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3.7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</a:tr>
              <a:tr h="18034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Non-operating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adjustments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(before</a:t>
                      </a:r>
                      <a:r>
                        <a:rPr sz="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tax)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97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Acquisition-related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charges</a:t>
                      </a:r>
                      <a:r>
                        <a:rPr sz="800" spc="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(2)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826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16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27114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Non-operating</a:t>
                      </a:r>
                      <a:r>
                        <a:rPr sz="8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retirement-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related</a:t>
                      </a:r>
                      <a:r>
                        <a:rPr sz="800" spc="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costs/(income)</a:t>
                      </a:r>
                      <a:r>
                        <a:rPr sz="800" spc="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(1)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3335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6987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6924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2.8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3431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(2.8)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30162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0.1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3335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6924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3.0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0383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(2.9)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Operating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55" dirty="0">
                          <a:latin typeface="Tahoma"/>
                          <a:cs typeface="Tahoma"/>
                        </a:rPr>
                        <a:t>(non-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GAAP)</a:t>
                      </a:r>
                      <a:r>
                        <a:rPr sz="800" b="1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pre-tax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income</a:t>
                      </a:r>
                      <a:r>
                        <a:rPr sz="800" b="1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from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continuing</a:t>
                      </a:r>
                      <a:r>
                        <a:rPr sz="800" b="1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ops.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46990" algn="r">
                        <a:lnSpc>
                          <a:spcPct val="100000"/>
                        </a:lnSpc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3.0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48260" algn="r">
                        <a:lnSpc>
                          <a:spcPct val="100000"/>
                        </a:lnSpc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2.5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3020" algn="r">
                        <a:lnSpc>
                          <a:spcPct val="100000"/>
                        </a:lnSpc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0.5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97180">
                        <a:lnSpc>
                          <a:spcPct val="100000"/>
                        </a:lnSpc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8.0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47625" algn="r">
                        <a:lnSpc>
                          <a:spcPct val="100000"/>
                        </a:lnSpc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6.9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ct val="100000"/>
                        </a:lnSpc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1.0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</a:tr>
              <a:tr h="271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524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Net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interest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expense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4699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4826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492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016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4699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619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</a:tr>
              <a:tr h="18034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Depreciation/Amortization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800" spc="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non-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acquired</a:t>
                      </a:r>
                      <a:r>
                        <a:rPr sz="8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intangible</a:t>
                      </a:r>
                      <a:r>
                        <a:rPr sz="800" spc="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assets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826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16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826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18034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Stock-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based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compensation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4826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162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</a:tr>
              <a:tr h="18097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Workforce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rebalancing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charges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826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(0.3)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16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(0.3)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27114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Corporate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(gains)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and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charges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(3)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3335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55904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2225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(0.4)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8003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0.4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30162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2225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(0.6)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49554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0.6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2463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ts val="919"/>
                        </a:lnSpc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Adjusted</a:t>
                      </a:r>
                      <a:r>
                        <a:rPr sz="800" b="1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EBITDA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46990" algn="r">
                        <a:lnSpc>
                          <a:spcPts val="919"/>
                        </a:lnSpc>
                        <a:tabLst>
                          <a:tab pos="26479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4.6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48260" algn="r">
                        <a:lnSpc>
                          <a:spcPts val="919"/>
                        </a:lnSpc>
                        <a:tabLst>
                          <a:tab pos="26479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3.8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0955">
                        <a:lnSpc>
                          <a:spcPts val="919"/>
                        </a:lnSpc>
                        <a:tabLst>
                          <a:tab pos="27749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0.8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919"/>
                        </a:lnSpc>
                        <a:tabLst>
                          <a:tab pos="23558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12.7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46990" algn="r">
                        <a:lnSpc>
                          <a:spcPts val="919"/>
                        </a:lnSpc>
                        <a:tabLst>
                          <a:tab pos="20383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10.8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919"/>
                        </a:lnSpc>
                        <a:tabLst>
                          <a:tab pos="246379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1.8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734568" y="4900294"/>
            <a:ext cx="1266825" cy="12700"/>
          </a:xfrm>
          <a:custGeom>
            <a:avLst/>
            <a:gdLst/>
            <a:ahLst/>
            <a:cxnLst/>
            <a:rect l="l" t="t" r="r" b="b"/>
            <a:pathLst>
              <a:path w="1266825" h="12700">
                <a:moveTo>
                  <a:pt x="1266748" y="0"/>
                </a:moveTo>
                <a:lnTo>
                  <a:pt x="0" y="0"/>
                </a:lnTo>
                <a:lnTo>
                  <a:pt x="0" y="12192"/>
                </a:lnTo>
                <a:lnTo>
                  <a:pt x="1266748" y="12192"/>
                </a:lnTo>
                <a:lnTo>
                  <a:pt x="1266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1012" y="4872964"/>
            <a:ext cx="6297930" cy="6203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65100" indent="-158750">
              <a:lnSpc>
                <a:spcPct val="100000"/>
              </a:lnSpc>
              <a:spcBef>
                <a:spcPts val="400"/>
              </a:spcBef>
              <a:buSzPct val="93750"/>
              <a:buAutoNum type="arabicParenBoth"/>
              <a:tabLst>
                <a:tab pos="165100" algn="l"/>
              </a:tabLst>
            </a:pPr>
            <a:r>
              <a:rPr sz="800" spc="-40" dirty="0">
                <a:latin typeface="Verdana"/>
                <a:cs typeface="Verdana"/>
              </a:rPr>
              <a:t>2024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includes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the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impact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pension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settlement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charge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$2.7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billion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65" dirty="0">
                <a:latin typeface="Verdana"/>
                <a:cs typeface="Verdana"/>
              </a:rPr>
              <a:t>($2.0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billion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net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tax).</a:t>
            </a:r>
            <a:endParaRPr sz="800">
              <a:latin typeface="Verdana"/>
              <a:cs typeface="Verdana"/>
            </a:endParaRPr>
          </a:p>
          <a:p>
            <a:pPr marL="164465" indent="-158750">
              <a:lnSpc>
                <a:spcPct val="100000"/>
              </a:lnSpc>
              <a:spcBef>
                <a:spcPts val="300"/>
              </a:spcBef>
              <a:buSzPct val="93750"/>
              <a:buAutoNum type="arabicParenBoth"/>
              <a:tabLst>
                <a:tab pos="164465" algn="l"/>
              </a:tabLst>
            </a:pPr>
            <a:r>
              <a:rPr sz="800" spc="-50" dirty="0">
                <a:latin typeface="Verdana"/>
                <a:cs typeface="Verdana"/>
              </a:rPr>
              <a:t>Primarily </a:t>
            </a:r>
            <a:r>
              <a:rPr sz="800" spc="-40" dirty="0">
                <a:latin typeface="Verdana"/>
                <a:cs typeface="Verdana"/>
              </a:rPr>
              <a:t>consists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amortization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acquired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intangible </a:t>
            </a:r>
            <a:r>
              <a:rPr sz="800" spc="-10" dirty="0">
                <a:latin typeface="Verdana"/>
                <a:cs typeface="Verdana"/>
              </a:rPr>
              <a:t>assets.</a:t>
            </a:r>
            <a:endParaRPr sz="800">
              <a:latin typeface="Verdana"/>
              <a:cs typeface="Verdana"/>
            </a:endParaRPr>
          </a:p>
          <a:p>
            <a:pPr marL="163830" marR="5080" indent="-158750">
              <a:lnSpc>
                <a:spcPct val="100000"/>
              </a:lnSpc>
              <a:spcBef>
                <a:spcPts val="240"/>
              </a:spcBef>
              <a:buSzPct val="93750"/>
              <a:buAutoNum type="arabicParenBoth"/>
              <a:tabLst>
                <a:tab pos="184785" algn="l"/>
              </a:tabLst>
            </a:pPr>
            <a:r>
              <a:rPr sz="800" spc="-55" dirty="0">
                <a:latin typeface="Verdana"/>
                <a:cs typeface="Verdana"/>
              </a:rPr>
              <a:t>Corporate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70" dirty="0">
                <a:latin typeface="Verdana"/>
                <a:cs typeface="Verdana"/>
              </a:rPr>
              <a:t>(gains) </a:t>
            </a:r>
            <a:r>
              <a:rPr sz="800" spc="-55" dirty="0">
                <a:latin typeface="Verdana"/>
                <a:cs typeface="Verdana"/>
              </a:rPr>
              <a:t>and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charges </a:t>
            </a:r>
            <a:r>
              <a:rPr sz="800" spc="-50" dirty="0">
                <a:latin typeface="Verdana"/>
                <a:cs typeface="Verdana"/>
              </a:rPr>
              <a:t>primarily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consists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55" dirty="0">
                <a:latin typeface="Verdana"/>
                <a:cs typeface="Verdana"/>
              </a:rPr>
              <a:t> unique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corporate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actions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such</a:t>
            </a:r>
            <a:r>
              <a:rPr sz="800" spc="-50" dirty="0">
                <a:latin typeface="Verdana"/>
                <a:cs typeface="Verdana"/>
              </a:rPr>
              <a:t> as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gains </a:t>
            </a:r>
            <a:r>
              <a:rPr sz="800" spc="-60" dirty="0">
                <a:latin typeface="Verdana"/>
                <a:cs typeface="Verdana"/>
              </a:rPr>
              <a:t>on</a:t>
            </a:r>
            <a:r>
              <a:rPr sz="800" spc="-50" dirty="0">
                <a:latin typeface="Verdana"/>
                <a:cs typeface="Verdana"/>
              </a:rPr>
              <a:t> divestitures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and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asset </a:t>
            </a:r>
            <a:r>
              <a:rPr sz="800" spc="-30" dirty="0">
                <a:latin typeface="Verdana"/>
                <a:cs typeface="Verdana"/>
              </a:rPr>
              <a:t>sales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80" dirty="0">
                <a:latin typeface="Verdana"/>
                <a:cs typeface="Verdana"/>
              </a:rPr>
              <a:t>(e.g.,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certain 	</a:t>
            </a:r>
            <a:r>
              <a:rPr sz="800" spc="-60" dirty="0">
                <a:latin typeface="Verdana"/>
                <a:cs typeface="Verdana"/>
              </a:rPr>
              <a:t>QRadar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80" dirty="0">
                <a:latin typeface="Verdana"/>
                <a:cs typeface="Verdana"/>
              </a:rPr>
              <a:t>SaaS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assets</a:t>
            </a:r>
            <a:r>
              <a:rPr sz="800" spc="-50" dirty="0">
                <a:latin typeface="Verdana"/>
                <a:cs typeface="Verdana"/>
              </a:rPr>
              <a:t> in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2024).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39110" y="836168"/>
            <a:ext cx="2696845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INTERNATIONAL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BUSINESS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MACHINES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CORPORATION SEGMENT</a:t>
            </a:r>
            <a:r>
              <a:rPr sz="800" b="1" spc="-20" dirty="0">
                <a:latin typeface="Tahoma"/>
                <a:cs typeface="Tahoma"/>
              </a:rPr>
              <a:t> DATA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800" b="1" spc="-10" dirty="0">
                <a:latin typeface="Tahoma"/>
                <a:cs typeface="Tahoma"/>
              </a:rPr>
              <a:t>(Unaudited)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57954" y="1670049"/>
            <a:ext cx="200152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Three</a:t>
            </a:r>
            <a:r>
              <a:rPr sz="800" b="1" spc="-25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25" dirty="0">
                <a:latin typeface="Tahoma"/>
                <a:cs typeface="Tahoma"/>
              </a:rPr>
              <a:t> Ended </a:t>
            </a:r>
            <a:r>
              <a:rPr sz="800" b="1" spc="-35" dirty="0">
                <a:latin typeface="Tahoma"/>
                <a:cs typeface="Tahoma"/>
              </a:rPr>
              <a:t>September </a:t>
            </a:r>
            <a:r>
              <a:rPr sz="800" b="1" spc="-25" dirty="0">
                <a:latin typeface="Tahoma"/>
                <a:cs typeface="Tahoma"/>
              </a:rPr>
              <a:t>30,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2025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30347" y="1839721"/>
            <a:ext cx="3858260" cy="9525"/>
          </a:xfrm>
          <a:custGeom>
            <a:avLst/>
            <a:gdLst/>
            <a:ahLst/>
            <a:cxnLst/>
            <a:rect l="l" t="t" r="r" b="b"/>
            <a:pathLst>
              <a:path w="3858259" h="9525">
                <a:moveTo>
                  <a:pt x="1010399" y="0"/>
                </a:moveTo>
                <a:lnTo>
                  <a:pt x="1010399" y="0"/>
                </a:lnTo>
                <a:lnTo>
                  <a:pt x="0" y="0"/>
                </a:lnTo>
                <a:lnTo>
                  <a:pt x="0" y="9144"/>
                </a:lnTo>
                <a:lnTo>
                  <a:pt x="1010399" y="9144"/>
                </a:lnTo>
                <a:lnTo>
                  <a:pt x="1010399" y="0"/>
                </a:lnTo>
                <a:close/>
              </a:path>
              <a:path w="3858259" h="9525">
                <a:moveTo>
                  <a:pt x="2848914" y="0"/>
                </a:moveTo>
                <a:lnTo>
                  <a:pt x="2848914" y="0"/>
                </a:lnTo>
                <a:lnTo>
                  <a:pt x="1010412" y="0"/>
                </a:lnTo>
                <a:lnTo>
                  <a:pt x="1010412" y="9144"/>
                </a:lnTo>
                <a:lnTo>
                  <a:pt x="2848914" y="9144"/>
                </a:lnTo>
                <a:lnTo>
                  <a:pt x="2848914" y="0"/>
                </a:lnTo>
                <a:close/>
              </a:path>
              <a:path w="3858259" h="9525">
                <a:moveTo>
                  <a:pt x="3030334" y="0"/>
                </a:moveTo>
                <a:lnTo>
                  <a:pt x="3001391" y="0"/>
                </a:lnTo>
                <a:lnTo>
                  <a:pt x="2992247" y="0"/>
                </a:lnTo>
                <a:lnTo>
                  <a:pt x="2858135" y="0"/>
                </a:lnTo>
                <a:lnTo>
                  <a:pt x="2848991" y="0"/>
                </a:lnTo>
                <a:lnTo>
                  <a:pt x="2848991" y="9144"/>
                </a:lnTo>
                <a:lnTo>
                  <a:pt x="2858135" y="9144"/>
                </a:lnTo>
                <a:lnTo>
                  <a:pt x="2992247" y="9144"/>
                </a:lnTo>
                <a:lnTo>
                  <a:pt x="3001391" y="9144"/>
                </a:lnTo>
                <a:lnTo>
                  <a:pt x="3030334" y="9144"/>
                </a:lnTo>
                <a:lnTo>
                  <a:pt x="3030334" y="0"/>
                </a:lnTo>
                <a:close/>
              </a:path>
              <a:path w="3858259" h="9525">
                <a:moveTo>
                  <a:pt x="3857879" y="0"/>
                </a:moveTo>
                <a:lnTo>
                  <a:pt x="3039491" y="0"/>
                </a:lnTo>
                <a:lnTo>
                  <a:pt x="3030347" y="0"/>
                </a:lnTo>
                <a:lnTo>
                  <a:pt x="3030347" y="9144"/>
                </a:lnTo>
                <a:lnTo>
                  <a:pt x="3039491" y="9144"/>
                </a:lnTo>
                <a:lnTo>
                  <a:pt x="3857879" y="9144"/>
                </a:lnTo>
                <a:lnTo>
                  <a:pt x="3857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43712" y="2012429"/>
          <a:ext cx="6381115" cy="979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2970"/>
                <a:gridCol w="942340"/>
                <a:gridCol w="180975"/>
                <a:gridCol w="827405"/>
                <a:gridCol w="180975"/>
                <a:gridCol w="829310"/>
                <a:gridCol w="181610"/>
                <a:gridCol w="827404"/>
                <a:gridCol w="160020"/>
              </a:tblGrid>
              <a:tr h="16256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(Dollars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Millions)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Software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Consulting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Infrastructure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Financing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811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Revenue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7,209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5,324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3,559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5695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200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6954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Segment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Profit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2,374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5695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686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5695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644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5695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123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8351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Segment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Profit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Margin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095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32.9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12.9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18.1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61.6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</a:tr>
              <a:tr h="15494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Change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YTY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Revenue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10.5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3.3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17.0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10.4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/>
                </a:tc>
              </a:tr>
              <a:tr h="151130"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Change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YTY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Revenue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Constant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Currency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8.8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15.1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8.5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957954" y="3266059"/>
            <a:ext cx="200152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Three</a:t>
            </a:r>
            <a:r>
              <a:rPr sz="800" b="1" spc="-25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25" dirty="0">
                <a:latin typeface="Tahoma"/>
                <a:cs typeface="Tahoma"/>
              </a:rPr>
              <a:t> Ended </a:t>
            </a:r>
            <a:r>
              <a:rPr sz="800" b="1" spc="-35" dirty="0">
                <a:latin typeface="Tahoma"/>
                <a:cs typeface="Tahoma"/>
              </a:rPr>
              <a:t>September </a:t>
            </a:r>
            <a:r>
              <a:rPr sz="800" b="1" spc="-25" dirty="0">
                <a:latin typeface="Tahoma"/>
                <a:cs typeface="Tahoma"/>
              </a:rPr>
              <a:t>30,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2024</a:t>
            </a:r>
            <a:endParaRPr sz="8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30347" y="3434206"/>
            <a:ext cx="3858260" cy="9525"/>
          </a:xfrm>
          <a:custGeom>
            <a:avLst/>
            <a:gdLst/>
            <a:ahLst/>
            <a:cxnLst/>
            <a:rect l="l" t="t" r="r" b="b"/>
            <a:pathLst>
              <a:path w="3858259" h="9525">
                <a:moveTo>
                  <a:pt x="1010399" y="0"/>
                </a:moveTo>
                <a:lnTo>
                  <a:pt x="1010399" y="0"/>
                </a:lnTo>
                <a:lnTo>
                  <a:pt x="0" y="0"/>
                </a:lnTo>
                <a:lnTo>
                  <a:pt x="0" y="9144"/>
                </a:lnTo>
                <a:lnTo>
                  <a:pt x="1010399" y="9144"/>
                </a:lnTo>
                <a:lnTo>
                  <a:pt x="1010399" y="0"/>
                </a:lnTo>
                <a:close/>
              </a:path>
              <a:path w="3858259" h="9525">
                <a:moveTo>
                  <a:pt x="2848914" y="0"/>
                </a:moveTo>
                <a:lnTo>
                  <a:pt x="2848914" y="0"/>
                </a:lnTo>
                <a:lnTo>
                  <a:pt x="1010412" y="0"/>
                </a:lnTo>
                <a:lnTo>
                  <a:pt x="1010412" y="9144"/>
                </a:lnTo>
                <a:lnTo>
                  <a:pt x="2848914" y="9144"/>
                </a:lnTo>
                <a:lnTo>
                  <a:pt x="2848914" y="0"/>
                </a:lnTo>
                <a:close/>
              </a:path>
              <a:path w="3858259" h="9525">
                <a:moveTo>
                  <a:pt x="3030334" y="0"/>
                </a:moveTo>
                <a:lnTo>
                  <a:pt x="3001391" y="0"/>
                </a:lnTo>
                <a:lnTo>
                  <a:pt x="2992247" y="0"/>
                </a:lnTo>
                <a:lnTo>
                  <a:pt x="2858135" y="0"/>
                </a:lnTo>
                <a:lnTo>
                  <a:pt x="2848991" y="0"/>
                </a:lnTo>
                <a:lnTo>
                  <a:pt x="2848991" y="9144"/>
                </a:lnTo>
                <a:lnTo>
                  <a:pt x="2858135" y="9144"/>
                </a:lnTo>
                <a:lnTo>
                  <a:pt x="2992247" y="9144"/>
                </a:lnTo>
                <a:lnTo>
                  <a:pt x="3001391" y="9144"/>
                </a:lnTo>
                <a:lnTo>
                  <a:pt x="3030334" y="9144"/>
                </a:lnTo>
                <a:lnTo>
                  <a:pt x="3030334" y="0"/>
                </a:lnTo>
                <a:close/>
              </a:path>
              <a:path w="3858259" h="9525">
                <a:moveTo>
                  <a:pt x="3857879" y="0"/>
                </a:moveTo>
                <a:lnTo>
                  <a:pt x="3039491" y="0"/>
                </a:lnTo>
                <a:lnTo>
                  <a:pt x="3030347" y="0"/>
                </a:lnTo>
                <a:lnTo>
                  <a:pt x="3030347" y="9144"/>
                </a:lnTo>
                <a:lnTo>
                  <a:pt x="3039491" y="9144"/>
                </a:lnTo>
                <a:lnTo>
                  <a:pt x="3857879" y="9144"/>
                </a:lnTo>
                <a:lnTo>
                  <a:pt x="3857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43712" y="3608438"/>
          <a:ext cx="6381115" cy="640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3230"/>
                <a:gridCol w="1402715"/>
                <a:gridCol w="181610"/>
                <a:gridCol w="828039"/>
                <a:gridCol w="181610"/>
                <a:gridCol w="829944"/>
                <a:gridCol w="182245"/>
                <a:gridCol w="828039"/>
                <a:gridCol w="160654"/>
              </a:tblGrid>
              <a:tr h="16256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(Dollars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Millions)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041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Software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Consulting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Infrastructure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Financing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811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Revenue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6,524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5,152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3,042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5695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181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954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Segment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Profit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1,969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5695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559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5695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422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63055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86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0495"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Segment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Profit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Margin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30.2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10.9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13.9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47.5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3985386" y="4834254"/>
            <a:ext cx="194691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spc="-30" dirty="0">
                <a:latin typeface="Tahoma"/>
                <a:cs typeface="Tahoma"/>
              </a:rPr>
              <a:t>Nine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35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Ended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September </a:t>
            </a:r>
            <a:r>
              <a:rPr sz="800" b="1" spc="-25" dirty="0">
                <a:latin typeface="Tahoma"/>
                <a:cs typeface="Tahoma"/>
              </a:rPr>
              <a:t>30,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2025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30347" y="5002402"/>
            <a:ext cx="3858260" cy="9525"/>
          </a:xfrm>
          <a:custGeom>
            <a:avLst/>
            <a:gdLst/>
            <a:ahLst/>
            <a:cxnLst/>
            <a:rect l="l" t="t" r="r" b="b"/>
            <a:pathLst>
              <a:path w="3858259" h="9525">
                <a:moveTo>
                  <a:pt x="1010399" y="0"/>
                </a:moveTo>
                <a:lnTo>
                  <a:pt x="1010399" y="0"/>
                </a:lnTo>
                <a:lnTo>
                  <a:pt x="0" y="0"/>
                </a:lnTo>
                <a:lnTo>
                  <a:pt x="0" y="9144"/>
                </a:lnTo>
                <a:lnTo>
                  <a:pt x="1010399" y="9144"/>
                </a:lnTo>
                <a:lnTo>
                  <a:pt x="1010399" y="0"/>
                </a:lnTo>
                <a:close/>
              </a:path>
              <a:path w="3858259" h="9525">
                <a:moveTo>
                  <a:pt x="2848914" y="0"/>
                </a:moveTo>
                <a:lnTo>
                  <a:pt x="2848914" y="0"/>
                </a:lnTo>
                <a:lnTo>
                  <a:pt x="1010412" y="0"/>
                </a:lnTo>
                <a:lnTo>
                  <a:pt x="1010412" y="9144"/>
                </a:lnTo>
                <a:lnTo>
                  <a:pt x="2848914" y="9144"/>
                </a:lnTo>
                <a:lnTo>
                  <a:pt x="2848914" y="0"/>
                </a:lnTo>
                <a:close/>
              </a:path>
              <a:path w="3858259" h="9525">
                <a:moveTo>
                  <a:pt x="3030334" y="0"/>
                </a:moveTo>
                <a:lnTo>
                  <a:pt x="3001391" y="0"/>
                </a:lnTo>
                <a:lnTo>
                  <a:pt x="2992247" y="0"/>
                </a:lnTo>
                <a:lnTo>
                  <a:pt x="2858135" y="0"/>
                </a:lnTo>
                <a:lnTo>
                  <a:pt x="2848991" y="0"/>
                </a:lnTo>
                <a:lnTo>
                  <a:pt x="2848991" y="9144"/>
                </a:lnTo>
                <a:lnTo>
                  <a:pt x="2858135" y="9144"/>
                </a:lnTo>
                <a:lnTo>
                  <a:pt x="2992247" y="9144"/>
                </a:lnTo>
                <a:lnTo>
                  <a:pt x="3001391" y="9144"/>
                </a:lnTo>
                <a:lnTo>
                  <a:pt x="3030334" y="9144"/>
                </a:lnTo>
                <a:lnTo>
                  <a:pt x="3030334" y="0"/>
                </a:lnTo>
                <a:close/>
              </a:path>
              <a:path w="3858259" h="9525">
                <a:moveTo>
                  <a:pt x="3857879" y="0"/>
                </a:moveTo>
                <a:lnTo>
                  <a:pt x="3039491" y="0"/>
                </a:lnTo>
                <a:lnTo>
                  <a:pt x="3030347" y="0"/>
                </a:lnTo>
                <a:lnTo>
                  <a:pt x="3030347" y="9144"/>
                </a:lnTo>
                <a:lnTo>
                  <a:pt x="3039491" y="9144"/>
                </a:lnTo>
                <a:lnTo>
                  <a:pt x="3857879" y="9144"/>
                </a:lnTo>
                <a:lnTo>
                  <a:pt x="3857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743712" y="5242166"/>
          <a:ext cx="6381115" cy="981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2970"/>
                <a:gridCol w="942340"/>
                <a:gridCol w="180975"/>
                <a:gridCol w="827405"/>
                <a:gridCol w="180975"/>
                <a:gridCol w="829310"/>
                <a:gridCol w="181610"/>
                <a:gridCol w="827404"/>
                <a:gridCol w="160020"/>
              </a:tblGrid>
              <a:tr h="16256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(Dollars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Millions)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Software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Consulting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Infrastructure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Financing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811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Revenue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42037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20,932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42037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15,706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42037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10,586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5695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557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7018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Segment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Profit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6,517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1,807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1,857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5695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371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8288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Segment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Profit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Margin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159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31.1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11.5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17.5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66.5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</a:tr>
              <a:tr h="15557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Change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YTY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Revenue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9.2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8.4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180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Change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YTY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Revenue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Constant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Currency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18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8.4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ts val="919"/>
                        </a:lnSpc>
                        <a:spcBef>
                          <a:spcPts val="18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18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919"/>
                        </a:lnSpc>
                        <a:spcBef>
                          <a:spcPts val="18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ts val="919"/>
                        </a:lnSpc>
                        <a:spcBef>
                          <a:spcPts val="18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7.7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ts val="919"/>
                        </a:lnSpc>
                        <a:spcBef>
                          <a:spcPts val="18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18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919"/>
                        </a:lnSpc>
                        <a:spcBef>
                          <a:spcPts val="18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860" marB="0"/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3985386" y="6495669"/>
            <a:ext cx="194691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spc="-30" dirty="0">
                <a:latin typeface="Tahoma"/>
                <a:cs typeface="Tahoma"/>
              </a:rPr>
              <a:t>Nine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35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Ended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September </a:t>
            </a:r>
            <a:r>
              <a:rPr sz="800" b="1" spc="-25" dirty="0">
                <a:latin typeface="Tahoma"/>
                <a:cs typeface="Tahoma"/>
              </a:rPr>
              <a:t>30,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2024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30347" y="6665353"/>
            <a:ext cx="3858260" cy="9525"/>
          </a:xfrm>
          <a:custGeom>
            <a:avLst/>
            <a:gdLst/>
            <a:ahLst/>
            <a:cxnLst/>
            <a:rect l="l" t="t" r="r" b="b"/>
            <a:pathLst>
              <a:path w="3858259" h="9525">
                <a:moveTo>
                  <a:pt x="1010399" y="0"/>
                </a:moveTo>
                <a:lnTo>
                  <a:pt x="1010399" y="0"/>
                </a:lnTo>
                <a:lnTo>
                  <a:pt x="0" y="0"/>
                </a:lnTo>
                <a:lnTo>
                  <a:pt x="0" y="9131"/>
                </a:lnTo>
                <a:lnTo>
                  <a:pt x="1010399" y="9131"/>
                </a:lnTo>
                <a:lnTo>
                  <a:pt x="1010399" y="0"/>
                </a:lnTo>
                <a:close/>
              </a:path>
              <a:path w="3858259" h="9525">
                <a:moveTo>
                  <a:pt x="2848914" y="0"/>
                </a:moveTo>
                <a:lnTo>
                  <a:pt x="2848914" y="0"/>
                </a:lnTo>
                <a:lnTo>
                  <a:pt x="1010412" y="0"/>
                </a:lnTo>
                <a:lnTo>
                  <a:pt x="1010412" y="9131"/>
                </a:lnTo>
                <a:lnTo>
                  <a:pt x="2848914" y="9131"/>
                </a:lnTo>
                <a:lnTo>
                  <a:pt x="2848914" y="0"/>
                </a:lnTo>
                <a:close/>
              </a:path>
              <a:path w="3858259" h="9525">
                <a:moveTo>
                  <a:pt x="3030334" y="0"/>
                </a:moveTo>
                <a:lnTo>
                  <a:pt x="3001391" y="0"/>
                </a:lnTo>
                <a:lnTo>
                  <a:pt x="2992247" y="0"/>
                </a:lnTo>
                <a:lnTo>
                  <a:pt x="2858135" y="0"/>
                </a:lnTo>
                <a:lnTo>
                  <a:pt x="2848991" y="0"/>
                </a:lnTo>
                <a:lnTo>
                  <a:pt x="2848991" y="9131"/>
                </a:lnTo>
                <a:lnTo>
                  <a:pt x="2858135" y="9131"/>
                </a:lnTo>
                <a:lnTo>
                  <a:pt x="2992247" y="9131"/>
                </a:lnTo>
                <a:lnTo>
                  <a:pt x="3001391" y="9131"/>
                </a:lnTo>
                <a:lnTo>
                  <a:pt x="3030334" y="9131"/>
                </a:lnTo>
                <a:lnTo>
                  <a:pt x="3030334" y="0"/>
                </a:lnTo>
                <a:close/>
              </a:path>
              <a:path w="3858259" h="9525">
                <a:moveTo>
                  <a:pt x="3857879" y="0"/>
                </a:moveTo>
                <a:lnTo>
                  <a:pt x="3039491" y="0"/>
                </a:lnTo>
                <a:lnTo>
                  <a:pt x="3030347" y="0"/>
                </a:lnTo>
                <a:lnTo>
                  <a:pt x="3030347" y="9131"/>
                </a:lnTo>
                <a:lnTo>
                  <a:pt x="3039491" y="9131"/>
                </a:lnTo>
                <a:lnTo>
                  <a:pt x="3857879" y="9131"/>
                </a:lnTo>
                <a:lnTo>
                  <a:pt x="3857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743712" y="6838048"/>
          <a:ext cx="6381115" cy="640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3230"/>
                <a:gridCol w="1402715"/>
                <a:gridCol w="181610"/>
                <a:gridCol w="828039"/>
                <a:gridCol w="181610"/>
                <a:gridCol w="829944"/>
                <a:gridCol w="182245"/>
                <a:gridCol w="828039"/>
                <a:gridCol w="160654"/>
              </a:tblGrid>
              <a:tr h="16256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(Dollars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Millions)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041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Software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Consulting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Infrastructure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Financing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811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Revenue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42037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19,162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42037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15,517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9,764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5695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543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954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Segment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Profit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5,582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1,447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1,387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5695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254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0495"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Segment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Profit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Margin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29.1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9.3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14.2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46.9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58314" y="531368"/>
            <a:ext cx="3677285" cy="895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INTERNATIONAL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BUSINESS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MACHINES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CORPORATION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800" b="1" spc="-20" dirty="0">
                <a:latin typeface="Tahoma"/>
                <a:cs typeface="Tahoma"/>
              </a:rPr>
              <a:t>U.S.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GAAP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40" dirty="0">
                <a:latin typeface="Tahoma"/>
                <a:cs typeface="Tahoma"/>
              </a:rPr>
              <a:t>TO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OPERATING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60" dirty="0">
                <a:latin typeface="Tahoma"/>
                <a:cs typeface="Tahoma"/>
              </a:rPr>
              <a:t>(Non-</a:t>
            </a:r>
            <a:r>
              <a:rPr sz="800" b="1" spc="-35" dirty="0">
                <a:latin typeface="Tahoma"/>
                <a:cs typeface="Tahoma"/>
              </a:rPr>
              <a:t>GAAP)</a:t>
            </a:r>
            <a:r>
              <a:rPr sz="800" b="1" spc="-2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RESULTS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RECONCILIATION</a:t>
            </a:r>
            <a:endParaRPr sz="800">
              <a:latin typeface="Tahoma"/>
              <a:cs typeface="Tahoma"/>
            </a:endParaRPr>
          </a:p>
          <a:p>
            <a:pPr marL="255270">
              <a:lnSpc>
                <a:spcPct val="100000"/>
              </a:lnSpc>
              <a:spcBef>
                <a:spcPts val="5"/>
              </a:spcBef>
            </a:pPr>
            <a:r>
              <a:rPr sz="800" b="1" spc="-40" dirty="0">
                <a:latin typeface="Tahoma"/>
                <a:cs typeface="Tahoma"/>
              </a:rPr>
              <a:t>(Unaudited;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Dollars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in</a:t>
            </a:r>
            <a:r>
              <a:rPr sz="800" b="1" spc="-25" dirty="0">
                <a:latin typeface="Tahoma"/>
                <a:cs typeface="Tahoma"/>
              </a:rPr>
              <a:t> millions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except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per</a:t>
            </a:r>
            <a:r>
              <a:rPr sz="800" b="1" spc="-30" dirty="0">
                <a:latin typeface="Tahoma"/>
                <a:cs typeface="Tahoma"/>
              </a:rPr>
              <a:t> share</a:t>
            </a:r>
            <a:r>
              <a:rPr sz="800" b="1" spc="-10" dirty="0">
                <a:latin typeface="Tahoma"/>
                <a:cs typeface="Tahoma"/>
              </a:rPr>
              <a:t> amounts)</a:t>
            </a:r>
            <a:endParaRPr sz="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800">
              <a:latin typeface="Tahoma"/>
              <a:cs typeface="Tahoma"/>
            </a:endParaRPr>
          </a:p>
          <a:p>
            <a:pPr marL="2140585" marR="5080" indent="-453390">
              <a:lnSpc>
                <a:spcPct val="148800"/>
              </a:lnSpc>
            </a:pPr>
            <a:r>
              <a:rPr sz="800" b="1" spc="-35" dirty="0">
                <a:latin typeface="Tahoma"/>
                <a:cs typeface="Tahoma"/>
              </a:rPr>
              <a:t>Three</a:t>
            </a:r>
            <a:r>
              <a:rPr sz="800" b="1" spc="-25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25" dirty="0">
                <a:latin typeface="Tahoma"/>
                <a:cs typeface="Tahoma"/>
              </a:rPr>
              <a:t> Ended </a:t>
            </a:r>
            <a:r>
              <a:rPr sz="800" b="1" spc="-35" dirty="0">
                <a:latin typeface="Tahoma"/>
                <a:cs typeface="Tahoma"/>
              </a:rPr>
              <a:t>September </a:t>
            </a:r>
            <a:r>
              <a:rPr sz="800" b="1" spc="-25" dirty="0">
                <a:latin typeface="Tahoma"/>
                <a:cs typeface="Tahoma"/>
              </a:rPr>
              <a:t>30,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2025 </a:t>
            </a:r>
            <a:r>
              <a:rPr sz="800" b="1" spc="-40" dirty="0">
                <a:latin typeface="Tahoma"/>
                <a:cs typeface="Tahoma"/>
              </a:rPr>
              <a:t>Continuing</a:t>
            </a:r>
            <a:r>
              <a:rPr sz="800" b="1" spc="10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Operations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96667" y="1686813"/>
            <a:ext cx="3060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0" dirty="0">
                <a:latin typeface="Tahoma"/>
                <a:cs typeface="Tahoma"/>
              </a:rPr>
              <a:t>GAAP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2390" y="1459737"/>
            <a:ext cx="793115" cy="38290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8100" marR="30480" algn="ctr">
              <a:lnSpc>
                <a:spcPts val="919"/>
              </a:lnSpc>
              <a:spcBef>
                <a:spcPts val="165"/>
              </a:spcBef>
            </a:pPr>
            <a:r>
              <a:rPr sz="800" b="1" spc="-10" dirty="0">
                <a:latin typeface="Tahoma"/>
                <a:cs typeface="Tahoma"/>
              </a:rPr>
              <a:t>Acquisition- Related </a:t>
            </a:r>
            <a:r>
              <a:rPr sz="800" b="1" spc="-35" dirty="0">
                <a:latin typeface="Tahoma"/>
                <a:cs typeface="Tahoma"/>
              </a:rPr>
              <a:t>Adjustments</a:t>
            </a:r>
            <a:r>
              <a:rPr sz="800" b="1" spc="5" dirty="0">
                <a:latin typeface="Tahoma"/>
                <a:cs typeface="Tahoma"/>
              </a:rPr>
              <a:t> </a:t>
            </a:r>
            <a:r>
              <a:rPr sz="750" b="1" spc="-67" baseline="33333" dirty="0">
                <a:latin typeface="Tahoma"/>
                <a:cs typeface="Tahoma"/>
              </a:rPr>
              <a:t>(1)</a:t>
            </a:r>
            <a:endParaRPr sz="750" baseline="33333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24121" y="1459737"/>
            <a:ext cx="793115" cy="38290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8100" marR="30480" algn="ctr">
              <a:lnSpc>
                <a:spcPts val="919"/>
              </a:lnSpc>
              <a:spcBef>
                <a:spcPts val="165"/>
              </a:spcBef>
            </a:pPr>
            <a:r>
              <a:rPr sz="800" b="1" spc="-10" dirty="0">
                <a:latin typeface="Tahoma"/>
                <a:cs typeface="Tahoma"/>
              </a:rPr>
              <a:t>Retirement- Related </a:t>
            </a:r>
            <a:r>
              <a:rPr sz="800" b="1" spc="-35" dirty="0">
                <a:latin typeface="Tahoma"/>
                <a:cs typeface="Tahoma"/>
              </a:rPr>
              <a:t>Adjustments</a:t>
            </a:r>
            <a:r>
              <a:rPr sz="800" b="1" spc="5" dirty="0">
                <a:latin typeface="Tahoma"/>
                <a:cs typeface="Tahoma"/>
              </a:rPr>
              <a:t> </a:t>
            </a:r>
            <a:r>
              <a:rPr sz="750" b="1" spc="-67" baseline="33333" dirty="0">
                <a:latin typeface="Tahoma"/>
                <a:cs typeface="Tahoma"/>
              </a:rPr>
              <a:t>(2)</a:t>
            </a:r>
            <a:endParaRPr sz="750" baseline="33333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99125" y="1459737"/>
            <a:ext cx="579755" cy="37973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 marR="30480" indent="-1905" algn="ctr">
              <a:lnSpc>
                <a:spcPts val="910"/>
              </a:lnSpc>
              <a:spcBef>
                <a:spcPts val="175"/>
              </a:spcBef>
            </a:pPr>
            <a:r>
              <a:rPr sz="800" b="1" spc="-25" dirty="0">
                <a:latin typeface="Tahoma"/>
                <a:cs typeface="Tahoma"/>
              </a:rPr>
              <a:t>Tax </a:t>
            </a:r>
            <a:r>
              <a:rPr sz="800" b="1" spc="-10" dirty="0">
                <a:latin typeface="Tahoma"/>
                <a:cs typeface="Tahoma"/>
              </a:rPr>
              <a:t>Reform </a:t>
            </a:r>
            <a:r>
              <a:rPr sz="800" b="1" spc="-30" dirty="0">
                <a:latin typeface="Tahoma"/>
                <a:cs typeface="Tahoma"/>
              </a:rPr>
              <a:t>Impacts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750" b="1" spc="-82" baseline="33333" dirty="0">
                <a:latin typeface="Tahoma"/>
                <a:cs typeface="Tahoma"/>
              </a:rPr>
              <a:t>(3)</a:t>
            </a:r>
            <a:endParaRPr sz="750" baseline="33333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36257" y="1459737"/>
            <a:ext cx="502284" cy="38163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 algn="ctr">
              <a:lnSpc>
                <a:spcPct val="95600"/>
              </a:lnSpc>
              <a:spcBef>
                <a:spcPts val="145"/>
              </a:spcBef>
            </a:pPr>
            <a:r>
              <a:rPr sz="800" b="1" spc="-40" dirty="0">
                <a:latin typeface="Tahoma"/>
                <a:cs typeface="Tahoma"/>
              </a:rPr>
              <a:t>Operating</a:t>
            </a:r>
            <a:r>
              <a:rPr sz="800" b="1" spc="-10" dirty="0">
                <a:latin typeface="Tahoma"/>
                <a:cs typeface="Tahoma"/>
              </a:rPr>
              <a:t> (Non- GAAP)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96591" y="1452625"/>
            <a:ext cx="4476750" cy="12700"/>
          </a:xfrm>
          <a:custGeom>
            <a:avLst/>
            <a:gdLst/>
            <a:ahLst/>
            <a:cxnLst/>
            <a:rect l="l" t="t" r="r" b="b"/>
            <a:pathLst>
              <a:path w="4476750" h="12700">
                <a:moveTo>
                  <a:pt x="516623" y="0"/>
                </a:moveTo>
                <a:lnTo>
                  <a:pt x="504444" y="0"/>
                </a:lnTo>
                <a:lnTo>
                  <a:pt x="0" y="0"/>
                </a:lnTo>
                <a:lnTo>
                  <a:pt x="0" y="12192"/>
                </a:lnTo>
                <a:lnTo>
                  <a:pt x="504444" y="12192"/>
                </a:lnTo>
                <a:lnTo>
                  <a:pt x="516623" y="12192"/>
                </a:lnTo>
                <a:lnTo>
                  <a:pt x="516623" y="0"/>
                </a:lnTo>
                <a:close/>
              </a:path>
              <a:path w="4476750" h="12700">
                <a:moveTo>
                  <a:pt x="659879" y="0"/>
                </a:moveTo>
                <a:lnTo>
                  <a:pt x="647700" y="0"/>
                </a:lnTo>
                <a:lnTo>
                  <a:pt x="516636" y="0"/>
                </a:lnTo>
                <a:lnTo>
                  <a:pt x="516636" y="12192"/>
                </a:lnTo>
                <a:lnTo>
                  <a:pt x="647700" y="12192"/>
                </a:lnTo>
                <a:lnTo>
                  <a:pt x="659879" y="12192"/>
                </a:lnTo>
                <a:lnTo>
                  <a:pt x="659879" y="0"/>
                </a:lnTo>
                <a:close/>
              </a:path>
              <a:path w="4476750" h="12700">
                <a:moveTo>
                  <a:pt x="697979" y="0"/>
                </a:moveTo>
                <a:lnTo>
                  <a:pt x="685800" y="0"/>
                </a:lnTo>
                <a:lnTo>
                  <a:pt x="659892" y="0"/>
                </a:lnTo>
                <a:lnTo>
                  <a:pt x="659892" y="12192"/>
                </a:lnTo>
                <a:lnTo>
                  <a:pt x="685800" y="12192"/>
                </a:lnTo>
                <a:lnTo>
                  <a:pt x="697979" y="12192"/>
                </a:lnTo>
                <a:lnTo>
                  <a:pt x="697979" y="0"/>
                </a:lnTo>
                <a:close/>
              </a:path>
              <a:path w="4476750" h="12700">
                <a:moveTo>
                  <a:pt x="1733029" y="0"/>
                </a:moveTo>
                <a:lnTo>
                  <a:pt x="1489202" y="0"/>
                </a:lnTo>
                <a:lnTo>
                  <a:pt x="1477060" y="0"/>
                </a:lnTo>
                <a:lnTo>
                  <a:pt x="697992" y="0"/>
                </a:lnTo>
                <a:lnTo>
                  <a:pt x="697992" y="12192"/>
                </a:lnTo>
                <a:lnTo>
                  <a:pt x="1477010" y="12192"/>
                </a:lnTo>
                <a:lnTo>
                  <a:pt x="1489202" y="12192"/>
                </a:lnTo>
                <a:lnTo>
                  <a:pt x="1733029" y="12192"/>
                </a:lnTo>
                <a:lnTo>
                  <a:pt x="1733029" y="0"/>
                </a:lnTo>
                <a:close/>
              </a:path>
              <a:path w="4476750" h="12700">
                <a:moveTo>
                  <a:pt x="2933941" y="0"/>
                </a:moveTo>
                <a:lnTo>
                  <a:pt x="2933941" y="0"/>
                </a:lnTo>
                <a:lnTo>
                  <a:pt x="1733042" y="0"/>
                </a:lnTo>
                <a:lnTo>
                  <a:pt x="1733042" y="12192"/>
                </a:lnTo>
                <a:lnTo>
                  <a:pt x="2933941" y="12192"/>
                </a:lnTo>
                <a:lnTo>
                  <a:pt x="2933941" y="0"/>
                </a:lnTo>
                <a:close/>
              </a:path>
              <a:path w="4476750" h="12700">
                <a:moveTo>
                  <a:pt x="3610914" y="0"/>
                </a:moveTo>
                <a:lnTo>
                  <a:pt x="2984246" y="0"/>
                </a:lnTo>
                <a:lnTo>
                  <a:pt x="2972054" y="0"/>
                </a:lnTo>
                <a:lnTo>
                  <a:pt x="2946146" y="0"/>
                </a:lnTo>
                <a:lnTo>
                  <a:pt x="2933954" y="0"/>
                </a:lnTo>
                <a:lnTo>
                  <a:pt x="2933954" y="12192"/>
                </a:lnTo>
                <a:lnTo>
                  <a:pt x="2946146" y="12192"/>
                </a:lnTo>
                <a:lnTo>
                  <a:pt x="2972054" y="12192"/>
                </a:lnTo>
                <a:lnTo>
                  <a:pt x="2984246" y="12192"/>
                </a:lnTo>
                <a:lnTo>
                  <a:pt x="3610914" y="12192"/>
                </a:lnTo>
                <a:lnTo>
                  <a:pt x="3610914" y="0"/>
                </a:lnTo>
                <a:close/>
              </a:path>
              <a:path w="4476750" h="12700">
                <a:moveTo>
                  <a:pt x="3623170" y="0"/>
                </a:moveTo>
                <a:lnTo>
                  <a:pt x="3610991" y="0"/>
                </a:lnTo>
                <a:lnTo>
                  <a:pt x="3610991" y="12192"/>
                </a:lnTo>
                <a:lnTo>
                  <a:pt x="3623170" y="12192"/>
                </a:lnTo>
                <a:lnTo>
                  <a:pt x="3623170" y="0"/>
                </a:lnTo>
                <a:close/>
              </a:path>
              <a:path w="4476750" h="12700">
                <a:moveTo>
                  <a:pt x="3905110" y="0"/>
                </a:moveTo>
                <a:lnTo>
                  <a:pt x="3879215" y="0"/>
                </a:lnTo>
                <a:lnTo>
                  <a:pt x="3867023" y="0"/>
                </a:lnTo>
                <a:lnTo>
                  <a:pt x="3623183" y="0"/>
                </a:lnTo>
                <a:lnTo>
                  <a:pt x="3623183" y="12192"/>
                </a:lnTo>
                <a:lnTo>
                  <a:pt x="3867023" y="12192"/>
                </a:lnTo>
                <a:lnTo>
                  <a:pt x="3879215" y="12192"/>
                </a:lnTo>
                <a:lnTo>
                  <a:pt x="3905110" y="12192"/>
                </a:lnTo>
                <a:lnTo>
                  <a:pt x="3905110" y="0"/>
                </a:lnTo>
                <a:close/>
              </a:path>
              <a:path w="4476750" h="12700">
                <a:moveTo>
                  <a:pt x="4476610" y="0"/>
                </a:moveTo>
                <a:lnTo>
                  <a:pt x="3917315" y="0"/>
                </a:lnTo>
                <a:lnTo>
                  <a:pt x="3905123" y="0"/>
                </a:lnTo>
                <a:lnTo>
                  <a:pt x="3905123" y="12192"/>
                </a:lnTo>
                <a:lnTo>
                  <a:pt x="3917315" y="12192"/>
                </a:lnTo>
                <a:lnTo>
                  <a:pt x="4476610" y="12192"/>
                </a:lnTo>
                <a:lnTo>
                  <a:pt x="44766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58977" y="1865629"/>
          <a:ext cx="6950709" cy="2296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7740"/>
                <a:gridCol w="504825"/>
                <a:gridCol w="181610"/>
                <a:gridCol w="791210"/>
                <a:gridCol w="294004"/>
                <a:gridCol w="904875"/>
                <a:gridCol w="295275"/>
                <a:gridCol w="650239"/>
                <a:gridCol w="281304"/>
                <a:gridCol w="570865"/>
                <a:gridCol w="159384"/>
              </a:tblGrid>
              <a:tr h="1701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Gross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Profit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9,360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5314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231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78422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518159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25717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9,591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Gross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Profit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Margin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57.3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gridSpan="2">
                  <a:txBody>
                    <a:bodyPr/>
                    <a:lstStyle/>
                    <a:p>
                      <a:pPr marL="518159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—</a:t>
                      </a:r>
                      <a:r>
                        <a:rPr sz="800" spc="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58.7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</a:tr>
              <a:tr h="1809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SG&amp;A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4,748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48450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(354)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78422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518159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5717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4,394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Other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(Income)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Expense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(173)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(6)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(13)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351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(191)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40" dirty="0">
                          <a:latin typeface="Verdana"/>
                          <a:cs typeface="Verdana"/>
                        </a:rPr>
                        <a:t>Total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Expense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Other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(Income)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6,931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(359)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(13)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3515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6,559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6845">
                <a:tc>
                  <a:txBody>
                    <a:bodyPr/>
                    <a:lstStyle/>
                    <a:p>
                      <a:pPr marL="31750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Pre-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Continuing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2,430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590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3515" algn="ct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3,033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06070">
                <a:tc>
                  <a:txBody>
                    <a:bodyPr/>
                    <a:lstStyle/>
                    <a:p>
                      <a:pPr marL="31750" marR="397510">
                        <a:lnSpc>
                          <a:spcPts val="910"/>
                        </a:lnSpc>
                        <a:spcBef>
                          <a:spcPts val="47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Pre-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Margin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Continuing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4925" algn="r">
                        <a:lnSpc>
                          <a:spcPct val="100000"/>
                        </a:lnSpc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14.9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11430" algn="ctr">
                        <a:lnSpc>
                          <a:spcPct val="100000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3655" algn="r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3.6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73660"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3020" algn="r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44450" algn="r">
                        <a:lnSpc>
                          <a:spcPct val="100000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85725"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4925" algn="r">
                        <a:lnSpc>
                          <a:spcPct val="100000"/>
                        </a:lnSpc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18.6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</a:tr>
              <a:tr h="1657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Provision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for/(Benefit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from)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Taxes</a:t>
                      </a:r>
                      <a:r>
                        <a:rPr sz="8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(4)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24511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686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5314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136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80264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33210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(309)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34544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516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Effective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Rate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28.2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(1.0)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(10.2)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17.0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1714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Continuing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1,744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5314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454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7416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10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3797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309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25717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2,517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47320">
                <a:tc>
                  <a:txBody>
                    <a:bodyPr/>
                    <a:lstStyle/>
                    <a:p>
                      <a:pPr marL="31750">
                        <a:lnSpc>
                          <a:spcPts val="919"/>
                        </a:lnSpc>
                        <a:spcBef>
                          <a:spcPts val="14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Income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Margin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 Continuing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919"/>
                        </a:lnSpc>
                        <a:spcBef>
                          <a:spcPts val="14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10.7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ts val="919"/>
                        </a:lnSpc>
                        <a:spcBef>
                          <a:spcPts val="14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ts val="919"/>
                        </a:lnSpc>
                        <a:spcBef>
                          <a:spcPts val="14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2.8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ts val="919"/>
                        </a:lnSpc>
                        <a:spcBef>
                          <a:spcPts val="14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14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14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ts val="919"/>
                        </a:lnSpc>
                        <a:spcBef>
                          <a:spcPts val="14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ts val="919"/>
                        </a:lnSpc>
                        <a:spcBef>
                          <a:spcPts val="14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919"/>
                        </a:lnSpc>
                        <a:spcBef>
                          <a:spcPts val="14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15.4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919"/>
                        </a:lnSpc>
                        <a:spcBef>
                          <a:spcPts val="14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780" marB="0"/>
                </a:tc>
              </a:tr>
              <a:tr h="276860">
                <a:tc>
                  <a:txBody>
                    <a:bodyPr/>
                    <a:lstStyle/>
                    <a:p>
                      <a:pPr marL="31750" marR="438784">
                        <a:lnSpc>
                          <a:spcPts val="910"/>
                        </a:lnSpc>
                        <a:spcBef>
                          <a:spcPts val="2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Diluted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Earnings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Per </a:t>
                      </a:r>
                      <a:r>
                        <a:rPr sz="800" spc="-80" dirty="0">
                          <a:latin typeface="Verdana"/>
                          <a:cs typeface="Verdana"/>
                        </a:rPr>
                        <a:t>Share: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Continuing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910"/>
                        </a:spcBef>
                        <a:tabLst>
                          <a:tab pos="217804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1.84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5570" marB="0"/>
                </a:tc>
                <a:tc gridSpan="2"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910"/>
                        </a:spcBef>
                        <a:tabLst>
                          <a:tab pos="72072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0.48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55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8930">
                        <a:lnSpc>
                          <a:spcPct val="100000"/>
                        </a:lnSpc>
                        <a:spcBef>
                          <a:spcPts val="910"/>
                        </a:spcBef>
                        <a:tabLst>
                          <a:tab pos="947419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0.01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55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910"/>
                        </a:spcBef>
                        <a:tabLst>
                          <a:tab pos="68262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0.33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55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15595">
                        <a:lnSpc>
                          <a:spcPct val="100000"/>
                        </a:lnSpc>
                        <a:spcBef>
                          <a:spcPts val="910"/>
                        </a:spcBef>
                        <a:tabLst>
                          <a:tab pos="60007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2.65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55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5668645" y="1861057"/>
            <a:ext cx="639445" cy="9525"/>
          </a:xfrm>
          <a:custGeom>
            <a:avLst/>
            <a:gdLst/>
            <a:ahLst/>
            <a:cxnLst/>
            <a:rect l="l" t="t" r="r" b="b"/>
            <a:pathLst>
              <a:path w="639445" h="9525">
                <a:moveTo>
                  <a:pt x="638860" y="0"/>
                </a:moveTo>
                <a:lnTo>
                  <a:pt x="0" y="0"/>
                </a:lnTo>
                <a:lnTo>
                  <a:pt x="0" y="9144"/>
                </a:lnTo>
                <a:lnTo>
                  <a:pt x="638860" y="9144"/>
                </a:lnTo>
                <a:lnTo>
                  <a:pt x="6388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33571" y="4267936"/>
            <a:ext cx="2001520" cy="388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5455" marR="5080" indent="-453390">
              <a:lnSpc>
                <a:spcPct val="1487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Three</a:t>
            </a:r>
            <a:r>
              <a:rPr sz="800" b="1" spc="-25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25" dirty="0">
                <a:latin typeface="Tahoma"/>
                <a:cs typeface="Tahoma"/>
              </a:rPr>
              <a:t> Ended </a:t>
            </a:r>
            <a:r>
              <a:rPr sz="800" b="1" spc="-35" dirty="0">
                <a:latin typeface="Tahoma"/>
                <a:cs typeface="Tahoma"/>
              </a:rPr>
              <a:t>September </a:t>
            </a:r>
            <a:r>
              <a:rPr sz="800" b="1" spc="-25" dirty="0">
                <a:latin typeface="Tahoma"/>
                <a:cs typeface="Tahoma"/>
              </a:rPr>
              <a:t>30,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2024 </a:t>
            </a:r>
            <a:r>
              <a:rPr sz="800" b="1" spc="-40" dirty="0">
                <a:latin typeface="Tahoma"/>
                <a:cs typeface="Tahoma"/>
              </a:rPr>
              <a:t>Continuing</a:t>
            </a:r>
            <a:r>
              <a:rPr sz="800" b="1" spc="10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Operations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96667" y="4915026"/>
            <a:ext cx="30607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spc="-20" dirty="0">
                <a:latin typeface="Tahoma"/>
                <a:cs typeface="Tahoma"/>
              </a:rPr>
              <a:t>GAAP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82390" y="4689475"/>
            <a:ext cx="793115" cy="38290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8100" marR="30480" algn="ctr">
              <a:lnSpc>
                <a:spcPts val="919"/>
              </a:lnSpc>
              <a:spcBef>
                <a:spcPts val="165"/>
              </a:spcBef>
            </a:pPr>
            <a:r>
              <a:rPr sz="800" b="1" spc="-10" dirty="0">
                <a:latin typeface="Tahoma"/>
                <a:cs typeface="Tahoma"/>
              </a:rPr>
              <a:t>Acquisition- Related </a:t>
            </a:r>
            <a:r>
              <a:rPr sz="800" b="1" spc="-35" dirty="0">
                <a:latin typeface="Tahoma"/>
                <a:cs typeface="Tahoma"/>
              </a:rPr>
              <a:t>Adjustments</a:t>
            </a:r>
            <a:r>
              <a:rPr sz="800" b="1" spc="5" dirty="0">
                <a:latin typeface="Tahoma"/>
                <a:cs typeface="Tahoma"/>
              </a:rPr>
              <a:t> </a:t>
            </a:r>
            <a:r>
              <a:rPr sz="750" b="1" spc="-67" baseline="33333" dirty="0">
                <a:latin typeface="Tahoma"/>
                <a:cs typeface="Tahoma"/>
              </a:rPr>
              <a:t>(1)</a:t>
            </a:r>
            <a:endParaRPr sz="750" baseline="33333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24121" y="4689475"/>
            <a:ext cx="793115" cy="38290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8100" marR="30480" algn="ctr">
              <a:lnSpc>
                <a:spcPts val="919"/>
              </a:lnSpc>
              <a:spcBef>
                <a:spcPts val="165"/>
              </a:spcBef>
            </a:pPr>
            <a:r>
              <a:rPr sz="800" b="1" spc="-10" dirty="0">
                <a:latin typeface="Tahoma"/>
                <a:cs typeface="Tahoma"/>
              </a:rPr>
              <a:t>Retirement- Related </a:t>
            </a:r>
            <a:r>
              <a:rPr sz="800" b="1" spc="-35" dirty="0">
                <a:latin typeface="Tahoma"/>
                <a:cs typeface="Tahoma"/>
              </a:rPr>
              <a:t>Adjustments</a:t>
            </a:r>
            <a:r>
              <a:rPr sz="800" b="1" spc="5" dirty="0">
                <a:latin typeface="Tahoma"/>
                <a:cs typeface="Tahoma"/>
              </a:rPr>
              <a:t> </a:t>
            </a:r>
            <a:r>
              <a:rPr sz="750" b="1" spc="-67" baseline="33333" dirty="0">
                <a:latin typeface="Tahoma"/>
                <a:cs typeface="Tahoma"/>
              </a:rPr>
              <a:t>(2)</a:t>
            </a:r>
            <a:endParaRPr sz="750" baseline="33333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76340" y="4689475"/>
            <a:ext cx="422909" cy="37973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indent="635" algn="ctr">
              <a:lnSpc>
                <a:spcPts val="910"/>
              </a:lnSpc>
              <a:spcBef>
                <a:spcPts val="175"/>
              </a:spcBef>
            </a:pPr>
            <a:r>
              <a:rPr sz="800" b="1" spc="-25" dirty="0">
                <a:latin typeface="Tahoma"/>
                <a:cs typeface="Tahoma"/>
              </a:rPr>
              <a:t>Tax </a:t>
            </a:r>
            <a:r>
              <a:rPr sz="800" b="1" spc="-10" dirty="0">
                <a:latin typeface="Tahoma"/>
                <a:cs typeface="Tahoma"/>
              </a:rPr>
              <a:t>Reform </a:t>
            </a:r>
            <a:r>
              <a:rPr sz="800" b="1" spc="-30" dirty="0">
                <a:latin typeface="Tahoma"/>
                <a:cs typeface="Tahoma"/>
              </a:rPr>
              <a:t>Impacts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36257" y="4689475"/>
            <a:ext cx="502284" cy="38163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 algn="ctr">
              <a:lnSpc>
                <a:spcPct val="95600"/>
              </a:lnSpc>
              <a:spcBef>
                <a:spcPts val="145"/>
              </a:spcBef>
            </a:pPr>
            <a:r>
              <a:rPr sz="800" b="1" spc="-40" dirty="0">
                <a:latin typeface="Tahoma"/>
                <a:cs typeface="Tahoma"/>
              </a:rPr>
              <a:t>Operating</a:t>
            </a:r>
            <a:r>
              <a:rPr sz="800" b="1" spc="-10" dirty="0">
                <a:latin typeface="Tahoma"/>
                <a:cs typeface="Tahoma"/>
              </a:rPr>
              <a:t> (Non- GAAP)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696591" y="4680838"/>
            <a:ext cx="4476750" cy="9525"/>
          </a:xfrm>
          <a:custGeom>
            <a:avLst/>
            <a:gdLst/>
            <a:ahLst/>
            <a:cxnLst/>
            <a:rect l="l" t="t" r="r" b="b"/>
            <a:pathLst>
              <a:path w="4476750" h="9525">
                <a:moveTo>
                  <a:pt x="1771129" y="0"/>
                </a:moveTo>
                <a:lnTo>
                  <a:pt x="1771129" y="0"/>
                </a:lnTo>
                <a:lnTo>
                  <a:pt x="0" y="0"/>
                </a:lnTo>
                <a:lnTo>
                  <a:pt x="0" y="9144"/>
                </a:lnTo>
                <a:lnTo>
                  <a:pt x="1771129" y="9144"/>
                </a:lnTo>
                <a:lnTo>
                  <a:pt x="1771129" y="0"/>
                </a:lnTo>
                <a:close/>
              </a:path>
              <a:path w="4476750" h="9525">
                <a:moveTo>
                  <a:pt x="2972041" y="0"/>
                </a:moveTo>
                <a:lnTo>
                  <a:pt x="2972041" y="0"/>
                </a:lnTo>
                <a:lnTo>
                  <a:pt x="1771142" y="0"/>
                </a:lnTo>
                <a:lnTo>
                  <a:pt x="1771142" y="9144"/>
                </a:lnTo>
                <a:lnTo>
                  <a:pt x="2972041" y="9144"/>
                </a:lnTo>
                <a:lnTo>
                  <a:pt x="2972041" y="0"/>
                </a:lnTo>
                <a:close/>
              </a:path>
              <a:path w="4476750" h="9525">
                <a:moveTo>
                  <a:pt x="3610914" y="0"/>
                </a:moveTo>
                <a:lnTo>
                  <a:pt x="2981198" y="0"/>
                </a:lnTo>
                <a:lnTo>
                  <a:pt x="2972054" y="0"/>
                </a:lnTo>
                <a:lnTo>
                  <a:pt x="2972054" y="9144"/>
                </a:lnTo>
                <a:lnTo>
                  <a:pt x="2981198" y="9144"/>
                </a:lnTo>
                <a:lnTo>
                  <a:pt x="3610914" y="9144"/>
                </a:lnTo>
                <a:lnTo>
                  <a:pt x="3610914" y="0"/>
                </a:lnTo>
                <a:close/>
              </a:path>
              <a:path w="4476750" h="9525">
                <a:moveTo>
                  <a:pt x="3905110" y="0"/>
                </a:moveTo>
                <a:lnTo>
                  <a:pt x="3905110" y="0"/>
                </a:lnTo>
                <a:lnTo>
                  <a:pt x="3610991" y="0"/>
                </a:lnTo>
                <a:lnTo>
                  <a:pt x="3610991" y="9144"/>
                </a:lnTo>
                <a:lnTo>
                  <a:pt x="3905110" y="9144"/>
                </a:lnTo>
                <a:lnTo>
                  <a:pt x="3905110" y="0"/>
                </a:lnTo>
                <a:close/>
              </a:path>
              <a:path w="4476750" h="9525">
                <a:moveTo>
                  <a:pt x="4476610" y="0"/>
                </a:moveTo>
                <a:lnTo>
                  <a:pt x="3914267" y="0"/>
                </a:lnTo>
                <a:lnTo>
                  <a:pt x="3905123" y="0"/>
                </a:lnTo>
                <a:lnTo>
                  <a:pt x="3905123" y="9144"/>
                </a:lnTo>
                <a:lnTo>
                  <a:pt x="3914254" y="9144"/>
                </a:lnTo>
                <a:lnTo>
                  <a:pt x="4476610" y="9144"/>
                </a:lnTo>
                <a:lnTo>
                  <a:pt x="44766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458977" y="5095366"/>
          <a:ext cx="6950709" cy="8680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7740"/>
                <a:gridCol w="504825"/>
                <a:gridCol w="181610"/>
                <a:gridCol w="791210"/>
                <a:gridCol w="294004"/>
                <a:gridCol w="904875"/>
                <a:gridCol w="295275"/>
                <a:gridCol w="932814"/>
                <a:gridCol w="571500"/>
                <a:gridCol w="160020"/>
              </a:tblGrid>
              <a:tr h="1695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Gross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Profit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8,420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87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125"/>
                        </a:spcBef>
                        <a:tabLst>
                          <a:tab pos="5314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192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87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125"/>
                        </a:spcBef>
                        <a:tabLst>
                          <a:tab pos="78422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87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125"/>
                        </a:spcBef>
                        <a:tabLst>
                          <a:tab pos="518159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25"/>
                        </a:spcBef>
                        <a:tabLst>
                          <a:tab pos="25717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8,612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87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Gross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Profit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Margin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56.3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518159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—</a:t>
                      </a:r>
                      <a:r>
                        <a:rPr sz="800" spc="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57.5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180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SG&amp;A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4,911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0"/>
                        </a:spcBef>
                        <a:tabLst>
                          <a:tab pos="48450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(300)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10"/>
                        </a:spcBef>
                        <a:tabLst>
                          <a:tab pos="78422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10"/>
                        </a:spcBef>
                        <a:tabLst>
                          <a:tab pos="518159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0"/>
                        </a:spcBef>
                        <a:tabLst>
                          <a:tab pos="25717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4,611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9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Other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(Income)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Expense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2,244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(2,797)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(553)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6845">
                <a:tc>
                  <a:txBody>
                    <a:bodyPr/>
                    <a:lstStyle/>
                    <a:p>
                      <a:pPr marL="31750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40" dirty="0">
                          <a:latin typeface="Verdana"/>
                          <a:cs typeface="Verdana"/>
                        </a:rPr>
                        <a:t>Total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Expense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Other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(Income)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9,222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(300)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(2,797)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ct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6,125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5668645" y="5090795"/>
            <a:ext cx="639445" cy="9525"/>
          </a:xfrm>
          <a:custGeom>
            <a:avLst/>
            <a:gdLst/>
            <a:ahLst/>
            <a:cxnLst/>
            <a:rect l="l" t="t" r="r" b="b"/>
            <a:pathLst>
              <a:path w="639445" h="9525">
                <a:moveTo>
                  <a:pt x="638860" y="0"/>
                </a:moveTo>
                <a:lnTo>
                  <a:pt x="0" y="0"/>
                </a:lnTo>
                <a:lnTo>
                  <a:pt x="0" y="9144"/>
                </a:lnTo>
                <a:lnTo>
                  <a:pt x="638860" y="9144"/>
                </a:lnTo>
                <a:lnTo>
                  <a:pt x="6388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78027" y="6003416"/>
            <a:ext cx="1826260" cy="42418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26034">
              <a:lnSpc>
                <a:spcPts val="910"/>
              </a:lnSpc>
              <a:spcBef>
                <a:spcPts val="175"/>
              </a:spcBef>
            </a:pPr>
            <a:r>
              <a:rPr sz="800" spc="-45" dirty="0">
                <a:latin typeface="Verdana"/>
                <a:cs typeface="Verdana"/>
              </a:rPr>
              <a:t>Pre-</a:t>
            </a:r>
            <a:r>
              <a:rPr sz="800" spc="-50" dirty="0">
                <a:latin typeface="Verdana"/>
                <a:cs typeface="Verdana"/>
              </a:rPr>
              <a:t>tax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Income/(Loss)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from</a:t>
            </a:r>
            <a:r>
              <a:rPr sz="800" spc="-50" dirty="0">
                <a:latin typeface="Verdana"/>
                <a:cs typeface="Verdana"/>
              </a:rPr>
              <a:t> Continuing </a:t>
            </a:r>
            <a:r>
              <a:rPr sz="800" spc="-10" dirty="0">
                <a:latin typeface="Verdana"/>
                <a:cs typeface="Verdana"/>
              </a:rPr>
              <a:t>Operations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800" spc="-45" dirty="0">
                <a:latin typeface="Verdana"/>
                <a:cs typeface="Verdana"/>
              </a:rPr>
              <a:t>Pre-</a:t>
            </a:r>
            <a:r>
              <a:rPr sz="800" spc="-50" dirty="0">
                <a:latin typeface="Verdana"/>
                <a:cs typeface="Verdana"/>
              </a:rPr>
              <a:t>tax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Income</a:t>
            </a:r>
            <a:r>
              <a:rPr sz="800" spc="-55" dirty="0">
                <a:latin typeface="Verdana"/>
                <a:cs typeface="Verdana"/>
              </a:rPr>
              <a:t> Margin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from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Continuing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27730" y="6096380"/>
            <a:ext cx="27686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55" dirty="0">
                <a:latin typeface="Verdana"/>
                <a:cs typeface="Verdana"/>
              </a:rPr>
              <a:t>(802)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36619" y="6096380"/>
            <a:ext cx="208279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latin typeface="Verdana"/>
                <a:cs typeface="Verdana"/>
              </a:rPr>
              <a:t>492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47869" y="6096380"/>
            <a:ext cx="29718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35" dirty="0">
                <a:latin typeface="Verdana"/>
                <a:cs typeface="Verdana"/>
              </a:rPr>
              <a:t>2,797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174485" y="6096380"/>
            <a:ext cx="10541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20" dirty="0">
                <a:latin typeface="Verdana"/>
                <a:cs typeface="Verdana"/>
              </a:rPr>
              <a:t>—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46569" y="6096380"/>
            <a:ext cx="29718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35" dirty="0">
                <a:latin typeface="Verdana"/>
                <a:cs typeface="Verdana"/>
              </a:rPr>
              <a:t>2,487</a:t>
            </a:r>
            <a:endParaRPr sz="800">
              <a:latin typeface="Verdana"/>
              <a:cs typeface="Verdana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437641" y="6373228"/>
          <a:ext cx="6972300" cy="1367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4880"/>
                <a:gridCol w="721359"/>
                <a:gridCol w="812164"/>
                <a:gridCol w="242570"/>
                <a:gridCol w="957579"/>
                <a:gridCol w="243204"/>
                <a:gridCol w="691514"/>
                <a:gridCol w="241300"/>
                <a:gridCol w="607694"/>
                <a:gridCol w="164465"/>
              </a:tblGrid>
              <a:tr h="173355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(5.4)</a:t>
                      </a:r>
                      <a:r>
                        <a:rPr sz="800" spc="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3.3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4508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18.7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4445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16.6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</a:tr>
              <a:tr h="165735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Provision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for/(Benefit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from)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Taxes</a:t>
                      </a:r>
                      <a:r>
                        <a:rPr sz="8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(4)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28765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(485)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5314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119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72072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700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45402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(2)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31178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332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975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Effective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Rate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60.4</a:t>
                      </a:r>
                      <a:r>
                        <a:rPr sz="800" spc="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(7.2)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508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(39.8)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(0.1)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445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13.4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18034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Income/(Loss)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Continuing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8765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(317)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5314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373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63246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2,097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50165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235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2,155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81305">
                <a:tc>
                  <a:txBody>
                    <a:bodyPr/>
                    <a:lstStyle/>
                    <a:p>
                      <a:pPr marL="52705" marR="400685">
                        <a:lnSpc>
                          <a:spcPts val="919"/>
                        </a:lnSpc>
                        <a:spcBef>
                          <a:spcPts val="270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Income/(Loss)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Margin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Continuing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(2.1)</a:t>
                      </a:r>
                      <a:r>
                        <a:rPr sz="800" spc="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0490" marB="0"/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0490" marB="0"/>
                </a:tc>
                <a:tc>
                  <a:txBody>
                    <a:bodyPr/>
                    <a:lstStyle/>
                    <a:p>
                      <a:pPr marR="45085"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0490" marB="0"/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14.0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0490" marB="0"/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0490" marB="0"/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0490" marB="0"/>
                </a:tc>
                <a:tc>
                  <a:txBody>
                    <a:bodyPr/>
                    <a:lstStyle/>
                    <a:p>
                      <a:pPr marR="44450"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0490" marB="0"/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14.4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0490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0490" marB="0"/>
                </a:tc>
              </a:tr>
              <a:tr h="92075">
                <a:tc>
                  <a:txBody>
                    <a:bodyPr/>
                    <a:lstStyle/>
                    <a:p>
                      <a:pPr marL="52705">
                        <a:lnSpc>
                          <a:spcPts val="535"/>
                        </a:lnSpc>
                        <a:spcBef>
                          <a:spcPts val="9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Diluted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Earnings/(Loss)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Per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Share: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Continuing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94005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Operations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(5)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140" dirty="0">
                          <a:latin typeface="Verdana"/>
                          <a:cs typeface="Verdana"/>
                        </a:rPr>
                        <a:t> 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(0.34)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50419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0.40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 gridSpan="2"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93599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2.27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67056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0.00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15595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60007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2.30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7" name="object 27"/>
          <p:cNvSpPr/>
          <p:nvPr/>
        </p:nvSpPr>
        <p:spPr>
          <a:xfrm>
            <a:off x="448055" y="7730998"/>
            <a:ext cx="1266825" cy="12700"/>
          </a:xfrm>
          <a:custGeom>
            <a:avLst/>
            <a:gdLst/>
            <a:ahLst/>
            <a:cxnLst/>
            <a:rect l="l" t="t" r="r" b="b"/>
            <a:pathLst>
              <a:path w="1266825" h="12700">
                <a:moveTo>
                  <a:pt x="1266748" y="0"/>
                </a:moveTo>
                <a:lnTo>
                  <a:pt x="0" y="0"/>
                </a:lnTo>
                <a:lnTo>
                  <a:pt x="0" y="12191"/>
                </a:lnTo>
                <a:lnTo>
                  <a:pt x="1266748" y="12191"/>
                </a:lnTo>
                <a:lnTo>
                  <a:pt x="1266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44500" y="7741157"/>
            <a:ext cx="6885940" cy="1275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3515" marR="131445" indent="-171450">
              <a:lnSpc>
                <a:spcPct val="100000"/>
              </a:lnSpc>
              <a:spcBef>
                <a:spcPts val="100"/>
              </a:spcBef>
              <a:buAutoNum type="arabicParenBoth"/>
              <a:tabLst>
                <a:tab pos="184785" algn="l"/>
              </a:tabLst>
            </a:pPr>
            <a:r>
              <a:rPr sz="800" spc="-40" dirty="0">
                <a:latin typeface="Verdana"/>
                <a:cs typeface="Verdana"/>
              </a:rPr>
              <a:t>Includes </a:t>
            </a:r>
            <a:r>
              <a:rPr sz="800" spc="-55" dirty="0">
                <a:latin typeface="Verdana"/>
                <a:cs typeface="Verdana"/>
              </a:rPr>
              <a:t>amortization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45" dirty="0">
                <a:latin typeface="Verdana"/>
                <a:cs typeface="Verdana"/>
              </a:rPr>
              <a:t> acquired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intangible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assets,</a:t>
            </a:r>
            <a:r>
              <a:rPr sz="800" spc="-3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in-process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70" dirty="0">
                <a:latin typeface="Verdana"/>
                <a:cs typeface="Verdana"/>
              </a:rPr>
              <a:t>R&amp;D,</a:t>
            </a:r>
            <a:r>
              <a:rPr sz="800" spc="-3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transaction</a:t>
            </a:r>
            <a:r>
              <a:rPr sz="800" spc="-45" dirty="0">
                <a:latin typeface="Verdana"/>
                <a:cs typeface="Verdana"/>
              </a:rPr>
              <a:t> costs,</a:t>
            </a:r>
            <a:r>
              <a:rPr sz="800" spc="-3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applicable </a:t>
            </a:r>
            <a:r>
              <a:rPr sz="800" spc="-55" dirty="0">
                <a:latin typeface="Verdana"/>
                <a:cs typeface="Verdana"/>
              </a:rPr>
              <a:t>retention,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restructuring</a:t>
            </a:r>
            <a:r>
              <a:rPr sz="800" spc="-55" dirty="0">
                <a:latin typeface="Verdana"/>
                <a:cs typeface="Verdana"/>
              </a:rPr>
              <a:t> and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related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expenses, 	</a:t>
            </a:r>
            <a:r>
              <a:rPr sz="800" spc="-50" dirty="0">
                <a:latin typeface="Verdana"/>
                <a:cs typeface="Verdana"/>
              </a:rPr>
              <a:t>tax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charges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related</a:t>
            </a:r>
            <a:r>
              <a:rPr sz="800" spc="-3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to </a:t>
            </a:r>
            <a:r>
              <a:rPr sz="800" spc="-45" dirty="0">
                <a:latin typeface="Verdana"/>
                <a:cs typeface="Verdana"/>
              </a:rPr>
              <a:t>acquisition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integration and </a:t>
            </a:r>
            <a:r>
              <a:rPr sz="800" spc="-45" dirty="0">
                <a:latin typeface="Verdana"/>
                <a:cs typeface="Verdana"/>
              </a:rPr>
              <a:t>pre-closing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charges,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such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as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financing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costs.</a:t>
            </a:r>
            <a:endParaRPr sz="800">
              <a:latin typeface="Verdana"/>
              <a:cs typeface="Verdana"/>
            </a:endParaRPr>
          </a:p>
          <a:p>
            <a:pPr marL="183515" marR="5080" indent="-171450">
              <a:lnSpc>
                <a:spcPct val="100000"/>
              </a:lnSpc>
              <a:spcBef>
                <a:spcPts val="300"/>
              </a:spcBef>
              <a:buAutoNum type="arabicParenBoth"/>
              <a:tabLst>
                <a:tab pos="184785" algn="l"/>
              </a:tabLst>
            </a:pPr>
            <a:r>
              <a:rPr sz="800" spc="-40" dirty="0">
                <a:latin typeface="Verdana"/>
                <a:cs typeface="Verdana"/>
              </a:rPr>
              <a:t>Includes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amortization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prior </a:t>
            </a:r>
            <a:r>
              <a:rPr sz="800" spc="-45" dirty="0">
                <a:latin typeface="Verdana"/>
                <a:cs typeface="Verdana"/>
              </a:rPr>
              <a:t>service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costs,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interest </a:t>
            </a:r>
            <a:r>
              <a:rPr sz="800" spc="-45" dirty="0">
                <a:latin typeface="Verdana"/>
                <a:cs typeface="Verdana"/>
              </a:rPr>
              <a:t>cost,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expected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return on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plan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assets,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amortized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actuarial </a:t>
            </a:r>
            <a:r>
              <a:rPr sz="800" spc="-50" dirty="0">
                <a:latin typeface="Verdana"/>
                <a:cs typeface="Verdana"/>
              </a:rPr>
              <a:t>gains/losses,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the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impacts</a:t>
            </a:r>
            <a:r>
              <a:rPr sz="800" spc="-3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of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70" dirty="0">
                <a:latin typeface="Verdana"/>
                <a:cs typeface="Verdana"/>
              </a:rPr>
              <a:t>any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plan 	</a:t>
            </a:r>
            <a:r>
              <a:rPr sz="800" spc="-50" dirty="0">
                <a:latin typeface="Verdana"/>
                <a:cs typeface="Verdana"/>
              </a:rPr>
              <a:t>curtailments/settlements</a:t>
            </a:r>
            <a:r>
              <a:rPr sz="800" spc="-55" dirty="0">
                <a:latin typeface="Verdana"/>
                <a:cs typeface="Verdana"/>
              </a:rPr>
              <a:t> and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pension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insolvency </a:t>
            </a:r>
            <a:r>
              <a:rPr sz="800" spc="-35" dirty="0">
                <a:latin typeface="Verdana"/>
                <a:cs typeface="Verdana"/>
              </a:rPr>
              <a:t>costs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and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other </a:t>
            </a:r>
            <a:r>
              <a:rPr sz="800" spc="-45" dirty="0">
                <a:latin typeface="Verdana"/>
                <a:cs typeface="Verdana"/>
              </a:rPr>
              <a:t>costs. </a:t>
            </a:r>
            <a:r>
              <a:rPr sz="800" spc="-40" dirty="0">
                <a:latin typeface="Verdana"/>
                <a:cs typeface="Verdana"/>
              </a:rPr>
              <a:t>2024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also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includes</a:t>
            </a:r>
            <a:r>
              <a:rPr sz="800" spc="-50" dirty="0">
                <a:latin typeface="Verdana"/>
                <a:cs typeface="Verdana"/>
              </a:rPr>
              <a:t> the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impact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pension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settlement</a:t>
            </a:r>
            <a:r>
              <a:rPr sz="800" spc="1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charge.</a:t>
            </a:r>
            <a:endParaRPr sz="800">
              <a:latin typeface="Verdana"/>
              <a:cs typeface="Verdana"/>
            </a:endParaRPr>
          </a:p>
          <a:p>
            <a:pPr marL="184150" indent="-171450">
              <a:lnSpc>
                <a:spcPct val="100000"/>
              </a:lnSpc>
              <a:spcBef>
                <a:spcPts val="300"/>
              </a:spcBef>
              <a:buAutoNum type="arabicParenBoth"/>
              <a:tabLst>
                <a:tab pos="184150" algn="l"/>
              </a:tabLst>
            </a:pPr>
            <a:r>
              <a:rPr sz="800" spc="-40" dirty="0">
                <a:latin typeface="Verdana"/>
                <a:cs typeface="Verdana"/>
              </a:rPr>
              <a:t>2025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includes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one-time,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65" dirty="0">
                <a:latin typeface="Verdana"/>
                <a:cs typeface="Verdana"/>
              </a:rPr>
              <a:t>non-</a:t>
            </a:r>
            <a:r>
              <a:rPr sz="800" spc="-45" dirty="0">
                <a:latin typeface="Verdana"/>
                <a:cs typeface="Verdana"/>
              </a:rPr>
              <a:t>cash</a:t>
            </a:r>
            <a:r>
              <a:rPr sz="800" spc="-55" dirty="0">
                <a:latin typeface="Verdana"/>
                <a:cs typeface="Verdana"/>
              </a:rPr>
              <a:t> income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tax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charge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associated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with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the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enactment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of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65" dirty="0">
                <a:latin typeface="Verdana"/>
                <a:cs typeface="Verdana"/>
              </a:rPr>
              <a:t>H.R.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1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35" dirty="0">
                <a:latin typeface="Verdana"/>
                <a:cs typeface="Verdana"/>
              </a:rPr>
              <a:t>July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2025.</a:t>
            </a:r>
            <a:endParaRPr sz="800">
              <a:latin typeface="Verdana"/>
              <a:cs typeface="Verdana"/>
            </a:endParaRPr>
          </a:p>
          <a:p>
            <a:pPr marL="183515" marR="73025" indent="-171450">
              <a:lnSpc>
                <a:spcPct val="100000"/>
              </a:lnSpc>
              <a:spcBef>
                <a:spcPts val="305"/>
              </a:spcBef>
              <a:buAutoNum type="arabicParenBoth"/>
              <a:tabLst>
                <a:tab pos="184785" algn="l"/>
              </a:tabLst>
            </a:pPr>
            <a:r>
              <a:rPr sz="800" spc="-50" dirty="0">
                <a:latin typeface="Verdana"/>
                <a:cs typeface="Verdana"/>
              </a:rPr>
              <a:t>The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tax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impact</a:t>
            </a:r>
            <a:r>
              <a:rPr sz="800" spc="-55" dirty="0">
                <a:latin typeface="Verdana"/>
                <a:cs typeface="Verdana"/>
              </a:rPr>
              <a:t> on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operating </a:t>
            </a:r>
            <a:r>
              <a:rPr sz="800" spc="-70" dirty="0">
                <a:latin typeface="Verdana"/>
                <a:cs typeface="Verdana"/>
              </a:rPr>
              <a:t>(non-</a:t>
            </a:r>
            <a:r>
              <a:rPr sz="800" spc="-60" dirty="0">
                <a:latin typeface="Verdana"/>
                <a:cs typeface="Verdana"/>
              </a:rPr>
              <a:t>GAAP)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pre-</a:t>
            </a:r>
            <a:r>
              <a:rPr sz="800" spc="-60" dirty="0">
                <a:latin typeface="Verdana"/>
                <a:cs typeface="Verdana"/>
              </a:rPr>
              <a:t>tax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income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from</a:t>
            </a:r>
            <a:r>
              <a:rPr sz="800" spc="-55" dirty="0">
                <a:latin typeface="Verdana"/>
                <a:cs typeface="Verdana"/>
              </a:rPr>
              <a:t> continuing</a:t>
            </a:r>
            <a:r>
              <a:rPr sz="800" spc="-50" dirty="0">
                <a:latin typeface="Verdana"/>
                <a:cs typeface="Verdana"/>
              </a:rPr>
              <a:t> operations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30" dirty="0">
                <a:latin typeface="Verdana"/>
                <a:cs typeface="Verdana"/>
              </a:rPr>
              <a:t>is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calculated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under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the</a:t>
            </a:r>
            <a:r>
              <a:rPr sz="800" spc="-60" dirty="0">
                <a:latin typeface="Verdana"/>
                <a:cs typeface="Verdana"/>
              </a:rPr>
              <a:t> same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accounting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principles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applied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25" dirty="0">
                <a:latin typeface="Verdana"/>
                <a:cs typeface="Verdana"/>
              </a:rPr>
              <a:t>to 	</a:t>
            </a:r>
            <a:r>
              <a:rPr sz="800" spc="-50" dirty="0">
                <a:latin typeface="Verdana"/>
                <a:cs typeface="Verdana"/>
              </a:rPr>
              <a:t>the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GAAP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pre-</a:t>
            </a:r>
            <a:r>
              <a:rPr sz="800" spc="-50" dirty="0">
                <a:latin typeface="Verdana"/>
                <a:cs typeface="Verdana"/>
              </a:rPr>
              <a:t>tax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income.</a:t>
            </a:r>
            <a:endParaRPr sz="800">
              <a:latin typeface="Verdana"/>
              <a:cs typeface="Verdana"/>
            </a:endParaRPr>
          </a:p>
          <a:p>
            <a:pPr marL="183515" marR="106680" indent="-171450">
              <a:lnSpc>
                <a:spcPct val="100000"/>
              </a:lnSpc>
              <a:spcBef>
                <a:spcPts val="295"/>
              </a:spcBef>
              <a:buAutoNum type="arabicParenBoth"/>
              <a:tabLst>
                <a:tab pos="184785" algn="l"/>
              </a:tabLst>
            </a:pPr>
            <a:r>
              <a:rPr sz="800" spc="-65" dirty="0">
                <a:latin typeface="Verdana"/>
                <a:cs typeface="Verdana"/>
              </a:rPr>
              <a:t>Due </a:t>
            </a:r>
            <a:r>
              <a:rPr sz="800" spc="-45" dirty="0">
                <a:latin typeface="Verdana"/>
                <a:cs typeface="Verdana"/>
              </a:rPr>
              <a:t>to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the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GAAP</a:t>
            </a:r>
            <a:r>
              <a:rPr sz="800" spc="-55" dirty="0">
                <a:latin typeface="Verdana"/>
                <a:cs typeface="Verdana"/>
              </a:rPr>
              <a:t> net </a:t>
            </a:r>
            <a:r>
              <a:rPr sz="800" spc="-40" dirty="0">
                <a:latin typeface="Verdana"/>
                <a:cs typeface="Verdana"/>
              </a:rPr>
              <a:t>loss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for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the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three</a:t>
            </a:r>
            <a:r>
              <a:rPr sz="800" spc="-80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months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ended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September</a:t>
            </a:r>
            <a:r>
              <a:rPr sz="800" spc="-55" dirty="0">
                <a:latin typeface="Verdana"/>
                <a:cs typeface="Verdana"/>
              </a:rPr>
              <a:t> 30,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2024,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dilutive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potential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shares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were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excluded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from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the</a:t>
            </a:r>
            <a:r>
              <a:rPr sz="800" spc="-50" dirty="0">
                <a:latin typeface="Verdana"/>
                <a:cs typeface="Verdana"/>
              </a:rPr>
              <a:t> GAAP</a:t>
            </a:r>
            <a:r>
              <a:rPr sz="800" spc="1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loss</a:t>
            </a:r>
            <a:r>
              <a:rPr sz="800" spc="-50" dirty="0">
                <a:latin typeface="Verdana"/>
                <a:cs typeface="Verdana"/>
              </a:rPr>
              <a:t> per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share 	</a:t>
            </a:r>
            <a:r>
              <a:rPr sz="800" spc="-45" dirty="0">
                <a:latin typeface="Verdana"/>
                <a:cs typeface="Verdana"/>
              </a:rPr>
              <a:t>as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the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effect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would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70" dirty="0">
                <a:latin typeface="Verdana"/>
                <a:cs typeface="Verdana"/>
              </a:rPr>
              <a:t>have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been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antidilutive.</a:t>
            </a:r>
            <a:r>
              <a:rPr sz="800" spc="-55" dirty="0">
                <a:latin typeface="Verdana"/>
                <a:cs typeface="Verdana"/>
              </a:rPr>
              <a:t> The</a:t>
            </a:r>
            <a:r>
              <a:rPr sz="800" spc="-45" dirty="0">
                <a:latin typeface="Verdana"/>
                <a:cs typeface="Verdana"/>
              </a:rPr>
              <a:t> difference </a:t>
            </a:r>
            <a:r>
              <a:rPr sz="800" spc="-50" dirty="0">
                <a:latin typeface="Verdana"/>
                <a:cs typeface="Verdana"/>
              </a:rPr>
              <a:t>in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share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count</a:t>
            </a:r>
            <a:r>
              <a:rPr sz="800" spc="-45" dirty="0">
                <a:latin typeface="Verdana"/>
                <a:cs typeface="Verdana"/>
              </a:rPr>
              <a:t> resulted </a:t>
            </a:r>
            <a:r>
              <a:rPr sz="800" spc="-50" dirty="0">
                <a:latin typeface="Verdana"/>
                <a:cs typeface="Verdana"/>
              </a:rPr>
              <a:t>in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an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additional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70" dirty="0">
                <a:latin typeface="Verdana"/>
                <a:cs typeface="Verdana"/>
              </a:rPr>
              <a:t>$(0.04)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reconciling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item.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58314" y="531368"/>
            <a:ext cx="4927600" cy="857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INTERNATIONAL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BUSINESS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MACHINES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CORPORATION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800" b="1" spc="-20" dirty="0">
                <a:latin typeface="Tahoma"/>
                <a:cs typeface="Tahoma"/>
              </a:rPr>
              <a:t>U.S.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GAAP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40" dirty="0">
                <a:latin typeface="Tahoma"/>
                <a:cs typeface="Tahoma"/>
              </a:rPr>
              <a:t>TO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OPERATING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60" dirty="0">
                <a:latin typeface="Tahoma"/>
                <a:cs typeface="Tahoma"/>
              </a:rPr>
              <a:t>(Non-</a:t>
            </a:r>
            <a:r>
              <a:rPr sz="800" b="1" spc="-35" dirty="0">
                <a:latin typeface="Tahoma"/>
                <a:cs typeface="Tahoma"/>
              </a:rPr>
              <a:t>GAAP)</a:t>
            </a:r>
            <a:r>
              <a:rPr sz="800" b="1" spc="-2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RESULTS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RECONCILIATION</a:t>
            </a:r>
            <a:endParaRPr sz="800">
              <a:latin typeface="Tahoma"/>
              <a:cs typeface="Tahoma"/>
            </a:endParaRPr>
          </a:p>
          <a:p>
            <a:pPr marL="255270">
              <a:lnSpc>
                <a:spcPct val="100000"/>
              </a:lnSpc>
              <a:spcBef>
                <a:spcPts val="5"/>
              </a:spcBef>
            </a:pPr>
            <a:r>
              <a:rPr sz="800" b="1" spc="-40" dirty="0">
                <a:latin typeface="Tahoma"/>
                <a:cs typeface="Tahoma"/>
              </a:rPr>
              <a:t>(Unaudited;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Dollars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in</a:t>
            </a:r>
            <a:r>
              <a:rPr sz="800" b="1" spc="-25" dirty="0">
                <a:latin typeface="Tahoma"/>
                <a:cs typeface="Tahoma"/>
              </a:rPr>
              <a:t> millions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except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per</a:t>
            </a:r>
            <a:r>
              <a:rPr sz="800" b="1" spc="-30" dirty="0">
                <a:latin typeface="Tahoma"/>
                <a:cs typeface="Tahoma"/>
              </a:rPr>
              <a:t> share</a:t>
            </a:r>
            <a:r>
              <a:rPr sz="800" b="1" spc="-10" dirty="0">
                <a:latin typeface="Tahoma"/>
                <a:cs typeface="Tahoma"/>
              </a:rPr>
              <a:t> amounts)</a:t>
            </a:r>
            <a:endParaRPr sz="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800">
              <a:latin typeface="Tahoma"/>
              <a:cs typeface="Tahoma"/>
            </a:endParaRPr>
          </a:p>
          <a:p>
            <a:pPr marL="518795" algn="ctr">
              <a:lnSpc>
                <a:spcPct val="100000"/>
              </a:lnSpc>
            </a:pPr>
            <a:r>
              <a:rPr sz="800" b="1" spc="-30" dirty="0">
                <a:latin typeface="Tahoma"/>
                <a:cs typeface="Tahoma"/>
              </a:rPr>
              <a:t>Nine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35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Ended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September </a:t>
            </a:r>
            <a:r>
              <a:rPr sz="800" b="1" spc="-25" dirty="0">
                <a:latin typeface="Tahoma"/>
                <a:cs typeface="Tahoma"/>
              </a:rPr>
              <a:t>30,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2025</a:t>
            </a:r>
            <a:endParaRPr sz="800">
              <a:latin typeface="Tahoma"/>
              <a:cs typeface="Tahoma"/>
            </a:endParaRPr>
          </a:p>
          <a:p>
            <a:pPr marL="519430" algn="ctr">
              <a:lnSpc>
                <a:spcPct val="100000"/>
              </a:lnSpc>
              <a:spcBef>
                <a:spcPts val="170"/>
              </a:spcBef>
              <a:tabLst>
                <a:tab pos="2174875" algn="l"/>
                <a:tab pos="4901565" algn="l"/>
              </a:tabLst>
            </a:pPr>
            <a:r>
              <a:rPr sz="800" b="1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sz="800" b="1" u="sng" spc="-4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Continuing</a:t>
            </a:r>
            <a:r>
              <a:rPr sz="800" b="1" u="sng" spc="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800" b="1" u="sng" spc="-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Operations</a:t>
            </a:r>
            <a:r>
              <a:rPr sz="800" b="1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91154" y="1581658"/>
            <a:ext cx="3060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0" dirty="0">
                <a:latin typeface="Tahoma"/>
                <a:cs typeface="Tahoma"/>
              </a:rPr>
              <a:t>GAAP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53078" y="1383537"/>
            <a:ext cx="793115" cy="38290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7465" marR="30480" algn="ctr">
              <a:lnSpc>
                <a:spcPts val="919"/>
              </a:lnSpc>
              <a:spcBef>
                <a:spcPts val="165"/>
              </a:spcBef>
            </a:pPr>
            <a:r>
              <a:rPr sz="800" b="1" spc="-10" dirty="0">
                <a:latin typeface="Tahoma"/>
                <a:cs typeface="Tahoma"/>
              </a:rPr>
              <a:t>Acquisition- Related </a:t>
            </a:r>
            <a:r>
              <a:rPr sz="800" b="1" spc="-35" dirty="0">
                <a:latin typeface="Tahoma"/>
                <a:cs typeface="Tahoma"/>
              </a:rPr>
              <a:t>Adjustments</a:t>
            </a:r>
            <a:r>
              <a:rPr sz="800" b="1" spc="10" dirty="0">
                <a:latin typeface="Tahoma"/>
                <a:cs typeface="Tahoma"/>
              </a:rPr>
              <a:t> </a:t>
            </a:r>
            <a:r>
              <a:rPr sz="750" b="1" spc="-67" baseline="33333" dirty="0">
                <a:latin typeface="Tahoma"/>
                <a:cs typeface="Tahoma"/>
              </a:rPr>
              <a:t>(1)</a:t>
            </a:r>
            <a:endParaRPr sz="750" baseline="33333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52136" y="1383537"/>
            <a:ext cx="793115" cy="38290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8100" marR="30480" algn="ctr">
              <a:lnSpc>
                <a:spcPts val="919"/>
              </a:lnSpc>
              <a:spcBef>
                <a:spcPts val="165"/>
              </a:spcBef>
            </a:pPr>
            <a:r>
              <a:rPr sz="800" b="1" spc="-10" dirty="0">
                <a:latin typeface="Tahoma"/>
                <a:cs typeface="Tahoma"/>
              </a:rPr>
              <a:t>Retirement- Related </a:t>
            </a:r>
            <a:r>
              <a:rPr sz="800" b="1" spc="-35" dirty="0">
                <a:latin typeface="Tahoma"/>
                <a:cs typeface="Tahoma"/>
              </a:rPr>
              <a:t>Adjustments</a:t>
            </a:r>
            <a:r>
              <a:rPr sz="800" b="1" spc="5" dirty="0">
                <a:latin typeface="Tahoma"/>
                <a:cs typeface="Tahoma"/>
              </a:rPr>
              <a:t> </a:t>
            </a:r>
            <a:r>
              <a:rPr sz="750" b="1" spc="-67" baseline="33333" dirty="0">
                <a:latin typeface="Tahoma"/>
                <a:cs typeface="Tahoma"/>
              </a:rPr>
              <a:t>(2)</a:t>
            </a:r>
            <a:endParaRPr sz="750" baseline="33333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50940" y="1383537"/>
            <a:ext cx="579755" cy="37973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 marR="30480" indent="-1905" algn="ctr">
              <a:lnSpc>
                <a:spcPts val="910"/>
              </a:lnSpc>
              <a:spcBef>
                <a:spcPts val="175"/>
              </a:spcBef>
            </a:pPr>
            <a:r>
              <a:rPr sz="800" b="1" spc="-25" dirty="0">
                <a:latin typeface="Tahoma"/>
                <a:cs typeface="Tahoma"/>
              </a:rPr>
              <a:t>Tax </a:t>
            </a:r>
            <a:r>
              <a:rPr sz="800" b="1" spc="-10" dirty="0">
                <a:latin typeface="Tahoma"/>
                <a:cs typeface="Tahoma"/>
              </a:rPr>
              <a:t>Reform </a:t>
            </a:r>
            <a:r>
              <a:rPr sz="800" b="1" spc="-30" dirty="0">
                <a:latin typeface="Tahoma"/>
                <a:cs typeface="Tahoma"/>
              </a:rPr>
              <a:t>Impacts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750" b="1" spc="-82" baseline="33333" dirty="0">
                <a:latin typeface="Tahoma"/>
                <a:cs typeface="Tahoma"/>
              </a:rPr>
              <a:t>(3)</a:t>
            </a:r>
            <a:endParaRPr sz="750" baseline="33333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36257" y="1383537"/>
            <a:ext cx="502284" cy="38163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 algn="ctr">
              <a:lnSpc>
                <a:spcPct val="95600"/>
              </a:lnSpc>
              <a:spcBef>
                <a:spcPts val="145"/>
              </a:spcBef>
            </a:pPr>
            <a:r>
              <a:rPr sz="800" b="1" spc="-40" dirty="0">
                <a:latin typeface="Tahoma"/>
                <a:cs typeface="Tahoma"/>
              </a:rPr>
              <a:t>Operating</a:t>
            </a:r>
            <a:r>
              <a:rPr sz="800" b="1" spc="-10" dirty="0">
                <a:latin typeface="Tahoma"/>
                <a:cs typeface="Tahoma"/>
              </a:rPr>
              <a:t> (Non- GAAP)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58977" y="1761998"/>
          <a:ext cx="6950709" cy="2492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2355"/>
                <a:gridCol w="506094"/>
                <a:gridCol w="255905"/>
                <a:gridCol w="791209"/>
                <a:gridCol w="275589"/>
                <a:gridCol w="857885"/>
                <a:gridCol w="275589"/>
                <a:gridCol w="567054"/>
                <a:gridCol w="280035"/>
                <a:gridCol w="571499"/>
                <a:gridCol w="160020"/>
              </a:tblGrid>
              <a:tr h="1689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Gross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Profit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27,369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5314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657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73406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4495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24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28,025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Gross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Profit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Margin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57.2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556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gridSpan="2">
                  <a:txBody>
                    <a:bodyPr/>
                    <a:lstStyle/>
                    <a:p>
                      <a:pPr marL="44958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—</a:t>
                      </a:r>
                      <a:r>
                        <a:rPr sz="800" spc="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58.6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</a:tr>
              <a:tr h="1778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SG&amp;A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14,661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39560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(1,055)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73406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4495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13,606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746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R&amp;D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6,129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(4)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556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3144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6,125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746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Other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(Income)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Expense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(376)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(7)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(61)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3144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(444)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758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40" dirty="0">
                          <a:latin typeface="Verdana"/>
                          <a:cs typeface="Verdana"/>
                        </a:rPr>
                        <a:t>Total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Expense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Other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(Income)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21,184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(1,066)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(61)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3144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20,058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4305">
                <a:tc>
                  <a:txBody>
                    <a:bodyPr/>
                    <a:lstStyle/>
                    <a:p>
                      <a:pPr marL="31750">
                        <a:lnSpc>
                          <a:spcPts val="919"/>
                        </a:lnSpc>
                        <a:spcBef>
                          <a:spcPts val="19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Pre-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Continuing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ts val="919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6,185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ts val="919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1,723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ts val="919"/>
                        </a:lnSpc>
                        <a:spcBef>
                          <a:spcPts val="19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61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31445" algn="ctr">
                        <a:lnSpc>
                          <a:spcPts val="919"/>
                        </a:lnSpc>
                        <a:spcBef>
                          <a:spcPts val="1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919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7,968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97180">
                <a:tc>
                  <a:txBody>
                    <a:bodyPr/>
                    <a:lstStyle/>
                    <a:p>
                      <a:pPr marL="31750" marR="491490">
                        <a:lnSpc>
                          <a:spcPts val="930"/>
                        </a:lnSpc>
                        <a:spcBef>
                          <a:spcPts val="38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Pre-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Margin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Continuing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826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6195" algn="r">
                        <a:lnSpc>
                          <a:spcPct val="100000"/>
                        </a:lnSpc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12.9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3655" algn="r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3.6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4925" algn="r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29845" algn="r">
                        <a:lnSpc>
                          <a:spcPct val="100000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7465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4925" algn="r">
                        <a:lnSpc>
                          <a:spcPct val="100000"/>
                        </a:lnSpc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16.7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</a:tr>
              <a:tr h="1733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Provision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for/(Benefit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from)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Taxes</a:t>
                      </a:r>
                      <a:r>
                        <a:rPr sz="8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(4)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19685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1,193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96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155"/>
                        </a:spcBef>
                        <a:tabLst>
                          <a:tab pos="5314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396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96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55"/>
                        </a:spcBef>
                        <a:tabLst>
                          <a:tab pos="75247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968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55"/>
                        </a:spcBef>
                        <a:tabLst>
                          <a:tab pos="31115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(307)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968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55"/>
                        </a:spcBef>
                        <a:tabLst>
                          <a:tab pos="25717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1,282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96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9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Effective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Rate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19.3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gridSpan="2">
                  <a:txBody>
                    <a:bodyPr/>
                    <a:lstStyle/>
                    <a:p>
                      <a:pPr marL="62928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(0.2)</a:t>
                      </a:r>
                      <a:r>
                        <a:rPr sz="800" spc="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480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(3.9)</a:t>
                      </a:r>
                      <a:r>
                        <a:rPr sz="800" spc="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16.1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1809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Continuing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4,992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4432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1,326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69151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61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34607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307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5717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6,686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6845">
                <a:tc>
                  <a:txBody>
                    <a:bodyPr/>
                    <a:lstStyle/>
                    <a:p>
                      <a:pPr marL="31750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Income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Margin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 Continuing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10.4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2.8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gridSpan="2">
                  <a:txBody>
                    <a:bodyPr/>
                    <a:lstStyle/>
                    <a:p>
                      <a:pPr marL="665480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0.1</a:t>
                      </a:r>
                      <a:r>
                        <a:rPr sz="800" spc="1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79730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0.6</a:t>
                      </a:r>
                      <a:r>
                        <a:rPr sz="800" spc="1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14.0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159385">
                <a:tc>
                  <a:txBody>
                    <a:bodyPr/>
                    <a:lstStyle/>
                    <a:p>
                      <a:pPr marL="31750">
                        <a:lnSpc>
                          <a:spcPts val="765"/>
                        </a:lnSpc>
                        <a:spcBef>
                          <a:spcPts val="3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Diluted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Earnings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Per </a:t>
                      </a:r>
                      <a:r>
                        <a:rPr sz="800" spc="-80" dirty="0">
                          <a:latin typeface="Verdana"/>
                          <a:cs typeface="Verdana"/>
                        </a:rPr>
                        <a:t>Share: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Continuing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501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37160">
                <a:tc>
                  <a:txBody>
                    <a:bodyPr/>
                    <a:lstStyle/>
                    <a:p>
                      <a:pPr marL="31750">
                        <a:lnSpc>
                          <a:spcPts val="919"/>
                        </a:lnSpc>
                        <a:spcBef>
                          <a:spcPts val="6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ts val="955"/>
                        </a:lnSpc>
                        <a:spcBef>
                          <a:spcPts val="25"/>
                        </a:spcBef>
                        <a:tabLst>
                          <a:tab pos="217804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5.27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 gridSpan="2">
                  <a:txBody>
                    <a:bodyPr/>
                    <a:lstStyle/>
                    <a:p>
                      <a:pPr marL="290830">
                        <a:lnSpc>
                          <a:spcPts val="955"/>
                        </a:lnSpc>
                        <a:spcBef>
                          <a:spcPts val="25"/>
                        </a:spcBef>
                        <a:tabLst>
                          <a:tab pos="7950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1.40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09245">
                        <a:lnSpc>
                          <a:spcPts val="955"/>
                        </a:lnSpc>
                        <a:spcBef>
                          <a:spcPts val="25"/>
                        </a:spcBef>
                        <a:tabLst>
                          <a:tab pos="880744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0.06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09245">
                        <a:lnSpc>
                          <a:spcPts val="955"/>
                        </a:lnSpc>
                        <a:spcBef>
                          <a:spcPts val="25"/>
                        </a:spcBef>
                        <a:tabLst>
                          <a:tab pos="59436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0.32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13690">
                        <a:lnSpc>
                          <a:spcPts val="955"/>
                        </a:lnSpc>
                        <a:spcBef>
                          <a:spcPts val="25"/>
                        </a:spcBef>
                        <a:tabLst>
                          <a:tab pos="59817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7.06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5753989" y="1757426"/>
            <a:ext cx="572135" cy="9525"/>
          </a:xfrm>
          <a:custGeom>
            <a:avLst/>
            <a:gdLst/>
            <a:ahLst/>
            <a:cxnLst/>
            <a:rect l="l" t="t" r="r" b="b"/>
            <a:pathLst>
              <a:path w="572135" h="9525">
                <a:moveTo>
                  <a:pt x="571804" y="0"/>
                </a:moveTo>
                <a:lnTo>
                  <a:pt x="0" y="0"/>
                </a:lnTo>
                <a:lnTo>
                  <a:pt x="0" y="9144"/>
                </a:lnTo>
                <a:lnTo>
                  <a:pt x="571804" y="9144"/>
                </a:lnTo>
                <a:lnTo>
                  <a:pt x="5718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778379" y="4517872"/>
            <a:ext cx="4342130" cy="31242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800" b="1" spc="-30" dirty="0">
                <a:latin typeface="Tahoma"/>
                <a:cs typeface="Tahoma"/>
              </a:rPr>
              <a:t>Nine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35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Ended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September </a:t>
            </a:r>
            <a:r>
              <a:rPr sz="800" b="1" spc="-25" dirty="0">
                <a:latin typeface="Tahoma"/>
                <a:cs typeface="Tahoma"/>
              </a:rPr>
              <a:t>30,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2024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  <a:tabLst>
                <a:tab pos="1621155" algn="l"/>
                <a:tab pos="4316095" algn="l"/>
              </a:tabLst>
            </a:pPr>
            <a:r>
              <a:rPr sz="800" b="1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sz="800" b="1" u="sng" spc="-4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Continuing</a:t>
            </a:r>
            <a:r>
              <a:rPr sz="800" b="1" u="sng" spc="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800" b="1" u="sng" spc="-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Operations</a:t>
            </a:r>
            <a:r>
              <a:rPr sz="800" b="1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91154" y="5023230"/>
            <a:ext cx="30607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spc="-20" dirty="0">
                <a:latin typeface="Tahoma"/>
                <a:cs typeface="Tahoma"/>
              </a:rPr>
              <a:t>GAAP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53078" y="4825110"/>
            <a:ext cx="793115" cy="38290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7465" marR="30480" algn="ctr">
              <a:lnSpc>
                <a:spcPts val="919"/>
              </a:lnSpc>
              <a:spcBef>
                <a:spcPts val="165"/>
              </a:spcBef>
            </a:pPr>
            <a:r>
              <a:rPr sz="800" b="1" spc="-10" dirty="0">
                <a:latin typeface="Tahoma"/>
                <a:cs typeface="Tahoma"/>
              </a:rPr>
              <a:t>Acquisition- Related </a:t>
            </a:r>
            <a:r>
              <a:rPr sz="800" b="1" spc="-35" dirty="0">
                <a:latin typeface="Tahoma"/>
                <a:cs typeface="Tahoma"/>
              </a:rPr>
              <a:t>Adjustments</a:t>
            </a:r>
            <a:r>
              <a:rPr sz="800" b="1" spc="10" dirty="0">
                <a:latin typeface="Tahoma"/>
                <a:cs typeface="Tahoma"/>
              </a:rPr>
              <a:t> </a:t>
            </a:r>
            <a:r>
              <a:rPr sz="750" b="1" spc="-67" baseline="33333" dirty="0">
                <a:latin typeface="Tahoma"/>
                <a:cs typeface="Tahoma"/>
              </a:rPr>
              <a:t>(1)</a:t>
            </a:r>
            <a:endParaRPr sz="750" baseline="33333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20133" y="4825110"/>
            <a:ext cx="793115" cy="38290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8100" marR="30480" algn="ctr">
              <a:lnSpc>
                <a:spcPts val="919"/>
              </a:lnSpc>
              <a:spcBef>
                <a:spcPts val="165"/>
              </a:spcBef>
            </a:pPr>
            <a:r>
              <a:rPr sz="800" b="1" spc="-10" dirty="0">
                <a:latin typeface="Tahoma"/>
                <a:cs typeface="Tahoma"/>
              </a:rPr>
              <a:t>Retirement- Related </a:t>
            </a:r>
            <a:r>
              <a:rPr sz="800" b="1" spc="-35" dirty="0">
                <a:latin typeface="Tahoma"/>
                <a:cs typeface="Tahoma"/>
              </a:rPr>
              <a:t>Adjustments</a:t>
            </a:r>
            <a:r>
              <a:rPr sz="800" b="1" spc="5" dirty="0">
                <a:latin typeface="Tahoma"/>
                <a:cs typeface="Tahoma"/>
              </a:rPr>
              <a:t> </a:t>
            </a:r>
            <a:r>
              <a:rPr sz="750" b="1" spc="-67" baseline="33333" dirty="0">
                <a:latin typeface="Tahoma"/>
                <a:cs typeface="Tahoma"/>
              </a:rPr>
              <a:t>(2)</a:t>
            </a:r>
            <a:endParaRPr sz="750" baseline="33333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83884" y="4825110"/>
            <a:ext cx="579755" cy="37973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 marR="30480" indent="-1905" algn="ctr">
              <a:lnSpc>
                <a:spcPts val="910"/>
              </a:lnSpc>
              <a:spcBef>
                <a:spcPts val="175"/>
              </a:spcBef>
            </a:pPr>
            <a:r>
              <a:rPr sz="800" b="1" spc="-25" dirty="0">
                <a:latin typeface="Tahoma"/>
                <a:cs typeface="Tahoma"/>
              </a:rPr>
              <a:t>Tax </a:t>
            </a:r>
            <a:r>
              <a:rPr sz="800" b="1" spc="-10" dirty="0">
                <a:latin typeface="Tahoma"/>
                <a:cs typeface="Tahoma"/>
              </a:rPr>
              <a:t>Reform </a:t>
            </a:r>
            <a:r>
              <a:rPr sz="800" b="1" spc="-30" dirty="0">
                <a:latin typeface="Tahoma"/>
                <a:cs typeface="Tahoma"/>
              </a:rPr>
              <a:t>Impacts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750" b="1" spc="-82" baseline="33333" dirty="0">
                <a:latin typeface="Tahoma"/>
                <a:cs typeface="Tahoma"/>
              </a:rPr>
              <a:t>(3)</a:t>
            </a:r>
            <a:endParaRPr sz="750" baseline="33333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70726" y="4825110"/>
            <a:ext cx="502284" cy="38163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 algn="ctr">
              <a:lnSpc>
                <a:spcPct val="95600"/>
              </a:lnSpc>
              <a:spcBef>
                <a:spcPts val="145"/>
              </a:spcBef>
            </a:pPr>
            <a:r>
              <a:rPr sz="800" b="1" spc="-40" dirty="0">
                <a:latin typeface="Tahoma"/>
                <a:cs typeface="Tahoma"/>
              </a:rPr>
              <a:t>Operating</a:t>
            </a:r>
            <a:r>
              <a:rPr sz="800" b="1" spc="-10" dirty="0">
                <a:latin typeface="Tahoma"/>
                <a:cs typeface="Tahoma"/>
              </a:rPr>
              <a:t> (Non- GAAP)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458977" y="5203571"/>
          <a:ext cx="6885305" cy="2312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2355"/>
                <a:gridCol w="173355"/>
                <a:gridCol w="333375"/>
                <a:gridCol w="256539"/>
                <a:gridCol w="318135"/>
                <a:gridCol w="473710"/>
                <a:gridCol w="276225"/>
                <a:gridCol w="318135"/>
                <a:gridCol w="473710"/>
                <a:gridCol w="276225"/>
                <a:gridCol w="195579"/>
                <a:gridCol w="388620"/>
                <a:gridCol w="265429"/>
                <a:gridCol w="206375"/>
                <a:gridCol w="364490"/>
                <a:gridCol w="159384"/>
              </a:tblGrid>
              <a:tr h="1689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Gross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Profit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875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25,112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87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125"/>
                        </a:spcBef>
                        <a:tabLst>
                          <a:tab pos="5664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533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87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125"/>
                        </a:spcBef>
                        <a:tabLst>
                          <a:tab pos="66992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87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25"/>
                        </a:spcBef>
                        <a:tabLst>
                          <a:tab pos="4495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8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25,645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87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Gross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Profit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Margin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 gridSpan="2">
                  <a:txBody>
                    <a:bodyPr/>
                    <a:lstStyle/>
                    <a:p>
                      <a:pPr marL="25082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55.6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 gridSpan="2"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 gridSpan="2"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 gridSpan="3">
                  <a:txBody>
                    <a:bodyPr/>
                    <a:lstStyle/>
                    <a:p>
                      <a:pPr marL="44958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—</a:t>
                      </a:r>
                      <a:r>
                        <a:rPr sz="800" spc="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56.7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</a:tr>
              <a:tr h="1778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SG&amp;A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14,823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53022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(854)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66992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4495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13,969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746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Other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(Income)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Expense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1,694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(68)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413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(2,991)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3017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(1,364)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746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40" dirty="0">
                          <a:latin typeface="Verdana"/>
                          <a:cs typeface="Verdana"/>
                        </a:rPr>
                        <a:t>Total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Expense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Other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(Income)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gridSpan="2"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22,621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(922)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413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(2,991)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3017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18,709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3670">
                <a:tc>
                  <a:txBody>
                    <a:bodyPr/>
                    <a:lstStyle/>
                    <a:p>
                      <a:pPr marL="31750">
                        <a:lnSpc>
                          <a:spcPts val="919"/>
                        </a:lnSpc>
                        <a:spcBef>
                          <a:spcPts val="19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Pre-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Continuing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919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2,491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78155">
                        <a:lnSpc>
                          <a:spcPts val="919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1,454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78155">
                        <a:lnSpc>
                          <a:spcPts val="919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2,991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30175" algn="ctr">
                        <a:lnSpc>
                          <a:spcPts val="919"/>
                        </a:lnSpc>
                        <a:spcBef>
                          <a:spcPts val="19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57175">
                        <a:lnSpc>
                          <a:spcPts val="919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6,936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01625">
                <a:tc>
                  <a:txBody>
                    <a:bodyPr/>
                    <a:lstStyle/>
                    <a:p>
                      <a:pPr marL="31750" marR="491490">
                        <a:lnSpc>
                          <a:spcPts val="910"/>
                        </a:lnSpc>
                        <a:spcBef>
                          <a:spcPts val="44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Pre-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Margin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Continuing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5588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11785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5.5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39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397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3655" algn="r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3.2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39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397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3020" algn="r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6.6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39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397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46355" algn="r">
                        <a:lnSpc>
                          <a:spcPct val="100000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39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68580"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397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18135">
                        <a:lnSpc>
                          <a:spcPct val="100000"/>
                        </a:lnSpc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15.3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39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3970" marB="0"/>
                </a:tc>
              </a:tr>
              <a:tr h="1651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Provision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for/(Benefit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from)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Taxes</a:t>
                      </a:r>
                      <a:r>
                        <a:rPr sz="8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(4)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 gridSpan="2"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243204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(597)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5664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374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5664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731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34607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434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34544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942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Effective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Rate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gridSpan="2"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(24.0)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gridSpan="2"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10.4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gridSpan="2"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20.9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gridSpan="2">
                  <a:txBody>
                    <a:bodyPr/>
                    <a:lstStyle/>
                    <a:p>
                      <a:pPr marL="37973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6.3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gridSpan="2"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13.6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</a:tr>
              <a:tr h="1809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Continuing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3,088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47815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1,081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47815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2,259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31115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(434)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5717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5,994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6845">
                <a:tc>
                  <a:txBody>
                    <a:bodyPr/>
                    <a:lstStyle/>
                    <a:p>
                      <a:pPr marL="31750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Income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Margin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 Continuing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gridSpan="2">
                  <a:txBody>
                    <a:bodyPr/>
                    <a:lstStyle/>
                    <a:p>
                      <a:pPr marL="311785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6.8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gridSpan="2">
                  <a:txBody>
                    <a:bodyPr/>
                    <a:lstStyle/>
                    <a:p>
                      <a:pPr marR="33655" algn="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gridSpan="2"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5.0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gridSpan="2">
                  <a:txBody>
                    <a:bodyPr/>
                    <a:lstStyle/>
                    <a:p>
                      <a:pPr marL="344170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(1.0)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8580" algn="ct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gridSpan="2">
                  <a:txBody>
                    <a:bodyPr/>
                    <a:lstStyle/>
                    <a:p>
                      <a:pPr marL="318135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13.3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297180">
                <a:tc>
                  <a:txBody>
                    <a:bodyPr/>
                    <a:lstStyle/>
                    <a:p>
                      <a:pPr marL="31750" marR="533400">
                        <a:lnSpc>
                          <a:spcPts val="910"/>
                        </a:lnSpc>
                        <a:spcBef>
                          <a:spcPts val="42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Diluted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Earnings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Per </a:t>
                      </a:r>
                      <a:r>
                        <a:rPr sz="800" spc="-80" dirty="0">
                          <a:latin typeface="Verdana"/>
                          <a:cs typeface="Verdana"/>
                        </a:rPr>
                        <a:t>Share: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Continuing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ts val="944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78105">
                        <a:lnSpc>
                          <a:spcPts val="944"/>
                        </a:lnSpc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3.30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9215" algn="ctr">
                        <a:lnSpc>
                          <a:spcPts val="944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21615">
                        <a:lnSpc>
                          <a:spcPts val="944"/>
                        </a:lnSpc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1.16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88900" algn="ctr">
                        <a:lnSpc>
                          <a:spcPts val="944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21615">
                        <a:lnSpc>
                          <a:spcPts val="944"/>
                        </a:lnSpc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2.42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80645" algn="r">
                        <a:lnSpc>
                          <a:spcPts val="944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ts val="944"/>
                        </a:lnSpc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(0.46)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98450">
                        <a:lnSpc>
                          <a:spcPts val="944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11760">
                        <a:lnSpc>
                          <a:spcPts val="944"/>
                        </a:lnSpc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6.41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5686933" y="5198998"/>
            <a:ext cx="572135" cy="9525"/>
          </a:xfrm>
          <a:custGeom>
            <a:avLst/>
            <a:gdLst/>
            <a:ahLst/>
            <a:cxnLst/>
            <a:rect l="l" t="t" r="r" b="b"/>
            <a:pathLst>
              <a:path w="572135" h="9525">
                <a:moveTo>
                  <a:pt x="571804" y="0"/>
                </a:moveTo>
                <a:lnTo>
                  <a:pt x="0" y="0"/>
                </a:lnTo>
                <a:lnTo>
                  <a:pt x="0" y="9144"/>
                </a:lnTo>
                <a:lnTo>
                  <a:pt x="571804" y="9144"/>
                </a:lnTo>
                <a:lnTo>
                  <a:pt x="5718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8055" y="7663941"/>
            <a:ext cx="1266825" cy="12700"/>
          </a:xfrm>
          <a:custGeom>
            <a:avLst/>
            <a:gdLst/>
            <a:ahLst/>
            <a:cxnLst/>
            <a:rect l="l" t="t" r="r" b="b"/>
            <a:pathLst>
              <a:path w="1266825" h="12700">
                <a:moveTo>
                  <a:pt x="1266748" y="0"/>
                </a:moveTo>
                <a:lnTo>
                  <a:pt x="0" y="0"/>
                </a:lnTo>
                <a:lnTo>
                  <a:pt x="0" y="12192"/>
                </a:lnTo>
                <a:lnTo>
                  <a:pt x="1266748" y="12192"/>
                </a:lnTo>
                <a:lnTo>
                  <a:pt x="1266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44500" y="7696961"/>
            <a:ext cx="6885940" cy="1214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3515" marR="63500" indent="-171450">
              <a:lnSpc>
                <a:spcPct val="100000"/>
              </a:lnSpc>
              <a:spcBef>
                <a:spcPts val="100"/>
              </a:spcBef>
              <a:buAutoNum type="arabicParenBoth"/>
              <a:tabLst>
                <a:tab pos="184785" algn="l"/>
              </a:tabLst>
            </a:pPr>
            <a:r>
              <a:rPr sz="800" spc="-40" dirty="0">
                <a:latin typeface="Verdana"/>
                <a:cs typeface="Verdana"/>
              </a:rPr>
              <a:t>Includes</a:t>
            </a:r>
            <a:r>
              <a:rPr sz="800" spc="-55" dirty="0">
                <a:latin typeface="Verdana"/>
                <a:cs typeface="Verdana"/>
              </a:rPr>
              <a:t> amortization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acquired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intangible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assets,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process</a:t>
            </a:r>
            <a:r>
              <a:rPr sz="800" spc="-3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R&amp;D,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transaction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costs,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applicable</a:t>
            </a:r>
            <a:r>
              <a:rPr sz="800" spc="-50" dirty="0">
                <a:latin typeface="Verdana"/>
                <a:cs typeface="Verdana"/>
              </a:rPr>
              <a:t> restructuring </a:t>
            </a:r>
            <a:r>
              <a:rPr sz="800" spc="-60" dirty="0">
                <a:latin typeface="Verdana"/>
                <a:cs typeface="Verdana"/>
              </a:rPr>
              <a:t>and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related</a:t>
            </a:r>
            <a:r>
              <a:rPr sz="800" spc="2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expenses,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tax</a:t>
            </a:r>
            <a:r>
              <a:rPr sz="800" spc="-3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charges 	</a:t>
            </a:r>
            <a:r>
              <a:rPr sz="800" spc="-45" dirty="0">
                <a:latin typeface="Verdana"/>
                <a:cs typeface="Verdana"/>
              </a:rPr>
              <a:t>related</a:t>
            </a:r>
            <a:r>
              <a:rPr sz="800" spc="-50" dirty="0">
                <a:latin typeface="Verdana"/>
                <a:cs typeface="Verdana"/>
              </a:rPr>
              <a:t> to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acquisition</a:t>
            </a:r>
            <a:r>
              <a:rPr sz="800" spc="-55" dirty="0">
                <a:latin typeface="Verdana"/>
                <a:cs typeface="Verdana"/>
              </a:rPr>
              <a:t> integration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and</a:t>
            </a:r>
            <a:r>
              <a:rPr sz="800" spc="-50" dirty="0">
                <a:latin typeface="Verdana"/>
                <a:cs typeface="Verdana"/>
              </a:rPr>
              <a:t> pre-</a:t>
            </a:r>
            <a:r>
              <a:rPr sz="800" spc="-45" dirty="0">
                <a:latin typeface="Verdana"/>
                <a:cs typeface="Verdana"/>
              </a:rPr>
              <a:t>closing</a:t>
            </a:r>
            <a:r>
              <a:rPr sz="800" spc="-60" dirty="0">
                <a:latin typeface="Verdana"/>
                <a:cs typeface="Verdana"/>
              </a:rPr>
              <a:t> charges,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such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as financing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costs.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2024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also</a:t>
            </a:r>
            <a:r>
              <a:rPr sz="800" spc="-45" dirty="0">
                <a:latin typeface="Verdana"/>
                <a:cs typeface="Verdana"/>
              </a:rPr>
              <a:t> includes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loss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$68 million</a:t>
            </a:r>
            <a:r>
              <a:rPr sz="800" spc="-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on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foreign </a:t>
            </a:r>
            <a:r>
              <a:rPr sz="800" spc="-10" dirty="0">
                <a:latin typeface="Verdana"/>
                <a:cs typeface="Verdana"/>
              </a:rPr>
              <a:t>exchange 	</a:t>
            </a:r>
            <a:r>
              <a:rPr sz="800" spc="-55" dirty="0">
                <a:latin typeface="Verdana"/>
                <a:cs typeface="Verdana"/>
              </a:rPr>
              <a:t>derivative</a:t>
            </a:r>
            <a:r>
              <a:rPr sz="800" spc="-45" dirty="0">
                <a:latin typeface="Verdana"/>
                <a:cs typeface="Verdana"/>
              </a:rPr>
              <a:t> contracts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entered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into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65" dirty="0">
                <a:latin typeface="Verdana"/>
                <a:cs typeface="Verdana"/>
              </a:rPr>
              <a:t>by</a:t>
            </a:r>
            <a:r>
              <a:rPr sz="800" spc="-50" dirty="0">
                <a:latin typeface="Verdana"/>
                <a:cs typeface="Verdana"/>
              </a:rPr>
              <a:t> the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company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prior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to</a:t>
            </a:r>
            <a:r>
              <a:rPr sz="800" spc="-55" dirty="0">
                <a:latin typeface="Verdana"/>
                <a:cs typeface="Verdana"/>
              </a:rPr>
              <a:t> the</a:t>
            </a:r>
            <a:r>
              <a:rPr sz="800" spc="-45" dirty="0">
                <a:latin typeface="Verdana"/>
                <a:cs typeface="Verdana"/>
              </a:rPr>
              <a:t> acquisition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65" dirty="0">
                <a:latin typeface="Verdana"/>
                <a:cs typeface="Verdana"/>
              </a:rPr>
              <a:t>StreamSets</a:t>
            </a:r>
            <a:r>
              <a:rPr sz="800" spc="-55" dirty="0">
                <a:latin typeface="Verdana"/>
                <a:cs typeface="Verdana"/>
              </a:rPr>
              <a:t> and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webMethods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from</a:t>
            </a:r>
            <a:r>
              <a:rPr sz="800" spc="-55" dirty="0">
                <a:latin typeface="Verdana"/>
                <a:cs typeface="Verdana"/>
              </a:rPr>
              <a:t> Software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25" dirty="0">
                <a:latin typeface="Verdana"/>
                <a:cs typeface="Verdana"/>
              </a:rPr>
              <a:t>AG.</a:t>
            </a:r>
            <a:endParaRPr sz="800">
              <a:latin typeface="Verdana"/>
              <a:cs typeface="Verdana"/>
            </a:endParaRPr>
          </a:p>
          <a:p>
            <a:pPr marL="183515" marR="5080" indent="-171450">
              <a:lnSpc>
                <a:spcPct val="100000"/>
              </a:lnSpc>
              <a:spcBef>
                <a:spcPts val="125"/>
              </a:spcBef>
              <a:buAutoNum type="arabicParenBoth"/>
              <a:tabLst>
                <a:tab pos="184785" algn="l"/>
              </a:tabLst>
            </a:pPr>
            <a:r>
              <a:rPr sz="800" spc="-40" dirty="0">
                <a:latin typeface="Verdana"/>
                <a:cs typeface="Verdana"/>
              </a:rPr>
              <a:t>Includes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amortization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prior </a:t>
            </a:r>
            <a:r>
              <a:rPr sz="800" spc="-45" dirty="0">
                <a:latin typeface="Verdana"/>
                <a:cs typeface="Verdana"/>
              </a:rPr>
              <a:t>service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costs,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interest </a:t>
            </a:r>
            <a:r>
              <a:rPr sz="800" spc="-45" dirty="0">
                <a:latin typeface="Verdana"/>
                <a:cs typeface="Verdana"/>
              </a:rPr>
              <a:t>cost,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expected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return on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plan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assets,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amortized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actuarial </a:t>
            </a:r>
            <a:r>
              <a:rPr sz="800" spc="-50" dirty="0">
                <a:latin typeface="Verdana"/>
                <a:cs typeface="Verdana"/>
              </a:rPr>
              <a:t>gains/losses,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the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impacts</a:t>
            </a:r>
            <a:r>
              <a:rPr sz="800" spc="-3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of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70" dirty="0">
                <a:latin typeface="Verdana"/>
                <a:cs typeface="Verdana"/>
              </a:rPr>
              <a:t>any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plan 	</a:t>
            </a:r>
            <a:r>
              <a:rPr sz="800" spc="-50" dirty="0">
                <a:latin typeface="Verdana"/>
                <a:cs typeface="Verdana"/>
              </a:rPr>
              <a:t>curtailments/settlements</a:t>
            </a:r>
            <a:r>
              <a:rPr sz="800" spc="-55" dirty="0">
                <a:latin typeface="Verdana"/>
                <a:cs typeface="Verdana"/>
              </a:rPr>
              <a:t> and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pension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insolvency </a:t>
            </a:r>
            <a:r>
              <a:rPr sz="800" spc="-35" dirty="0">
                <a:latin typeface="Verdana"/>
                <a:cs typeface="Verdana"/>
              </a:rPr>
              <a:t>costs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and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other </a:t>
            </a:r>
            <a:r>
              <a:rPr sz="800" spc="-45" dirty="0">
                <a:latin typeface="Verdana"/>
                <a:cs typeface="Verdana"/>
              </a:rPr>
              <a:t>costs. </a:t>
            </a:r>
            <a:r>
              <a:rPr sz="800" spc="-40" dirty="0">
                <a:latin typeface="Verdana"/>
                <a:cs typeface="Verdana"/>
              </a:rPr>
              <a:t>2024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also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includes</a:t>
            </a:r>
            <a:r>
              <a:rPr sz="800" spc="-50" dirty="0">
                <a:latin typeface="Verdana"/>
                <a:cs typeface="Verdana"/>
              </a:rPr>
              <a:t> the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impact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pension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settlement</a:t>
            </a:r>
            <a:r>
              <a:rPr sz="800" spc="1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charge.</a:t>
            </a:r>
            <a:endParaRPr sz="800">
              <a:latin typeface="Verdana"/>
              <a:cs typeface="Verdana"/>
            </a:endParaRPr>
          </a:p>
          <a:p>
            <a:pPr marL="183515" marR="80010" indent="-171450">
              <a:lnSpc>
                <a:spcPct val="100000"/>
              </a:lnSpc>
              <a:spcBef>
                <a:spcPts val="295"/>
              </a:spcBef>
              <a:buAutoNum type="arabicParenBoth"/>
              <a:tabLst>
                <a:tab pos="184785" algn="l"/>
              </a:tabLst>
            </a:pPr>
            <a:r>
              <a:rPr sz="800" spc="-40" dirty="0">
                <a:latin typeface="Verdana"/>
                <a:cs typeface="Verdana"/>
              </a:rPr>
              <a:t>2025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includes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one-time, </a:t>
            </a:r>
            <a:r>
              <a:rPr sz="800" spc="-65" dirty="0">
                <a:latin typeface="Verdana"/>
                <a:cs typeface="Verdana"/>
              </a:rPr>
              <a:t>non-</a:t>
            </a:r>
            <a:r>
              <a:rPr sz="800" spc="-45" dirty="0">
                <a:latin typeface="Verdana"/>
                <a:cs typeface="Verdana"/>
              </a:rPr>
              <a:t>cash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income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tax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charge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associated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with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the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enactment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of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65" dirty="0">
                <a:latin typeface="Verdana"/>
                <a:cs typeface="Verdana"/>
              </a:rPr>
              <a:t>H.R.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1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35" dirty="0">
                <a:latin typeface="Verdana"/>
                <a:cs typeface="Verdana"/>
              </a:rPr>
              <a:t>July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50" dirty="0">
                <a:latin typeface="Verdana"/>
                <a:cs typeface="Verdana"/>
              </a:rPr>
              <a:t> 2025,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and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2024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includes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benefit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from 	</a:t>
            </a:r>
            <a:r>
              <a:rPr sz="800" spc="-50" dirty="0">
                <a:latin typeface="Verdana"/>
                <a:cs typeface="Verdana"/>
              </a:rPr>
              <a:t>income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taxes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due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to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the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resolution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certain</a:t>
            </a:r>
            <a:r>
              <a:rPr sz="800" spc="-60" dirty="0">
                <a:latin typeface="Verdana"/>
                <a:cs typeface="Verdana"/>
              </a:rPr>
              <a:t> tax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audit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matters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the </a:t>
            </a:r>
            <a:r>
              <a:rPr sz="800" spc="-40" dirty="0">
                <a:latin typeface="Verdana"/>
                <a:cs typeface="Verdana"/>
              </a:rPr>
              <a:t>first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quarter.</a:t>
            </a:r>
            <a:endParaRPr sz="800">
              <a:latin typeface="Verdana"/>
              <a:cs typeface="Verdana"/>
            </a:endParaRPr>
          </a:p>
          <a:p>
            <a:pPr marL="183515" marR="68580" indent="-171450">
              <a:lnSpc>
                <a:spcPct val="100000"/>
              </a:lnSpc>
              <a:spcBef>
                <a:spcPts val="300"/>
              </a:spcBef>
              <a:buAutoNum type="arabicParenBoth"/>
              <a:tabLst>
                <a:tab pos="184785" algn="l"/>
              </a:tabLst>
            </a:pPr>
            <a:r>
              <a:rPr sz="800" spc="-60" dirty="0">
                <a:latin typeface="Verdana"/>
                <a:cs typeface="Verdana"/>
              </a:rPr>
              <a:t>Tax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impact</a:t>
            </a:r>
            <a:r>
              <a:rPr sz="800" spc="-55" dirty="0">
                <a:latin typeface="Verdana"/>
                <a:cs typeface="Verdana"/>
              </a:rPr>
              <a:t> on operating </a:t>
            </a:r>
            <a:r>
              <a:rPr sz="800" spc="-70" dirty="0">
                <a:latin typeface="Verdana"/>
                <a:cs typeface="Verdana"/>
              </a:rPr>
              <a:t>(non-</a:t>
            </a:r>
            <a:r>
              <a:rPr sz="800" spc="-60" dirty="0">
                <a:latin typeface="Verdana"/>
                <a:cs typeface="Verdana"/>
              </a:rPr>
              <a:t>GAAP)</a:t>
            </a:r>
            <a:r>
              <a:rPr sz="800" spc="-50" dirty="0">
                <a:latin typeface="Verdana"/>
                <a:cs typeface="Verdana"/>
              </a:rPr>
              <a:t> pre-</a:t>
            </a:r>
            <a:r>
              <a:rPr sz="800" spc="-60" dirty="0">
                <a:latin typeface="Verdana"/>
                <a:cs typeface="Verdana"/>
              </a:rPr>
              <a:t>tax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income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from</a:t>
            </a:r>
            <a:r>
              <a:rPr sz="800" spc="-55" dirty="0">
                <a:latin typeface="Verdana"/>
                <a:cs typeface="Verdana"/>
              </a:rPr>
              <a:t> continuing</a:t>
            </a:r>
            <a:r>
              <a:rPr sz="800" spc="-50" dirty="0">
                <a:latin typeface="Verdana"/>
                <a:cs typeface="Verdana"/>
              </a:rPr>
              <a:t> operations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35" dirty="0">
                <a:latin typeface="Verdana"/>
                <a:cs typeface="Verdana"/>
              </a:rPr>
              <a:t>is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calculated </a:t>
            </a:r>
            <a:r>
              <a:rPr sz="800" spc="-60" dirty="0">
                <a:latin typeface="Verdana"/>
                <a:cs typeface="Verdana"/>
              </a:rPr>
              <a:t>under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the </a:t>
            </a:r>
            <a:r>
              <a:rPr sz="800" spc="-60" dirty="0">
                <a:latin typeface="Verdana"/>
                <a:cs typeface="Verdana"/>
              </a:rPr>
              <a:t>same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accounting </a:t>
            </a:r>
            <a:r>
              <a:rPr sz="800" spc="-40" dirty="0">
                <a:latin typeface="Verdana"/>
                <a:cs typeface="Verdana"/>
              </a:rPr>
              <a:t>principles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applied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to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25" dirty="0">
                <a:latin typeface="Verdana"/>
                <a:cs typeface="Verdana"/>
              </a:rPr>
              <a:t>the 	</a:t>
            </a:r>
            <a:r>
              <a:rPr sz="800" spc="-50" dirty="0">
                <a:latin typeface="Verdana"/>
                <a:cs typeface="Verdana"/>
              </a:rPr>
              <a:t>GAAP pre-</a:t>
            </a:r>
            <a:r>
              <a:rPr sz="800" spc="-60" dirty="0">
                <a:latin typeface="Verdana"/>
                <a:cs typeface="Verdana"/>
              </a:rPr>
              <a:t>tax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income.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0777" y="531368"/>
            <a:ext cx="34512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INTERNATIONAL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BUSINESS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MACHINES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CORPORATION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800" b="1" spc="-10" dirty="0">
                <a:latin typeface="Tahoma"/>
                <a:cs typeface="Tahoma"/>
              </a:rPr>
              <a:t>GAAP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OPERATING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CASH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FLOW</a:t>
            </a:r>
            <a:r>
              <a:rPr sz="800" b="1" spc="-35" dirty="0">
                <a:latin typeface="Tahoma"/>
                <a:cs typeface="Tahoma"/>
              </a:rPr>
              <a:t> TO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FREE</a:t>
            </a:r>
            <a:r>
              <a:rPr sz="800" b="1" spc="-2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CASH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FLOW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RECONCILIATION</a:t>
            </a:r>
            <a:endParaRPr sz="800">
              <a:latin typeface="Tahoma"/>
              <a:cs typeface="Tahoma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800" b="1" spc="-10" dirty="0">
                <a:latin typeface="Tahoma"/>
                <a:cs typeface="Tahoma"/>
              </a:rPr>
              <a:t>(Unaudited)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61713" y="1417065"/>
            <a:ext cx="1004569" cy="26543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47955" marR="5080" indent="-135890">
              <a:lnSpc>
                <a:spcPts val="919"/>
              </a:lnSpc>
              <a:spcBef>
                <a:spcPts val="165"/>
              </a:spcBef>
            </a:pPr>
            <a:r>
              <a:rPr sz="800" b="1" spc="-35" dirty="0">
                <a:latin typeface="Tahoma"/>
                <a:cs typeface="Tahoma"/>
              </a:rPr>
              <a:t>Three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Ended </a:t>
            </a:r>
            <a:r>
              <a:rPr sz="800" b="1" spc="-35" dirty="0">
                <a:latin typeface="Tahoma"/>
                <a:cs typeface="Tahoma"/>
              </a:rPr>
              <a:t>September</a:t>
            </a:r>
            <a:r>
              <a:rPr sz="800" b="1" spc="2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30,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27597" y="1417065"/>
            <a:ext cx="949960" cy="26543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0650" marR="5080" indent="-108585">
              <a:lnSpc>
                <a:spcPts val="919"/>
              </a:lnSpc>
              <a:spcBef>
                <a:spcPts val="165"/>
              </a:spcBef>
            </a:pPr>
            <a:r>
              <a:rPr sz="800" b="1" spc="-30" dirty="0">
                <a:latin typeface="Tahoma"/>
                <a:cs typeface="Tahoma"/>
              </a:rPr>
              <a:t>Nine</a:t>
            </a:r>
            <a:r>
              <a:rPr sz="800" b="1" spc="-35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3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Ended </a:t>
            </a:r>
            <a:r>
              <a:rPr sz="800" b="1" spc="-35" dirty="0">
                <a:latin typeface="Tahoma"/>
                <a:cs typeface="Tahoma"/>
              </a:rPr>
              <a:t>September</a:t>
            </a:r>
            <a:r>
              <a:rPr sz="800" b="1" spc="2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30,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43712" y="1714754"/>
          <a:ext cx="6363970" cy="1614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235"/>
                <a:gridCol w="208914"/>
                <a:gridCol w="460375"/>
                <a:gridCol w="225425"/>
                <a:gridCol w="449579"/>
                <a:gridCol w="201295"/>
                <a:gridCol w="427989"/>
                <a:gridCol w="226060"/>
                <a:gridCol w="429895"/>
              </a:tblGrid>
              <a:tr h="17018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(Dollars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Millions)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62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6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6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6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1336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6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3622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Cash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from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Operations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per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GAAP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50"/>
                        </a:spcBef>
                        <a:tabLst>
                          <a:tab pos="321310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3,081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  <a:tabLst>
                          <a:tab pos="33718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2,881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50"/>
                        </a:spcBef>
                        <a:tabLst>
                          <a:tab pos="28003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9,153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  <a:tabLst>
                          <a:tab pos="33845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9,115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2067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spc="-65" dirty="0">
                          <a:latin typeface="Verdana"/>
                          <a:cs typeface="Verdana"/>
                        </a:rPr>
                        <a:t>Less: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change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IBM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Financing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receivables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03505" marB="0"/>
                </a:tc>
                <a:tc gridSpan="2">
                  <a:txBody>
                    <a:bodyPr/>
                    <a:lstStyle/>
                    <a:p>
                      <a:pPr marL="41402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298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035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3053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873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035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7338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905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035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163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1,824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035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2893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cash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from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operating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activities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excl.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IBM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Financing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receivables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04139" marB="0"/>
                </a:tc>
                <a:tc gridSpan="2">
                  <a:txBody>
                    <a:bodyPr/>
                    <a:lstStyle/>
                    <a:p>
                      <a:pPr marL="32131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2,783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901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2,009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901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8,248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901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7,292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901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27329">
                <a:tc>
                  <a:txBody>
                    <a:bodyPr/>
                    <a:lstStyle/>
                    <a:p>
                      <a:pPr marL="152400">
                        <a:lnSpc>
                          <a:spcPts val="919"/>
                        </a:lnSpc>
                        <a:spcBef>
                          <a:spcPts val="77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Capital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Expenditures,</a:t>
                      </a:r>
                      <a:r>
                        <a:rPr sz="8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net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7790" marB="0"/>
                </a:tc>
                <a:tc gridSpan="2">
                  <a:txBody>
                    <a:bodyPr/>
                    <a:lstStyle/>
                    <a:p>
                      <a:pPr marL="367030">
                        <a:lnSpc>
                          <a:spcPts val="919"/>
                        </a:lnSpc>
                        <a:spcBef>
                          <a:spcPts val="7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(410)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779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53340" algn="r">
                        <a:lnSpc>
                          <a:spcPts val="919"/>
                        </a:lnSpc>
                        <a:spcBef>
                          <a:spcPts val="7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55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779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37490">
                        <a:lnSpc>
                          <a:spcPts val="919"/>
                        </a:lnSpc>
                        <a:spcBef>
                          <a:spcPts val="7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(1,067)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779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84175">
                        <a:lnSpc>
                          <a:spcPts val="919"/>
                        </a:lnSpc>
                        <a:spcBef>
                          <a:spcPts val="770"/>
                        </a:spcBef>
                      </a:pPr>
                      <a:r>
                        <a:rPr sz="800" spc="-40" dirty="0">
                          <a:latin typeface="Verdana"/>
                          <a:cs typeface="Verdana"/>
                        </a:rPr>
                        <a:t>(705)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779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0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ts val="919"/>
                        </a:lnSpc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Free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Cash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Flow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44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4925">
                        <a:lnSpc>
                          <a:spcPts val="919"/>
                        </a:lnSpc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44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ts val="919"/>
                        </a:lnSpc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2,373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44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ts val="919"/>
                        </a:lnSpc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44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ts val="919"/>
                        </a:lnSpc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2,064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44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325">
                        <a:lnSpc>
                          <a:spcPts val="919"/>
                        </a:lnSpc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44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78740">
                        <a:lnSpc>
                          <a:spcPts val="919"/>
                        </a:lnSpc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7,181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44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2069">
                        <a:lnSpc>
                          <a:spcPts val="919"/>
                        </a:lnSpc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44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ts val="919"/>
                        </a:lnSpc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6,586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4455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8773" y="531368"/>
            <a:ext cx="4857115" cy="822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330960" algn="ctr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INTERNATIONAL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BUSINESS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MACHINES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CORPORATION</a:t>
            </a:r>
            <a:endParaRPr sz="800">
              <a:latin typeface="Tahoma"/>
              <a:cs typeface="Tahoma"/>
            </a:endParaRPr>
          </a:p>
          <a:p>
            <a:pPr marR="1334135" algn="ctr">
              <a:lnSpc>
                <a:spcPct val="100000"/>
              </a:lnSpc>
            </a:pPr>
            <a:r>
              <a:rPr sz="800" b="1" spc="-10" dirty="0">
                <a:latin typeface="Tahoma"/>
                <a:cs typeface="Tahoma"/>
              </a:rPr>
              <a:t>GAAP</a:t>
            </a:r>
            <a:r>
              <a:rPr sz="800" b="1" spc="-25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OPERATING</a:t>
            </a:r>
            <a:r>
              <a:rPr sz="800" b="1" spc="-2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CASH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FLOW</a:t>
            </a:r>
            <a:r>
              <a:rPr sz="800" b="1" spc="-25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TO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ADJUSTED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EBITDA</a:t>
            </a:r>
            <a:r>
              <a:rPr sz="800" b="1" spc="-10" dirty="0">
                <a:latin typeface="Tahoma"/>
                <a:cs typeface="Tahoma"/>
              </a:rPr>
              <a:t> RECONCILIATION</a:t>
            </a:r>
            <a:endParaRPr sz="800">
              <a:latin typeface="Tahoma"/>
              <a:cs typeface="Tahoma"/>
            </a:endParaRPr>
          </a:p>
          <a:p>
            <a:pPr marR="1332230" algn="ctr">
              <a:lnSpc>
                <a:spcPct val="100000"/>
              </a:lnSpc>
              <a:spcBef>
                <a:spcPts val="5"/>
              </a:spcBef>
            </a:pPr>
            <a:r>
              <a:rPr sz="800" b="1" spc="-10" dirty="0">
                <a:latin typeface="Tahoma"/>
                <a:cs typeface="Tahoma"/>
              </a:rPr>
              <a:t>(Unaudited)</a:t>
            </a:r>
            <a:endParaRPr sz="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800">
              <a:latin typeface="Tahoma"/>
              <a:cs typeface="Tahoma"/>
            </a:endParaRPr>
          </a:p>
          <a:p>
            <a:pPr marL="2924175" marR="5080" indent="-135890">
              <a:lnSpc>
                <a:spcPts val="900"/>
              </a:lnSpc>
              <a:spcBef>
                <a:spcPts val="5"/>
              </a:spcBef>
              <a:tabLst>
                <a:tab pos="3919220" algn="l"/>
                <a:tab pos="4027804" algn="l"/>
              </a:tabLst>
            </a:pPr>
            <a:r>
              <a:rPr sz="800" b="1" spc="-35" dirty="0">
                <a:latin typeface="Tahoma"/>
                <a:cs typeface="Tahoma"/>
              </a:rPr>
              <a:t>Three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20" dirty="0">
                <a:latin typeface="Tahoma"/>
                <a:cs typeface="Tahoma"/>
              </a:rPr>
              <a:t> Ended</a:t>
            </a:r>
            <a:r>
              <a:rPr sz="800" b="1" dirty="0">
                <a:latin typeface="Tahoma"/>
                <a:cs typeface="Tahoma"/>
              </a:rPr>
              <a:t>	</a:t>
            </a:r>
            <a:r>
              <a:rPr sz="800" b="1" spc="-30" dirty="0">
                <a:latin typeface="Tahoma"/>
                <a:cs typeface="Tahoma"/>
              </a:rPr>
              <a:t>Nine</a:t>
            </a:r>
            <a:r>
              <a:rPr sz="800" b="1" spc="-35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3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Ended </a:t>
            </a:r>
            <a:r>
              <a:rPr sz="800" b="1" spc="-35" dirty="0">
                <a:latin typeface="Tahoma"/>
                <a:cs typeface="Tahoma"/>
              </a:rPr>
              <a:t>September</a:t>
            </a:r>
            <a:r>
              <a:rPr sz="800" b="1" spc="2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30,</a:t>
            </a:r>
            <a:r>
              <a:rPr sz="800" b="1" dirty="0">
                <a:latin typeface="Tahoma"/>
                <a:cs typeface="Tahoma"/>
              </a:rPr>
              <a:t>		</a:t>
            </a:r>
            <a:r>
              <a:rPr sz="800" b="1" spc="-35" dirty="0">
                <a:latin typeface="Tahoma"/>
                <a:cs typeface="Tahoma"/>
              </a:rPr>
              <a:t>September</a:t>
            </a:r>
            <a:r>
              <a:rPr sz="800" b="1" spc="2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30,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43712" y="1380997"/>
          <a:ext cx="6374130" cy="200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4960"/>
                <a:gridCol w="175895"/>
                <a:gridCol w="320039"/>
                <a:gridCol w="48895"/>
                <a:gridCol w="193039"/>
                <a:gridCol w="368300"/>
                <a:gridCol w="184150"/>
                <a:gridCol w="358775"/>
                <a:gridCol w="184150"/>
                <a:gridCol w="337820"/>
              </a:tblGrid>
              <a:tr h="16891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(Dollars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Billions)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33679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Cash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Provided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by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Operating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Activities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65"/>
                        </a:spcBef>
                        <a:tabLst>
                          <a:tab pos="298450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3.1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5"/>
                        </a:spcBef>
                        <a:tabLst>
                          <a:tab pos="33464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2.9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5"/>
                        </a:spcBef>
                        <a:tabLst>
                          <a:tab pos="316230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9.2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5"/>
                        </a:spcBef>
                        <a:tabLst>
                          <a:tab pos="31686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9.1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16559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Add:</a:t>
                      </a:r>
                      <a:endParaRPr sz="800">
                        <a:latin typeface="Verdana"/>
                        <a:cs typeface="Verdana"/>
                      </a:endParaRPr>
                    </a:p>
                    <a:p>
                      <a:pPr marL="1524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Net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interest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expense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906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02895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9725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20675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21310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1130">
                <a:tc>
                  <a:txBody>
                    <a:bodyPr/>
                    <a:lstStyle/>
                    <a:p>
                      <a:pPr marL="152400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Provision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for/(Benefit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from)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income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taxes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continuing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 gridSpan="2">
                  <a:txBody>
                    <a:bodyPr/>
                    <a:lstStyle/>
                    <a:p>
                      <a:pPr marL="302895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92100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(0.5)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0675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74320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35" dirty="0">
                          <a:latin typeface="Verdana"/>
                          <a:cs typeface="Verdana"/>
                        </a:rPr>
                        <a:t>(0.6)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213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ts val="919"/>
                        </a:lnSpc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Less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change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in: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7493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8859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Financing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receivables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06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064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06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06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0640" marB="0"/>
                </a:tc>
              </a:tr>
              <a:tr h="26987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Other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assets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liabilities/other,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net</a:t>
                      </a:r>
                      <a:r>
                        <a:rPr sz="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(1)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(0.8)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(2.0)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(2.3)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(3.5)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ts val="919"/>
                        </a:lnSpc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Adjusted</a:t>
                      </a:r>
                      <a:r>
                        <a:rPr sz="800" b="1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EBITDA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ts val="919"/>
                        </a:lnSpc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80645" algn="ctr">
                        <a:lnSpc>
                          <a:spcPts val="919"/>
                        </a:lnSpc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4.6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08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10795" algn="ctr">
                        <a:lnSpc>
                          <a:spcPts val="919"/>
                        </a:lnSpc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08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9850" algn="ctr">
                        <a:lnSpc>
                          <a:spcPts val="919"/>
                        </a:lnSpc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3.8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1435">
                        <a:lnSpc>
                          <a:spcPts val="919"/>
                        </a:lnSpc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919"/>
                        </a:lnSpc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12.7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2069">
                        <a:lnSpc>
                          <a:spcPts val="919"/>
                        </a:lnSpc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44450" algn="r">
                        <a:lnSpc>
                          <a:spcPts val="919"/>
                        </a:lnSpc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10.8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080" marB="0"/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734568" y="3525647"/>
            <a:ext cx="1266825" cy="12700"/>
          </a:xfrm>
          <a:custGeom>
            <a:avLst/>
            <a:gdLst/>
            <a:ahLst/>
            <a:cxnLst/>
            <a:rect l="l" t="t" r="r" b="b"/>
            <a:pathLst>
              <a:path w="1266825" h="12700">
                <a:moveTo>
                  <a:pt x="1266748" y="0"/>
                </a:moveTo>
                <a:lnTo>
                  <a:pt x="0" y="0"/>
                </a:lnTo>
                <a:lnTo>
                  <a:pt x="0" y="12191"/>
                </a:lnTo>
                <a:lnTo>
                  <a:pt x="1266748" y="12191"/>
                </a:lnTo>
                <a:lnTo>
                  <a:pt x="1266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1012" y="3535807"/>
            <a:ext cx="61950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</a:pPr>
            <a:r>
              <a:rPr sz="800" spc="-55" dirty="0">
                <a:latin typeface="Verdana"/>
                <a:cs typeface="Verdana"/>
              </a:rPr>
              <a:t>(1)</a:t>
            </a:r>
            <a:r>
              <a:rPr sz="800" spc="12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Other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assets</a:t>
            </a:r>
            <a:r>
              <a:rPr sz="800" spc="-55" dirty="0">
                <a:latin typeface="Verdana"/>
                <a:cs typeface="Verdana"/>
              </a:rPr>
              <a:t> and </a:t>
            </a:r>
            <a:r>
              <a:rPr sz="800" spc="-45" dirty="0">
                <a:latin typeface="Verdana"/>
                <a:cs typeface="Verdana"/>
              </a:rPr>
              <a:t>liabilities/other,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net</a:t>
            </a:r>
            <a:r>
              <a:rPr sz="800" spc="-60" dirty="0">
                <a:latin typeface="Verdana"/>
                <a:cs typeface="Verdana"/>
              </a:rPr>
              <a:t> mainly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consists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55" dirty="0">
                <a:latin typeface="Verdana"/>
                <a:cs typeface="Verdana"/>
              </a:rPr>
              <a:t> Operating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assets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and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liabilities/Other,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net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the </a:t>
            </a:r>
            <a:r>
              <a:rPr sz="800" spc="-60" dirty="0">
                <a:latin typeface="Verdana"/>
                <a:cs typeface="Verdana"/>
              </a:rPr>
              <a:t>Cash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35" dirty="0">
                <a:latin typeface="Verdana"/>
                <a:cs typeface="Verdana"/>
              </a:rPr>
              <a:t>Flow</a:t>
            </a:r>
            <a:r>
              <a:rPr sz="800" spc="-8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chart,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workforce </a:t>
            </a:r>
            <a:r>
              <a:rPr sz="800" spc="-50" dirty="0">
                <a:latin typeface="Verdana"/>
                <a:cs typeface="Verdana"/>
              </a:rPr>
              <a:t>rebalancing</a:t>
            </a:r>
            <a:r>
              <a:rPr sz="800" spc="-55" dirty="0">
                <a:latin typeface="Verdana"/>
                <a:cs typeface="Verdana"/>
              </a:rPr>
              <a:t> charges,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non-</a:t>
            </a:r>
            <a:r>
              <a:rPr sz="800" spc="-55" dirty="0">
                <a:latin typeface="Verdana"/>
                <a:cs typeface="Verdana"/>
              </a:rPr>
              <a:t>operating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impacts</a:t>
            </a:r>
            <a:r>
              <a:rPr sz="800" spc="-2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and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corporate</a:t>
            </a:r>
            <a:r>
              <a:rPr sz="800" spc="-30" dirty="0">
                <a:latin typeface="Verdana"/>
                <a:cs typeface="Verdana"/>
              </a:rPr>
              <a:t> </a:t>
            </a:r>
            <a:r>
              <a:rPr sz="800" spc="-70" dirty="0">
                <a:latin typeface="Verdana"/>
                <a:cs typeface="Verdana"/>
              </a:rPr>
              <a:t>(gains)</a:t>
            </a:r>
            <a:r>
              <a:rPr sz="800" spc="-55" dirty="0">
                <a:latin typeface="Verdana"/>
                <a:cs typeface="Verdana"/>
              </a:rPr>
              <a:t> and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charges.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4167</Words>
  <Application>Microsoft Office PowerPoint</Application>
  <PresentationFormat>Custom</PresentationFormat>
  <Paragraphs>1485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 MT</vt:lpstr>
      <vt:lpstr>Calibri</vt:lpstr>
      <vt:lpstr>Tahoma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IBM-3Q25-Earnings-Press-Release</dc:title>
  <dc:creator>IBM</dc:creator>
  <cp:lastModifiedBy>Microsoft account</cp:lastModifiedBy>
  <cp:revision>1</cp:revision>
  <dcterms:created xsi:type="dcterms:W3CDTF">2025-12-14T13:06:08Z</dcterms:created>
  <dcterms:modified xsi:type="dcterms:W3CDTF">2025-12-14T13:07:53Z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2025-10-21T00:00:00Z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2025-12-14T00:00:00Z</vt:filetime>
  </property>
  <property fmtid="{D5CDD505-2E9C-101B-9397-08002B2CF9AE}" pid="5" name="Producer">
    <vt:lpwstr>Microsoft® Word for Microsoft 365</vt:lpwstr>
  </property>
</Properties>
</file>