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43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02760" y="9300159"/>
            <a:ext cx="16891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c01.safelinks.protection.outlook.com/?url=https://links.ccwebcast.com/?EventId%3DWIP16102025&amp;data=05|02|srilakshminarayanan.srinivasan@wipro.com|98b4adfd2334487c796b08de05978911|258ac4e4146a411e9dc879a9e12fd6da|0|0|638954345603962537|Unknown|TWFpbGZsb3d8eyJFbXB0eU1hcGkiOnRydWUsIlYiOiIwLjAuMDAwMCIsIlAiOiJXaW4zMiIsIkFOIjoiTWFpbCIsIldUIjoyfQ%3D%3D|0|||&amp;sdata=CKS0/yllm1UG1OZN5RsnZv9kCHw9i/7KiuszY/WCQoM%3D&amp;reserved=0" TargetMode="External"/><Relationship Id="rId2" Type="http://schemas.openxmlformats.org/officeDocument/2006/relationships/hyperlink" Target="http://www.wipro.com/investors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wipro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abhishek.jain2@wipro.com" TargetMode="External"/><Relationship Id="rId2" Type="http://schemas.openxmlformats.org/officeDocument/2006/relationships/hyperlink" Target="http://www.wipro.com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ec.gov/" TargetMode="External"/><Relationship Id="rId4" Type="http://schemas.openxmlformats.org/officeDocument/2006/relationships/hyperlink" Target="mailto:media-relations@wipro.co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474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 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1982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IMMEDIATE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RELEASE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004" y="2064765"/>
            <a:ext cx="6240145" cy="5944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Wipro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announces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results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for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the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Quarter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ended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September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30,</a:t>
            </a:r>
            <a:r>
              <a:rPr sz="1300" b="1" spc="-50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2025</a:t>
            </a:r>
            <a:endParaRPr sz="1300">
              <a:latin typeface="Arial"/>
              <a:cs typeface="Arial"/>
            </a:endParaRPr>
          </a:p>
          <a:p>
            <a:pPr marL="512445" marR="295910" algn="ctr">
              <a:lnSpc>
                <a:spcPts val="1380"/>
              </a:lnSpc>
              <a:spcBef>
                <a:spcPts val="1385"/>
              </a:spcBef>
            </a:pPr>
            <a:r>
              <a:rPr sz="1200" dirty="0">
                <a:latin typeface="Arial MT"/>
                <a:cs typeface="Arial MT"/>
              </a:rPr>
              <a:t>Large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$2.9Bn,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grew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90.5%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YoY,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overall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$4.7Bn </a:t>
            </a:r>
            <a:r>
              <a:rPr sz="1200" dirty="0">
                <a:latin typeface="Arial MT"/>
                <a:cs typeface="Arial MT"/>
              </a:rPr>
              <a:t>Revenue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grew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0.3%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QoQ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CC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terms;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income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growth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1.2%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YoY</a:t>
            </a:r>
            <a:endParaRPr sz="1200">
              <a:latin typeface="Arial MT"/>
              <a:cs typeface="Arial MT"/>
            </a:endParaRPr>
          </a:p>
          <a:p>
            <a:pPr marL="1106805" marR="887094" algn="ctr">
              <a:lnSpc>
                <a:spcPts val="1380"/>
              </a:lnSpc>
            </a:pPr>
            <a:r>
              <a:rPr sz="1200" dirty="0">
                <a:latin typeface="Arial MT"/>
                <a:cs typeface="Arial MT"/>
              </a:rPr>
              <a:t>Q2’26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adjusted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margin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17.2%,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expands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0.4%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YoY </a:t>
            </a:r>
            <a:r>
              <a:rPr sz="1200" dirty="0">
                <a:latin typeface="Arial MT"/>
                <a:cs typeface="Arial MT"/>
              </a:rPr>
              <a:t>Operating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cash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103.8%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income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Arial MT"/>
              <a:cs typeface="Arial MT"/>
            </a:endParaRPr>
          </a:p>
          <a:p>
            <a:pPr marL="139700" marR="147955" algn="just">
              <a:lnSpc>
                <a:spcPct val="95800"/>
              </a:lnSpc>
            </a:pPr>
            <a:r>
              <a:rPr sz="1100" b="1" dirty="0">
                <a:latin typeface="Arial"/>
                <a:cs typeface="Arial"/>
              </a:rPr>
              <a:t>EAST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BRUNSWICK,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N.J.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|</a:t>
            </a:r>
            <a:r>
              <a:rPr sz="1100" b="1" spc="11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BANGALORE,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India</a:t>
            </a:r>
            <a:r>
              <a:rPr sz="1100" b="1" spc="11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–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October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16,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2025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(NYSE: </a:t>
            </a:r>
            <a:r>
              <a:rPr sz="1100" dirty="0">
                <a:latin typeface="Arial MT"/>
                <a:cs typeface="Arial MT"/>
              </a:rPr>
              <a:t>WIT,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BSE: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507685,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NSE: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WIPRO),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consulting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company, </a:t>
            </a:r>
            <a:r>
              <a:rPr sz="1100" dirty="0">
                <a:latin typeface="Arial MT"/>
                <a:cs typeface="Arial MT"/>
              </a:rPr>
              <a:t>announced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(IFRS)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ended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September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30,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2025.</a:t>
            </a:r>
            <a:endParaRPr sz="1100">
              <a:latin typeface="Arial MT"/>
              <a:cs typeface="Arial MT"/>
            </a:endParaRPr>
          </a:p>
          <a:p>
            <a:pPr marL="139700" algn="just">
              <a:lnSpc>
                <a:spcPct val="100000"/>
              </a:lnSpc>
              <a:spcBef>
                <a:spcPts val="121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Highlights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Results</a:t>
            </a:r>
            <a:endParaRPr sz="1100">
              <a:latin typeface="Arial"/>
              <a:cs typeface="Arial"/>
            </a:endParaRPr>
          </a:p>
          <a:p>
            <a:pPr marL="139700" algn="just">
              <a:lnSpc>
                <a:spcPct val="100000"/>
              </a:lnSpc>
              <a:spcBef>
                <a:spcPts val="1200"/>
              </a:spcBef>
            </a:pPr>
            <a:r>
              <a:rPr sz="1100" b="1" dirty="0">
                <a:latin typeface="Arial"/>
                <a:cs typeface="Arial"/>
              </a:rPr>
              <a:t>Results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Quarter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September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2025:</a:t>
            </a:r>
            <a:endParaRPr sz="1100">
              <a:latin typeface="Arial"/>
              <a:cs typeface="Arial"/>
            </a:endParaRPr>
          </a:p>
          <a:p>
            <a:pPr marL="365125" indent="-225425">
              <a:lnSpc>
                <a:spcPts val="1295"/>
              </a:lnSpc>
              <a:spcBef>
                <a:spcPts val="1215"/>
              </a:spcBef>
              <a:buAutoNum type="arabicPeriod"/>
              <a:tabLst>
                <a:tab pos="365125" algn="l"/>
              </a:tabLst>
            </a:pPr>
            <a:r>
              <a:rPr sz="1100" dirty="0">
                <a:latin typeface="Arial MT"/>
                <a:cs typeface="Arial MT"/>
              </a:rPr>
              <a:t>Gross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₹227.0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($2,556.6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2.5%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1.8%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65125" marR="144780" indent="-225425">
              <a:lnSpc>
                <a:spcPts val="1260"/>
              </a:lnSpc>
              <a:spcBef>
                <a:spcPts val="65"/>
              </a:spcBef>
              <a:buAutoNum type="arabicPeriod"/>
              <a:tabLst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$2,604.3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0.7%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2.1%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65125" indent="-225425">
              <a:lnSpc>
                <a:spcPts val="1205"/>
              </a:lnSpc>
              <a:buAutoNum type="arabicPeriod"/>
              <a:tabLst>
                <a:tab pos="365125" algn="l"/>
              </a:tabLst>
            </a:pP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050" spc="577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increased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0.3%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marL="368300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decreased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2.6%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65125" marR="145415" indent="-225425" algn="just">
              <a:lnSpc>
                <a:spcPct val="95900"/>
              </a:lnSpc>
              <a:spcBef>
                <a:spcPts val="25"/>
              </a:spcBef>
              <a:buAutoNum type="arabicPeriod" startAt="4"/>
              <a:tabLst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bookings</a:t>
            </a:r>
            <a:r>
              <a:rPr sz="1050" baseline="31746" dirty="0">
                <a:latin typeface="Arial MT"/>
                <a:cs typeface="Arial MT"/>
              </a:rPr>
              <a:t>3</a:t>
            </a:r>
            <a:r>
              <a:rPr sz="1050" spc="165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$4,688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million, down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6.1%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30.9%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constant 	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Large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bookings</a:t>
            </a:r>
            <a:r>
              <a:rPr sz="1050" baseline="31746" dirty="0">
                <a:latin typeface="Arial MT"/>
                <a:cs typeface="Arial MT"/>
              </a:rPr>
              <a:t>4</a:t>
            </a:r>
            <a:r>
              <a:rPr sz="1050" spc="172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$2,853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 increase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6.7%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90.5% 	</a:t>
            </a:r>
            <a:r>
              <a:rPr sz="1100" dirty="0">
                <a:latin typeface="Arial MT"/>
                <a:cs typeface="Arial MT"/>
              </a:rPr>
              <a:t>YoY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currency</a:t>
            </a:r>
            <a:r>
              <a:rPr sz="1050" spc="-15" baseline="31746" dirty="0">
                <a:latin typeface="Arial MT"/>
                <a:cs typeface="Arial MT"/>
              </a:rPr>
              <a:t>2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65125" indent="-225425" algn="just">
              <a:lnSpc>
                <a:spcPts val="1235"/>
              </a:lnSpc>
              <a:buAutoNum type="arabicPeriod" startAt="4"/>
              <a:tabLst>
                <a:tab pos="365125" algn="l"/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margin</a:t>
            </a:r>
            <a:r>
              <a:rPr sz="1050" baseline="31746" dirty="0">
                <a:latin typeface="Arial MT"/>
                <a:cs typeface="Arial MT"/>
              </a:rPr>
              <a:t>5</a:t>
            </a:r>
            <a:r>
              <a:rPr sz="1050" spc="127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Q2’26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16.7%,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impacted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provision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₹1,165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</a:t>
            </a:r>
            <a:endParaRPr sz="1100">
              <a:latin typeface="Arial MT"/>
              <a:cs typeface="Arial MT"/>
            </a:endParaRPr>
          </a:p>
          <a:p>
            <a:pPr marL="368300" marR="146050" algn="just">
              <a:lnSpc>
                <a:spcPct val="95900"/>
              </a:lnSpc>
              <a:spcBef>
                <a:spcPts val="30"/>
              </a:spcBef>
            </a:pPr>
            <a:r>
              <a:rPr sz="1100" dirty="0">
                <a:latin typeface="Arial MT"/>
                <a:cs typeface="Arial MT"/>
              </a:rPr>
              <a:t>($13.1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made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respect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bankruptcy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customer.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Adjusted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event,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Margin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17.2%,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0.1%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expansion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0.4% YoY.</a:t>
            </a:r>
            <a:endParaRPr sz="1100">
              <a:latin typeface="Arial MT"/>
              <a:cs typeface="Arial MT"/>
            </a:endParaRPr>
          </a:p>
          <a:p>
            <a:pPr marL="365125" marR="146050" indent="-225425">
              <a:lnSpc>
                <a:spcPts val="1270"/>
              </a:lnSpc>
              <a:spcBef>
                <a:spcPts val="25"/>
              </a:spcBef>
              <a:buAutoNum type="arabicPeriod" startAt="6"/>
              <a:tabLst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Net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income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 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5" dirty="0">
                <a:latin typeface="Arial MT"/>
                <a:cs typeface="Arial MT"/>
              </a:rPr>
              <a:t>₹32.5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($365.6 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2.5%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1.2%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65125" marR="145415" indent="-225425">
              <a:lnSpc>
                <a:spcPts val="1260"/>
              </a:lnSpc>
              <a:buAutoNum type="arabicPeriod" startAt="6"/>
              <a:tabLst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Earnings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share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Arial MT"/>
                <a:cs typeface="Arial MT"/>
              </a:rPr>
              <a:t>₹3.1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($0.03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2.5%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1.0%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65125" marR="144780" indent="-225425">
              <a:lnSpc>
                <a:spcPts val="1260"/>
              </a:lnSpc>
              <a:spcBef>
                <a:spcPts val="15"/>
              </a:spcBef>
              <a:buAutoNum type="arabicPeriod" startAt="6"/>
              <a:tabLst>
                <a:tab pos="368300" algn="l"/>
              </a:tabLst>
            </a:pP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cash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flows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₹33.9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($381.5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17.6%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20.7% 	</a:t>
            </a:r>
            <a:r>
              <a:rPr sz="1100" dirty="0">
                <a:latin typeface="Arial MT"/>
                <a:cs typeface="Arial MT"/>
              </a:rPr>
              <a:t>YoY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103.8%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Income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quarter.</a:t>
            </a:r>
            <a:endParaRPr sz="1100">
              <a:latin typeface="Arial MT"/>
              <a:cs typeface="Arial MT"/>
            </a:endParaRPr>
          </a:p>
          <a:p>
            <a:pPr marL="365125" indent="-225425">
              <a:lnSpc>
                <a:spcPts val="1240"/>
              </a:lnSpc>
              <a:buAutoNum type="arabicPeriod" startAt="6"/>
              <a:tabLst>
                <a:tab pos="365125" algn="l"/>
              </a:tabLst>
            </a:pPr>
            <a:r>
              <a:rPr sz="1100" dirty="0">
                <a:latin typeface="Arial MT"/>
                <a:cs typeface="Arial MT"/>
              </a:rPr>
              <a:t>Voluntary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14.9%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trailing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12-</a:t>
            </a:r>
            <a:r>
              <a:rPr sz="1100" dirty="0">
                <a:latin typeface="Arial MT"/>
                <a:cs typeface="Arial MT"/>
              </a:rPr>
              <a:t>month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basis.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739" y="875174"/>
            <a:ext cx="1250995" cy="9878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95579" y="9661245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175" cy="394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Outlook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Quarter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ending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December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31,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6100"/>
              </a:lnSpc>
              <a:spcBef>
                <a:spcPts val="1255"/>
              </a:spcBef>
            </a:pPr>
            <a:r>
              <a:rPr sz="1100" dirty="0">
                <a:latin typeface="Arial MT"/>
                <a:cs typeface="Arial MT"/>
              </a:rPr>
              <a:t>We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expect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range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$2,591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$2,644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million*.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translates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sequential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guidance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(-</a:t>
            </a:r>
            <a:r>
              <a:rPr sz="1100" dirty="0">
                <a:latin typeface="Arial MT"/>
                <a:cs typeface="Arial MT"/>
              </a:rPr>
              <a:t>)0.5%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(+)1.5%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constant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terms.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guidance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stated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above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does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expected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recently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announced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acquisition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Harman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Solutions.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ts val="1030"/>
              </a:lnSpc>
            </a:pPr>
            <a:r>
              <a:rPr sz="900" i="1" dirty="0">
                <a:latin typeface="Arial"/>
                <a:cs typeface="Arial"/>
              </a:rPr>
              <a:t>*Outlook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Quarter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ending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December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31,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2025,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based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following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rates: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GBP/USD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1.35, </a:t>
            </a:r>
            <a:r>
              <a:rPr sz="900" i="1" dirty="0">
                <a:latin typeface="Arial"/>
                <a:cs typeface="Arial"/>
              </a:rPr>
              <a:t>Euro/USD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1.16,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AUD/USD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0.65,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USD/INR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87.21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CAD/USD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0.72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Performance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Quarter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ended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September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 marL="12700" marR="16510">
              <a:lnSpc>
                <a:spcPct val="96000"/>
              </a:lnSpc>
              <a:spcBef>
                <a:spcPts val="890"/>
              </a:spcBef>
            </a:pPr>
            <a:r>
              <a:rPr sz="1100" b="1" dirty="0">
                <a:latin typeface="Arial"/>
                <a:cs typeface="Arial"/>
              </a:rPr>
              <a:t>Srini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Pallia,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CEO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Managing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Director,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said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“Our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revenue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momentum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is</a:t>
            </a:r>
            <a:r>
              <a:rPr sz="1100" i="1" spc="-10" dirty="0">
                <a:latin typeface="Arial"/>
                <a:cs typeface="Arial"/>
              </a:rPr>
              <a:t> strengthening,</a:t>
            </a:r>
            <a:r>
              <a:rPr sz="1100" i="1" spc="500" dirty="0">
                <a:latin typeface="Arial"/>
                <a:cs typeface="Arial"/>
              </a:rPr>
              <a:t> 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Europe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APMEA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returning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growth,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operating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margins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holding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steady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within</a:t>
            </a:r>
            <a:r>
              <a:rPr sz="1100" i="1" spc="50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narrow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band.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Bookings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surpassed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$9.5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billion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H1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FY26.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strategy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is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clear: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remain </a:t>
            </a:r>
            <a:r>
              <a:rPr sz="1100" i="1" dirty="0">
                <a:latin typeface="Arial"/>
                <a:cs typeface="Arial"/>
              </a:rPr>
              <a:t>resilient,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adapt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global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shifts,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lead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AI.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am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excited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bring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Wipro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Intelligence™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our </a:t>
            </a:r>
            <a:r>
              <a:rPr sz="1100" i="1" dirty="0">
                <a:latin typeface="Arial"/>
                <a:cs typeface="Arial"/>
              </a:rPr>
              <a:t>clients,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helping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them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scale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confidently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shape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future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AI-first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world.”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800"/>
              </a:lnSpc>
            </a:pPr>
            <a:r>
              <a:rPr sz="1100" b="1" dirty="0">
                <a:latin typeface="Arial"/>
                <a:cs typeface="Arial"/>
              </a:rPr>
              <a:t>Aparna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Iyer,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Chief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Financial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Officer,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said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“We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are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gradually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returning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growth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trajectory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with </a:t>
            </a:r>
            <a:r>
              <a:rPr sz="1100" i="1" spc="-10" dirty="0">
                <a:latin typeface="Arial"/>
                <a:cs typeface="Arial"/>
              </a:rPr>
              <a:t>three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our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four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SMUs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growing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sequentially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in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Q2.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All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key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financial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parameters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continue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to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remain </a:t>
            </a:r>
            <a:r>
              <a:rPr sz="1100" i="1" dirty="0">
                <a:latin typeface="Arial"/>
                <a:cs typeface="Arial"/>
              </a:rPr>
              <a:t>strong.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large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deal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bookings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first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two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quarters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have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now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surpassed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large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deal </a:t>
            </a:r>
            <a:r>
              <a:rPr sz="1100" i="1" dirty="0">
                <a:latin typeface="Arial"/>
                <a:cs typeface="Arial"/>
              </a:rPr>
              <a:t>booking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full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year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FY’25.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adjusted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margins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Q2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expanded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by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0.4%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YoY.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EPS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the </a:t>
            </a:r>
            <a:r>
              <a:rPr sz="1100" i="1" dirty="0">
                <a:latin typeface="Arial"/>
                <a:cs typeface="Arial"/>
              </a:rPr>
              <a:t>quarter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grew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1%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YoY.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Lastly,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cash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flow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conversion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continues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remain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strong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operating </a:t>
            </a:r>
            <a:r>
              <a:rPr sz="1100" i="1" dirty="0">
                <a:latin typeface="Arial"/>
                <a:cs typeface="Arial"/>
              </a:rPr>
              <a:t>cash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flow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at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104%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net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income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-20" dirty="0">
                <a:latin typeface="Arial"/>
                <a:cs typeface="Arial"/>
              </a:rPr>
              <a:t> Q2.”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032375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5032375"/>
            <a:ext cx="5514975" cy="1873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7620" algn="just">
              <a:lnSpc>
                <a:spcPct val="96000"/>
              </a:lnSpc>
              <a:spcBef>
                <a:spcPts val="140"/>
              </a:spcBef>
            </a:pP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convenience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readers,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amounts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Indian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Rupees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release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have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been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translated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into </a:t>
            </a:r>
            <a:r>
              <a:rPr sz="900" i="1" dirty="0">
                <a:latin typeface="Arial"/>
                <a:cs typeface="Arial"/>
              </a:rPr>
              <a:t>United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States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Dollars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certified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US$1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₹88.78,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published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Federal </a:t>
            </a:r>
            <a:r>
              <a:rPr sz="900" i="1" dirty="0">
                <a:latin typeface="Arial"/>
                <a:cs typeface="Arial"/>
              </a:rPr>
              <a:t>Reserve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Board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Governors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September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30,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2025.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However,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realized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our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Services </a:t>
            </a:r>
            <a:r>
              <a:rPr sz="900" i="1" dirty="0">
                <a:latin typeface="Arial"/>
                <a:cs typeface="Arial"/>
              </a:rPr>
              <a:t>business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segment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quarter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ended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September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30,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2025,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was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US$1=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₹86.94</a:t>
            </a:r>
            <a:endParaRPr sz="900">
              <a:latin typeface="Arial"/>
              <a:cs typeface="Arial"/>
            </a:endParaRPr>
          </a:p>
          <a:p>
            <a:pPr marL="12700" marR="12700" algn="just">
              <a:lnSpc>
                <a:spcPts val="104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Constant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product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volumes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times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average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actual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exchange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corresponding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comparative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period.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ts val="103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refers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value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orders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were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booked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during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including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new </a:t>
            </a:r>
            <a:r>
              <a:rPr sz="900" i="1" dirty="0">
                <a:latin typeface="Arial"/>
                <a:cs typeface="Arial"/>
              </a:rPr>
              <a:t>orders,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renewals,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increases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existing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contracts.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reflect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subsequent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terminations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or </a:t>
            </a:r>
            <a:r>
              <a:rPr sz="900" i="1" dirty="0">
                <a:latin typeface="Arial"/>
                <a:cs typeface="Arial"/>
              </a:rPr>
              <a:t>reductions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related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originally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recorded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prior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fiscal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periods.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recorded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using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then-</a:t>
            </a:r>
            <a:endParaRPr sz="900">
              <a:latin typeface="Arial"/>
              <a:cs typeface="Arial"/>
            </a:endParaRPr>
          </a:p>
          <a:p>
            <a:pPr marL="12700" marR="5715" algn="just">
              <a:lnSpc>
                <a:spcPts val="103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existing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subsequently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adjusted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exchange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fluctuations.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revenues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from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these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contracts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accrue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over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tenure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contract.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constant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growth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2.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ts val="990"/>
              </a:lnSpc>
            </a:pPr>
            <a:r>
              <a:rPr sz="900" i="1" dirty="0">
                <a:latin typeface="Arial"/>
                <a:cs typeface="Arial"/>
              </a:rPr>
              <a:t>Large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consist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deals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greater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than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equal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$30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million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ts val="1060"/>
              </a:lnSpc>
            </a:pPr>
            <a:r>
              <a:rPr sz="900" i="1" dirty="0">
                <a:latin typeface="Arial"/>
                <a:cs typeface="Arial"/>
              </a:rPr>
              <a:t>IT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Services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Operating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Margin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Segment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Results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reflected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IFRS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financials.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5558409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2.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822060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3.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6609968"/>
            <a:ext cx="121920" cy="29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4.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0"/>
              </a:lnSpc>
            </a:pPr>
            <a:r>
              <a:rPr sz="900" i="1" spc="-25" dirty="0">
                <a:latin typeface="Arial"/>
                <a:cs typeface="Arial"/>
              </a:rPr>
              <a:t>5.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1295" y="966139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48680" cy="828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Highlights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Strategic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Deal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200">
              <a:latin typeface="Arial"/>
              <a:cs typeface="Arial"/>
            </a:endParaRPr>
          </a:p>
          <a:p>
            <a:pPr marL="12700" marR="315595">
              <a:lnSpc>
                <a:spcPts val="1260"/>
              </a:lnSpc>
            </a:pP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Q2’26,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continued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large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industries.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highlights include:</a:t>
            </a:r>
            <a:endParaRPr sz="1100">
              <a:latin typeface="Arial MT"/>
              <a:cs typeface="Arial MT"/>
            </a:endParaRPr>
          </a:p>
          <a:p>
            <a:pPr marL="469265" marR="57785" indent="-228600">
              <a:lnSpc>
                <a:spcPct val="95500"/>
              </a:lnSpc>
              <a:spcBef>
                <a:spcPts val="1240"/>
              </a:spcBef>
              <a:buSzPct val="109090"/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multi-</a:t>
            </a:r>
            <a:r>
              <a:rPr sz="1100" dirty="0">
                <a:latin typeface="Arial MT"/>
                <a:cs typeface="Arial MT"/>
              </a:rPr>
              <a:t>year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infrastructure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modernization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 </a:t>
            </a:r>
            <a:r>
              <a:rPr sz="1100" dirty="0">
                <a:latin typeface="Arial MT"/>
                <a:cs typeface="Arial MT"/>
              </a:rPr>
              <a:t>European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institution.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centralized </a:t>
            </a:r>
            <a:r>
              <a:rPr sz="1100" dirty="0">
                <a:latin typeface="Arial MT"/>
                <a:cs typeface="Arial MT"/>
              </a:rPr>
              <a:t>modernization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compute,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middleware,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storage </a:t>
            </a:r>
            <a:r>
              <a:rPr sz="1100" dirty="0">
                <a:latin typeface="Arial MT"/>
                <a:cs typeface="Arial MT"/>
              </a:rPr>
              <a:t>towers,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seamless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migration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consolidation.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This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simplify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infrastructure </a:t>
            </a:r>
            <a:r>
              <a:rPr sz="1100" dirty="0">
                <a:latin typeface="Arial MT"/>
                <a:cs typeface="Arial MT"/>
              </a:rPr>
              <a:t>management,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initiatives,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achieve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long-</a:t>
            </a:r>
            <a:r>
              <a:rPr sz="1100" dirty="0">
                <a:latin typeface="Arial MT"/>
                <a:cs typeface="Arial MT"/>
              </a:rPr>
              <a:t>term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cost </a:t>
            </a:r>
            <a:r>
              <a:rPr sz="1100" spc="-10" dirty="0">
                <a:latin typeface="Arial MT"/>
                <a:cs typeface="Arial MT"/>
              </a:rPr>
              <a:t>efficiencies.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466090" marR="55244" indent="-225425">
              <a:lnSpc>
                <a:spcPct val="95800"/>
              </a:lnSpc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prominent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utility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Utilities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CPQ 	</a:t>
            </a:r>
            <a:r>
              <a:rPr sz="1100" dirty="0">
                <a:latin typeface="Arial MT"/>
                <a:cs typeface="Arial MT"/>
              </a:rPr>
              <a:t>(Configure,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Quote)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aimed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retail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divisions.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trusted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utilities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 	</a:t>
            </a:r>
            <a:r>
              <a:rPr sz="1100" dirty="0">
                <a:latin typeface="Arial MT"/>
                <a:cs typeface="Arial MT"/>
              </a:rPr>
              <a:t>presence,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Consulting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extensively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co-create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strategic 	</a:t>
            </a:r>
            <a:r>
              <a:rPr sz="1100" dirty="0">
                <a:latin typeface="Arial MT"/>
                <a:cs typeface="Arial MT"/>
              </a:rPr>
              <a:t>roadmap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demonstrating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solution’s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architecture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value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proposition.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This 	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expected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significantly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quote-</a:t>
            </a:r>
            <a:r>
              <a:rPr sz="1100" spc="-25" dirty="0">
                <a:latin typeface="Arial MT"/>
                <a:cs typeface="Arial MT"/>
              </a:rPr>
              <a:t>to- 	</a:t>
            </a:r>
            <a:r>
              <a:rPr sz="1100" dirty="0">
                <a:latin typeface="Arial MT"/>
                <a:cs typeface="Arial MT"/>
              </a:rPr>
              <a:t>cash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process.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466090" marR="81280" indent="-225425">
              <a:lnSpc>
                <a:spcPct val="958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multi-</a:t>
            </a:r>
            <a:r>
              <a:rPr sz="1100" dirty="0">
                <a:latin typeface="Arial MT"/>
                <a:cs typeface="Arial MT"/>
              </a:rPr>
              <a:t>year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U.S.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company, 	</a:t>
            </a:r>
            <a:r>
              <a:rPr sz="1100" dirty="0">
                <a:latin typeface="Arial MT"/>
                <a:cs typeface="Arial MT"/>
              </a:rPr>
              <a:t>expanding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decade-</a:t>
            </a:r>
            <a:r>
              <a:rPr sz="1100" dirty="0">
                <a:latin typeface="Arial MT"/>
                <a:cs typeface="Arial MT"/>
              </a:rPr>
              <a:t>long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partnership.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spans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geographies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AI-driven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modernization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insurance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proactive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care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smarter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clinical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decisions.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large-</a:t>
            </a:r>
            <a:r>
              <a:rPr sz="1100" dirty="0">
                <a:latin typeface="Arial MT"/>
                <a:cs typeface="Arial MT"/>
              </a:rPr>
              <a:t>scale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migration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 	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scalability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optimize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allocation,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strengthen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patient 	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protection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deep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expertise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</a:t>
            </a:r>
            <a:r>
              <a:rPr sz="1100" spc="-10" dirty="0">
                <a:latin typeface="Arial MT"/>
                <a:cs typeface="Arial MT"/>
              </a:rPr>
              <a:t>infused 	</a:t>
            </a:r>
            <a:r>
              <a:rPr sz="1100" dirty="0">
                <a:latin typeface="Arial MT"/>
                <a:cs typeface="Arial MT"/>
              </a:rPr>
              <a:t>delivery,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closer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members,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employees.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reinforces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commitment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accessible, 	</a:t>
            </a:r>
            <a:r>
              <a:rPr sz="1100" dirty="0">
                <a:latin typeface="Arial MT"/>
                <a:cs typeface="Arial MT"/>
              </a:rPr>
              <a:t>intelligent,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deeply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human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469265" marR="55880" indent="-228600">
              <a:lnSpc>
                <a:spcPct val="95500"/>
              </a:lnSpc>
              <a:buSzPct val="109090"/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awarded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scale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public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storage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infrastructure.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engagement,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expanding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capacity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streamlining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migration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integrating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tools,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build-</a:t>
            </a:r>
            <a:r>
              <a:rPr sz="1100" dirty="0">
                <a:latin typeface="Arial MT"/>
                <a:cs typeface="Arial MT"/>
              </a:rPr>
              <a:t>out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cycle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infrastructure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reliability,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ensure </a:t>
            </a:r>
            <a:r>
              <a:rPr sz="1100" dirty="0">
                <a:latin typeface="Arial MT"/>
                <a:cs typeface="Arial MT"/>
              </a:rPr>
              <a:t>high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10" dirty="0">
                <a:latin typeface="Arial MT"/>
                <a:cs typeface="Arial MT"/>
              </a:rPr>
              <a:t> availability—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significantly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minimizing </a:t>
            </a:r>
            <a:r>
              <a:rPr sz="1100" dirty="0">
                <a:latin typeface="Arial MT"/>
                <a:cs typeface="Arial MT"/>
              </a:rPr>
              <a:t>downtime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end-</a:t>
            </a:r>
            <a:r>
              <a:rPr sz="1100" spc="-20" dirty="0">
                <a:latin typeface="Arial MT"/>
                <a:cs typeface="Arial MT"/>
              </a:rPr>
              <a:t>user </a:t>
            </a:r>
            <a:r>
              <a:rPr sz="1100" spc="-10" dirty="0">
                <a:latin typeface="Arial MT"/>
                <a:cs typeface="Arial MT"/>
              </a:rPr>
              <a:t>experience.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469265" marR="5080" indent="-228600">
              <a:lnSpc>
                <a:spcPct val="95600"/>
              </a:lnSpc>
              <a:buSzPct val="109090"/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AI-led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modular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Agentic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framework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UK-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payments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analyzed</a:t>
            </a:r>
            <a:r>
              <a:rPr sz="1100" spc="-25" dirty="0">
                <a:latin typeface="Arial MT"/>
                <a:cs typeface="Arial MT"/>
              </a:rPr>
              <a:t> and </a:t>
            </a:r>
            <a:r>
              <a:rPr sz="1100" dirty="0">
                <a:latin typeface="Arial MT"/>
                <a:cs typeface="Arial MT"/>
              </a:rPr>
              <a:t>consumed.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flexible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cloud-</a:t>
            </a:r>
            <a:r>
              <a:rPr sz="1100" dirty="0">
                <a:latin typeface="Arial MT"/>
                <a:cs typeface="Arial MT"/>
              </a:rPr>
              <a:t>native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intelligence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dashboards,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predictive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fraud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detection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alerts</a:t>
            </a:r>
            <a:r>
              <a:rPr sz="1100" spc="-25" dirty="0">
                <a:latin typeface="Arial MT"/>
                <a:cs typeface="Arial MT"/>
              </a:rPr>
              <a:t> and </a:t>
            </a:r>
            <a:r>
              <a:rPr sz="1100" dirty="0">
                <a:latin typeface="Arial MT"/>
                <a:cs typeface="Arial MT"/>
              </a:rPr>
              <a:t>compliance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reports.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analyze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complex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datasets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real-</a:t>
            </a:r>
            <a:r>
              <a:rPr sz="1100" dirty="0">
                <a:latin typeface="Arial MT"/>
                <a:cs typeface="Arial MT"/>
              </a:rPr>
              <a:t>time,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instant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insights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decision-</a:t>
            </a:r>
            <a:r>
              <a:rPr sz="1100" dirty="0">
                <a:latin typeface="Arial MT"/>
                <a:cs typeface="Arial MT"/>
              </a:rPr>
              <a:t>making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strategy,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compliance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functions.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remove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technical </a:t>
            </a:r>
            <a:r>
              <a:rPr sz="1100" dirty="0">
                <a:latin typeface="Arial MT"/>
                <a:cs typeface="Arial MT"/>
              </a:rPr>
              <a:t>barriers,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thereby,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improving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efficiencies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trusted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insights.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470534" indent="-229235">
              <a:lnSpc>
                <a:spcPct val="100000"/>
              </a:lnSpc>
              <a:buSzPct val="109090"/>
              <a:buAutoNum type="arabicPeriod"/>
              <a:tabLst>
                <a:tab pos="470534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chosen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250" y="9710464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788923"/>
            <a:ext cx="5741670" cy="822515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40665" marR="115570">
              <a:lnSpc>
                <a:spcPct val="95700"/>
              </a:lnSpc>
              <a:spcBef>
                <a:spcPts val="160"/>
              </a:spcBef>
            </a:pP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enrollment,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billing,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claims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management </a:t>
            </a:r>
            <a:r>
              <a:rPr sz="1100" dirty="0">
                <a:latin typeface="Arial MT"/>
                <a:cs typeface="Arial MT"/>
              </a:rPr>
              <a:t>process.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AI-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end-</a:t>
            </a:r>
            <a:r>
              <a:rPr sz="1100" dirty="0">
                <a:latin typeface="Arial MT"/>
                <a:cs typeface="Arial MT"/>
              </a:rPr>
              <a:t>to-end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services,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productivity,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agility,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meaningful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cost </a:t>
            </a:r>
            <a:r>
              <a:rPr sz="1100" dirty="0">
                <a:latin typeface="Arial MT"/>
                <a:cs typeface="Arial MT"/>
              </a:rPr>
              <a:t>efficiencies.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also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deploying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modular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Agentic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framework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elevate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satisfaction.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240665" marR="57785" indent="-228600">
              <a:lnSpc>
                <a:spcPct val="95500"/>
              </a:lnSpc>
              <a:buSzPct val="109090"/>
              <a:buAutoNum type="arabicPeriod" startAt="7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North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retailer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extended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25" dirty="0">
                <a:latin typeface="Arial MT"/>
                <a:cs typeface="Arial MT"/>
              </a:rPr>
              <a:t> its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portfolio.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implement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scalable,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AI-enabled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delivery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productivity,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processes,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 </a:t>
            </a:r>
            <a:r>
              <a:rPr sz="1100" dirty="0">
                <a:latin typeface="Arial MT"/>
                <a:cs typeface="Arial MT"/>
              </a:rPr>
              <a:t>satisfaction.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also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consolidating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10" dirty="0">
                <a:latin typeface="Arial MT"/>
                <a:cs typeface="Arial MT"/>
              </a:rPr>
              <a:t>simplifying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measurable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gains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operational </a:t>
            </a:r>
            <a:r>
              <a:rPr sz="1100" dirty="0">
                <a:latin typeface="Arial MT"/>
                <a:cs typeface="Arial MT"/>
              </a:rPr>
              <a:t>scale,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experience.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AutoNum type="arabicPeriod" startAt="7"/>
            </a:pPr>
            <a:endParaRPr sz="1100">
              <a:latin typeface="Arial MT"/>
              <a:cs typeface="Arial MT"/>
            </a:endParaRPr>
          </a:p>
          <a:p>
            <a:pPr marL="240665" marR="5080" indent="-228600">
              <a:lnSpc>
                <a:spcPct val="95600"/>
              </a:lnSpc>
              <a:buSzPct val="109090"/>
              <a:buAutoNum type="arabicPeriod" startAt="7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awarded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AI-led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elevate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processing.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validation, </a:t>
            </a:r>
            <a:r>
              <a:rPr sz="1100" dirty="0">
                <a:latin typeface="Arial MT"/>
                <a:cs typeface="Arial MT"/>
              </a:rPr>
              <a:t>automate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indexing,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handling.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 </a:t>
            </a:r>
            <a:r>
              <a:rPr sz="1100" dirty="0">
                <a:latin typeface="Arial MT"/>
                <a:cs typeface="Arial MT"/>
              </a:rPr>
              <a:t>reduce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manual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errors,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touchless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processing,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approval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lower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compliance,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scalability.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AutoNum type="arabicPeriod" startAt="7"/>
            </a:pPr>
            <a:endParaRPr sz="1100">
              <a:latin typeface="Arial MT"/>
              <a:cs typeface="Arial MT"/>
            </a:endParaRPr>
          </a:p>
          <a:p>
            <a:pPr marL="240665" marR="80010" indent="-228600">
              <a:lnSpc>
                <a:spcPct val="95500"/>
              </a:lnSpc>
              <a:spcBef>
                <a:spcPts val="5"/>
              </a:spcBef>
              <a:buSzPct val="109090"/>
              <a:buAutoNum type="arabicPeriod" startAt="7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modernize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digital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dedicated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engineering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hub.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Wipro's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deep </a:t>
            </a:r>
            <a:r>
              <a:rPr sz="1100" dirty="0">
                <a:latin typeface="Arial MT"/>
                <a:cs typeface="Arial MT"/>
              </a:rPr>
              <a:t>domain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expertise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cloud </a:t>
            </a:r>
            <a:r>
              <a:rPr sz="1100" dirty="0">
                <a:latin typeface="Arial MT"/>
                <a:cs typeface="Arial MT"/>
              </a:rPr>
              <a:t>infrastructure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engineering,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reliability</a:t>
            </a:r>
            <a:r>
              <a:rPr sz="1100" dirty="0">
                <a:latin typeface="Arial MT"/>
                <a:cs typeface="Arial MT"/>
              </a:rPr>
              <a:t> practices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mobile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online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afford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measurable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improvements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resilience,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operational </a:t>
            </a:r>
            <a:r>
              <a:rPr sz="1100" dirty="0">
                <a:latin typeface="Arial MT"/>
                <a:cs typeface="Arial MT"/>
              </a:rPr>
              <a:t>efficiency,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future-</a:t>
            </a:r>
            <a:r>
              <a:rPr sz="1100" dirty="0">
                <a:latin typeface="Arial MT"/>
                <a:cs typeface="Arial MT"/>
              </a:rPr>
              <a:t>ready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stack.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AutoNum type="arabicPeriod" startAt="7"/>
            </a:pPr>
            <a:endParaRPr sz="1100">
              <a:latin typeface="Arial MT"/>
              <a:cs typeface="Arial MT"/>
            </a:endParaRPr>
          </a:p>
          <a:p>
            <a:pPr marL="240665" marR="49530" indent="-228600">
              <a:lnSpc>
                <a:spcPct val="95300"/>
              </a:lnSpc>
              <a:buSzPct val="109090"/>
              <a:buAutoNum type="arabicPeriod" startAt="7"/>
              <a:tabLst>
                <a:tab pos="240665" algn="l"/>
              </a:tabLst>
            </a:pP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merger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regional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rural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spearhead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overhaul.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strong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capabilities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technology,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Consulting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co-</a:t>
            </a:r>
            <a:r>
              <a:rPr sz="1100" dirty="0">
                <a:latin typeface="Arial MT"/>
                <a:cs typeface="Arial MT"/>
              </a:rPr>
              <a:t>created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roadmap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transition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1,500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branches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unified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 </a:t>
            </a:r>
            <a:r>
              <a:rPr sz="1100" dirty="0">
                <a:latin typeface="Arial MT"/>
                <a:cs typeface="Arial MT"/>
              </a:rPr>
              <a:t>consistency,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agility,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seamless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enterprise-</a:t>
            </a:r>
            <a:r>
              <a:rPr sz="1100" dirty="0">
                <a:latin typeface="Arial MT"/>
                <a:cs typeface="Arial MT"/>
              </a:rPr>
              <a:t>wide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integration.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AutoNum type="arabicPeriod" startAt="7"/>
            </a:pPr>
            <a:endParaRPr sz="1100">
              <a:latin typeface="Arial MT"/>
              <a:cs typeface="Arial MT"/>
            </a:endParaRPr>
          </a:p>
          <a:p>
            <a:pPr marL="240665" marR="64135" indent="-228600">
              <a:lnSpc>
                <a:spcPct val="95700"/>
              </a:lnSpc>
              <a:buSzPct val="109090"/>
              <a:buAutoNum type="arabicPeriod" startAt="7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telecom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modernize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enterprise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landscape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simplification, </a:t>
            </a:r>
            <a:r>
              <a:rPr sz="1100" dirty="0">
                <a:latin typeface="Arial MT"/>
                <a:cs typeface="Arial MT"/>
              </a:rPr>
              <a:t>automation,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AI-</a:t>
            </a:r>
            <a:r>
              <a:rPr sz="1100" dirty="0">
                <a:latin typeface="Arial MT"/>
                <a:cs typeface="Arial MT"/>
              </a:rPr>
              <a:t>led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project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GenAI- 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self-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proactive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predictive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incident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resolution,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reliability.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also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introduce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Conversational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autonomous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dirty="0">
                <a:latin typeface="Arial MT"/>
                <a:cs typeface="Arial MT"/>
              </a:rPr>
              <a:t>dedicated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design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studio,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Designit,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 </a:t>
            </a:r>
            <a:r>
              <a:rPr sz="1100" dirty="0">
                <a:latin typeface="Arial MT"/>
                <a:cs typeface="Arial MT"/>
              </a:rPr>
              <a:t>serve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hub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rapid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ideation,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solutioning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reimagine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experiences.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AI-led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intelligent </a:t>
            </a:r>
            <a:r>
              <a:rPr sz="1100" dirty="0">
                <a:latin typeface="Arial MT"/>
                <a:cs typeface="Arial MT"/>
              </a:rPr>
              <a:t>automation,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overheads,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agility,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unlock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sustained productivity.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AutoNum type="arabicPeriod" startAt="7"/>
            </a:pPr>
            <a:endParaRPr sz="1100">
              <a:latin typeface="Arial MT"/>
              <a:cs typeface="Arial MT"/>
            </a:endParaRPr>
          </a:p>
          <a:p>
            <a:pPr marL="240665" marR="33655" indent="-228600">
              <a:lnSpc>
                <a:spcPct val="95300"/>
              </a:lnSpc>
              <a:buSzPct val="109090"/>
              <a:buAutoNum type="arabicPeriod" startAt="7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firm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renewed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enterprise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landscape.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continue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initiatives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modernization, </a:t>
            </a:r>
            <a:r>
              <a:rPr sz="1100" dirty="0">
                <a:latin typeface="Arial MT"/>
                <a:cs typeface="Arial MT"/>
              </a:rPr>
              <a:t>infrastructure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cybersecurity,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orchestration.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also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375" y="966520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304" y="788923"/>
            <a:ext cx="5997575" cy="821118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81965" marR="60325">
              <a:lnSpc>
                <a:spcPct val="95700"/>
              </a:lnSpc>
              <a:spcBef>
                <a:spcPts val="160"/>
              </a:spcBef>
            </a:pPr>
            <a:r>
              <a:rPr sz="1100" dirty="0">
                <a:latin typeface="Arial MT"/>
                <a:cs typeface="Arial MT"/>
              </a:rPr>
              <a:t>automate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middle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back-</a:t>
            </a:r>
            <a:r>
              <a:rPr sz="1100" dirty="0">
                <a:latin typeface="Arial MT"/>
                <a:cs typeface="Arial MT"/>
              </a:rPr>
              <a:t>office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tax,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onboarding,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accounting,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treasury,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servicing,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investor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portfolio </a:t>
            </a:r>
            <a:r>
              <a:rPr sz="1100" dirty="0">
                <a:latin typeface="Arial MT"/>
                <a:cs typeface="Arial MT"/>
              </a:rPr>
              <a:t>reporting.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ongoing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initiative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establish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roadmap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towards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outcome-based </a:t>
            </a:r>
            <a:r>
              <a:rPr sz="1100" dirty="0">
                <a:latin typeface="Arial MT"/>
                <a:cs typeface="Arial MT"/>
              </a:rPr>
              <a:t>managed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performance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quality,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pricing </a:t>
            </a:r>
            <a:r>
              <a:rPr sz="1100" dirty="0">
                <a:latin typeface="Arial MT"/>
                <a:cs typeface="Arial MT"/>
              </a:rPr>
              <a:t>transparency,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framework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long-</a:t>
            </a:r>
            <a:r>
              <a:rPr sz="1100" dirty="0">
                <a:latin typeface="Arial MT"/>
                <a:cs typeface="Arial MT"/>
              </a:rPr>
              <a:t>term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growth.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Analyst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Recognition</a:t>
            </a:r>
            <a:endParaRPr sz="1200">
              <a:latin typeface="Arial"/>
              <a:cs typeface="Arial"/>
            </a:endParaRPr>
          </a:p>
          <a:p>
            <a:pPr marL="478790" marR="19050" indent="-225425" algn="just">
              <a:lnSpc>
                <a:spcPct val="95900"/>
              </a:lnSpc>
              <a:spcBef>
                <a:spcPts val="1260"/>
              </a:spcBef>
              <a:buAutoNum type="arabicPeriod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named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IDC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MarketScape: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Worldwide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Engineering 	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Software-</a:t>
            </a:r>
            <a:r>
              <a:rPr sz="1100" dirty="0">
                <a:latin typeface="Arial MT"/>
                <a:cs typeface="Arial MT"/>
              </a:rPr>
              <a:t>Defined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Vehicles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(Doc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#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US51813124 	</a:t>
            </a:r>
            <a:r>
              <a:rPr sz="1100" dirty="0">
                <a:latin typeface="Arial MT"/>
                <a:cs typeface="Arial MT"/>
              </a:rPr>
              <a:t>Sept</a:t>
            </a:r>
            <a:r>
              <a:rPr sz="1100" spc="-10" dirty="0">
                <a:latin typeface="Arial MT"/>
                <a:cs typeface="Arial MT"/>
              </a:rPr>
              <a:t> 2025)</a:t>
            </a:r>
            <a:endParaRPr sz="1100">
              <a:latin typeface="Arial MT"/>
              <a:cs typeface="Arial MT"/>
            </a:endParaRPr>
          </a:p>
          <a:p>
            <a:pPr marL="478790" marR="19685" indent="-225425" algn="just">
              <a:lnSpc>
                <a:spcPts val="1270"/>
              </a:lnSpc>
              <a:spcBef>
                <a:spcPts val="25"/>
              </a:spcBef>
              <a:buAutoNum type="arabicPeriod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 was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recognized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Lens™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 Network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 Software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Defined 	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(multiple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9425" indent="-225425" algn="just">
              <a:lnSpc>
                <a:spcPts val="1205"/>
              </a:lnSpc>
              <a:buAutoNum type="arabicPeriod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ranked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Payor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81965">
              <a:lnSpc>
                <a:spcPts val="1270"/>
              </a:lnSpc>
            </a:pP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78790" marR="17780" indent="-225425">
              <a:lnSpc>
                <a:spcPts val="1260"/>
              </a:lnSpc>
              <a:spcBef>
                <a:spcPts val="60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ISG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Lens™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Cybersecurity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(all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8790" marR="20320" indent="-225425">
              <a:lnSpc>
                <a:spcPts val="1260"/>
              </a:lnSpc>
              <a:spcBef>
                <a:spcPts val="15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featured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Horizon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3 -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 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HFS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Semiconductor</a:t>
            </a:r>
            <a:r>
              <a:rPr sz="1100" spc="-10" dirty="0">
                <a:latin typeface="Arial MT"/>
                <a:cs typeface="Arial MT"/>
              </a:rPr>
              <a:t> Horizons: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Best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Value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Chain,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report.</a:t>
            </a:r>
            <a:endParaRPr sz="1100">
              <a:latin typeface="Arial MT"/>
              <a:cs typeface="Arial MT"/>
            </a:endParaRPr>
          </a:p>
          <a:p>
            <a:pPr marL="478790" marR="17780" indent="-225425">
              <a:lnSpc>
                <a:spcPts val="1260"/>
              </a:lnSpc>
              <a:spcBef>
                <a:spcPts val="10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recognized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Everest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Group's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Talent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Readiness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Next- 	</a:t>
            </a:r>
            <a:r>
              <a:rPr sz="1100" dirty="0">
                <a:latin typeface="Arial MT"/>
                <a:cs typeface="Arial MT"/>
              </a:rPr>
              <a:t>generation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PEAK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Matrix®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9425" indent="-225425">
              <a:lnSpc>
                <a:spcPts val="1205"/>
              </a:lnSpc>
              <a:buAutoNum type="arabicPeriod" startAt="4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ISG Provider Lens™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Google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Ecosystem</a:t>
            </a:r>
            <a:endParaRPr sz="1100">
              <a:latin typeface="Arial MT"/>
              <a:cs typeface="Arial MT"/>
            </a:endParaRPr>
          </a:p>
          <a:p>
            <a:pPr marL="481965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(all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8790" marR="17780" indent="-225425">
              <a:lnSpc>
                <a:spcPts val="1270"/>
              </a:lnSpc>
              <a:spcBef>
                <a:spcPts val="55"/>
              </a:spcBef>
              <a:buAutoNum type="arabicPeriod" startAt="8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Gartner®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Magic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Quadrant™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Public 	</a:t>
            </a:r>
            <a:r>
              <a:rPr sz="1100" dirty="0">
                <a:latin typeface="Arial MT"/>
                <a:cs typeface="Arial MT"/>
              </a:rPr>
              <a:t>Cloud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</a:t>
            </a:r>
            <a:endParaRPr sz="1100">
              <a:latin typeface="Arial MT"/>
              <a:cs typeface="Arial MT"/>
            </a:endParaRPr>
          </a:p>
          <a:p>
            <a:pPr marL="479425" indent="-225425">
              <a:lnSpc>
                <a:spcPts val="1200"/>
              </a:lnSpc>
              <a:buAutoNum type="arabicPeriod" startAt="8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recognized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Everest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Group’s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Capability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(GCC)</a:t>
            </a:r>
            <a:endParaRPr sz="1100">
              <a:latin typeface="Arial MT"/>
              <a:cs typeface="Arial MT"/>
            </a:endParaRPr>
          </a:p>
          <a:p>
            <a:pPr marL="481965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Capabilities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PEAK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Matrix®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9425" marR="22225" indent="-226060">
              <a:lnSpc>
                <a:spcPts val="1260"/>
              </a:lnSpc>
              <a:spcBef>
                <a:spcPts val="70"/>
              </a:spcBef>
              <a:buAutoNum type="arabicPeriod" startAt="10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 ranked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 Avasant's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Mortgage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 </a:t>
            </a:r>
            <a:r>
              <a:rPr sz="1100" spc="-10" dirty="0">
                <a:latin typeface="Arial MT"/>
                <a:cs typeface="Arial MT"/>
              </a:rPr>
              <a:t>Transformation 	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80059" indent="-226060">
              <a:lnSpc>
                <a:spcPts val="1210"/>
              </a:lnSpc>
              <a:buAutoNum type="arabicPeriod" startAt="10"/>
              <a:tabLst>
                <a:tab pos="480059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Utilities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79425" marR="20955" indent="-226060">
              <a:lnSpc>
                <a:spcPts val="1260"/>
              </a:lnSpc>
              <a:spcBef>
                <a:spcPts val="60"/>
              </a:spcBef>
              <a:buAutoNum type="arabicPeriod" startAt="10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Everest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Group's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Workplace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PEAK 	</a:t>
            </a:r>
            <a:r>
              <a:rPr sz="1100" dirty="0">
                <a:latin typeface="Arial MT"/>
                <a:cs typeface="Arial MT"/>
              </a:rPr>
              <a:t>Matrix®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Global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Arial MT"/>
              <a:cs typeface="Arial MT"/>
            </a:endParaRPr>
          </a:p>
          <a:p>
            <a:pPr marL="25400">
              <a:lnSpc>
                <a:spcPts val="106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Source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&amp;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Disclaimer: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*Gartner,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“Magic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Quadrant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Public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Cloud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Transformation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Services”,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Tobi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Bet,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August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ts val="1040"/>
              </a:lnSpc>
            </a:pPr>
            <a:r>
              <a:rPr sz="900" i="1" spc="-10" dirty="0">
                <a:latin typeface="Arial"/>
                <a:cs typeface="Arial"/>
              </a:rPr>
              <a:t>2025.</a:t>
            </a:r>
            <a:endParaRPr sz="900">
              <a:latin typeface="Arial"/>
              <a:cs typeface="Arial"/>
            </a:endParaRPr>
          </a:p>
          <a:p>
            <a:pPr marL="25400" marR="22860" algn="just">
              <a:lnSpc>
                <a:spcPts val="1030"/>
              </a:lnSpc>
              <a:spcBef>
                <a:spcPts val="50"/>
              </a:spcBef>
            </a:pPr>
            <a:r>
              <a:rPr sz="900" i="1" spc="-10" dirty="0">
                <a:latin typeface="Arial"/>
                <a:cs typeface="Arial"/>
              </a:rPr>
              <a:t>GARTNER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registered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trademark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and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mark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Gartner,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Inc.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and/or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affiliates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U.S.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internationally,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MAGIC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QUADRANT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1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registered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trademark</a:t>
            </a:r>
            <a:r>
              <a:rPr sz="900" i="1" spc="1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Gartner,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Inc.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and/or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1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affiliates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used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herein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with </a:t>
            </a:r>
            <a:r>
              <a:rPr sz="900" i="1" dirty="0">
                <a:latin typeface="Arial"/>
                <a:cs typeface="Arial"/>
              </a:rPr>
              <a:t>permission.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rights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reserved.</a:t>
            </a:r>
            <a:endParaRPr sz="900">
              <a:latin typeface="Arial"/>
              <a:cs typeface="Arial"/>
            </a:endParaRPr>
          </a:p>
          <a:p>
            <a:pPr marL="25400" marR="24765" algn="just">
              <a:lnSpc>
                <a:spcPts val="103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does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endorse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any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vendor,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product,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service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depicted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publications,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does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advise </a:t>
            </a:r>
            <a:r>
              <a:rPr sz="900" i="1" dirty="0">
                <a:latin typeface="Arial"/>
                <a:cs typeface="Arial"/>
              </a:rPr>
              <a:t>technology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users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select</a:t>
            </a:r>
            <a:r>
              <a:rPr sz="900" i="1" spc="18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only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those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vendors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highest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ratings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other</a:t>
            </a:r>
            <a:r>
              <a:rPr sz="900" i="1" spc="1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designation.</a:t>
            </a:r>
            <a:r>
              <a:rPr sz="900" i="1" spc="18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Gartner's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research </a:t>
            </a:r>
            <a:r>
              <a:rPr sz="900" i="1" dirty="0">
                <a:latin typeface="Arial"/>
                <a:cs typeface="Arial"/>
              </a:rPr>
              <a:t>publications consist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opinions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Gartner’s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organization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should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construed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statements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25400" marR="26034" algn="just">
              <a:lnSpc>
                <a:spcPts val="1040"/>
              </a:lnSpc>
            </a:pPr>
            <a:r>
              <a:rPr sz="900" i="1" dirty="0">
                <a:latin typeface="Arial"/>
                <a:cs typeface="Arial"/>
              </a:rPr>
              <a:t>fact.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disclaims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warranties,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expressed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implied,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respect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research,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including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any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warranties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merchantability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fitness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particular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purpose.</a:t>
            </a:r>
            <a:endParaRPr sz="900">
              <a:latin typeface="Arial"/>
              <a:cs typeface="Arial"/>
            </a:endParaRPr>
          </a:p>
          <a:p>
            <a:pPr marL="25400" marR="24765" algn="just">
              <a:lnSpc>
                <a:spcPts val="103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content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described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herein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(the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“Gartner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Content”)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represents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opinion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viewpoints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published,</a:t>
            </a:r>
            <a:r>
              <a:rPr sz="900" i="1" spc="-25" dirty="0">
                <a:latin typeface="Arial"/>
                <a:cs typeface="Arial"/>
              </a:rPr>
              <a:t> as </a:t>
            </a:r>
            <a:r>
              <a:rPr sz="900" i="1" dirty="0">
                <a:latin typeface="Arial"/>
                <a:cs typeface="Arial"/>
              </a:rPr>
              <a:t>part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syndicated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subscription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service,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Gartner,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Inc.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("Gartner"),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representation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fact.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Gartner </a:t>
            </a:r>
            <a:r>
              <a:rPr sz="900" i="1" dirty="0">
                <a:latin typeface="Arial"/>
                <a:cs typeface="Arial"/>
              </a:rPr>
              <a:t>Content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speaks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original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publication</a:t>
            </a:r>
            <a:r>
              <a:rPr sz="900" i="1" spc="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(and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1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press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release,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opinions</a:t>
            </a:r>
            <a:endParaRPr sz="900">
              <a:latin typeface="Arial"/>
              <a:cs typeface="Arial"/>
            </a:endParaRPr>
          </a:p>
          <a:p>
            <a:pPr marL="25400" algn="just">
              <a:lnSpc>
                <a:spcPts val="1019"/>
              </a:lnSpc>
            </a:pPr>
            <a:r>
              <a:rPr sz="900" i="1" dirty="0">
                <a:latin typeface="Arial"/>
                <a:cs typeface="Arial"/>
              </a:rPr>
              <a:t>expressed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Content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subject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change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without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notice.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900">
              <a:latin typeface="Arial"/>
              <a:cs typeface="Arial"/>
            </a:endParaRPr>
          </a:p>
          <a:p>
            <a:pPr marL="25400" algn="just">
              <a:lnSpc>
                <a:spcPct val="100000"/>
              </a:lnSpc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</a:t>
            </a:r>
            <a:r>
              <a:rPr sz="11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1100">
              <a:latin typeface="Arial"/>
              <a:cs typeface="Arial"/>
            </a:endParaRPr>
          </a:p>
          <a:p>
            <a:pPr marL="424815" indent="-170815">
              <a:lnSpc>
                <a:spcPts val="1290"/>
              </a:lnSpc>
              <a:spcBef>
                <a:spcPts val="1210"/>
              </a:spcBef>
              <a:buAutoNum type="arabicPeriod"/>
              <a:tabLst>
                <a:tab pos="42481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35" dirty="0">
                <a:latin typeface="Arial MT"/>
                <a:cs typeface="Arial MT"/>
              </a:rPr>
              <a:t>₹1.1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($12.7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</a:t>
            </a:r>
            <a:r>
              <a:rPr sz="1050" spc="-15" baseline="31746" dirty="0">
                <a:latin typeface="Arial MT"/>
                <a:cs typeface="Arial MT"/>
              </a:rPr>
              <a:t>1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24815" indent="-170815">
              <a:lnSpc>
                <a:spcPts val="1290"/>
              </a:lnSpc>
              <a:buAutoNum type="arabicPeriod"/>
              <a:tabLst>
                <a:tab pos="42481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35" dirty="0">
                <a:latin typeface="Arial MT"/>
                <a:cs typeface="Arial MT"/>
              </a:rPr>
              <a:t>₹0.1</a:t>
            </a:r>
            <a:r>
              <a:rPr sz="1100" dirty="0">
                <a:latin typeface="Arial MT"/>
                <a:cs typeface="Arial MT"/>
              </a:rPr>
              <a:t> billion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($1.1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</a:t>
            </a:r>
            <a:r>
              <a:rPr sz="1050" spc="-15" baseline="31746" dirty="0">
                <a:latin typeface="Arial MT"/>
                <a:cs typeface="Arial MT"/>
              </a:rPr>
              <a:t>1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329" y="9714820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175" cy="712660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6350" algn="just">
              <a:lnSpc>
                <a:spcPts val="1260"/>
              </a:lnSpc>
              <a:spcBef>
                <a:spcPts val="195"/>
              </a:spcBef>
            </a:pPr>
            <a:r>
              <a:rPr sz="1100" dirty="0">
                <a:latin typeface="Arial MT"/>
                <a:cs typeface="Arial MT"/>
              </a:rPr>
              <a:t>Please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table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page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reconciliation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between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basis.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About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Metrics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Non-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Financial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2700" marR="5715" algn="just">
              <a:lnSpc>
                <a:spcPct val="95700"/>
              </a:lnSpc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release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within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meaning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Regulation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Item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10(e)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Regulation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S-</a:t>
            </a:r>
            <a:r>
              <a:rPr sz="1100" dirty="0">
                <a:latin typeface="Arial MT"/>
                <a:cs typeface="Arial MT"/>
              </a:rPr>
              <a:t>K.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are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historical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performance,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position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flows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adjusted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exclude 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 amounts that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 excluded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 included,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 be, 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most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calculated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presented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IFRS.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95800"/>
              </a:lnSpc>
              <a:spcBef>
                <a:spcPts val="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table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page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13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provides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Revenue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constant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currency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basis,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which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non- 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calculated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translating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current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period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U.S.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dollars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conversion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effect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prior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period.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viewed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without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impact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fluctuations 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foreign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 rates,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thereby </a:t>
            </a:r>
            <a:r>
              <a:rPr sz="1100" spc="-10" dirty="0">
                <a:latin typeface="Arial MT"/>
                <a:cs typeface="Arial MT"/>
              </a:rPr>
              <a:t>facilitating period-to-</a:t>
            </a:r>
            <a:r>
              <a:rPr sz="1100" dirty="0">
                <a:latin typeface="Arial MT"/>
                <a:cs typeface="Arial MT"/>
              </a:rPr>
              <a:t>period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comparisons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performance.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Further,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normal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course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business,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divest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portion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both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reported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adjusting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divestments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order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represent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95800"/>
              </a:lnSpc>
            </a:pP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 financial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comprehensive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accounting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rules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principles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considered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substitute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superior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calculated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different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other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companies.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spc="-20" dirty="0">
                <a:latin typeface="Arial MT"/>
                <a:cs typeface="Arial MT"/>
              </a:rPr>
              <a:t>GAAP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nor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substituted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analysis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our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involve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estimates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judgments.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addition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measures,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prepared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reconciliation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non- 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carefully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evaluated.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20955">
              <a:lnSpc>
                <a:spcPct val="95900"/>
              </a:lnSpc>
            </a:pPr>
            <a:r>
              <a:rPr sz="1100" b="1" dirty="0">
                <a:latin typeface="Arial"/>
                <a:cs typeface="Arial"/>
              </a:rPr>
              <a:t>Results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Quarter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September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2025,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prepared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under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IFRS,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along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with </a:t>
            </a:r>
            <a:r>
              <a:rPr sz="1100" b="1" dirty="0">
                <a:latin typeface="Arial"/>
                <a:cs typeface="Arial"/>
              </a:rPr>
              <a:t>individual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business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segment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reports,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available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Investors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section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our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website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www.wipro.com/investors/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sz="1100" b="1" dirty="0">
                <a:latin typeface="Arial"/>
                <a:cs typeface="Arial"/>
              </a:rPr>
              <a:t>Quarterly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Conference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Call</a:t>
            </a:r>
            <a:endParaRPr sz="1100">
              <a:latin typeface="Arial"/>
              <a:cs typeface="Arial"/>
            </a:endParaRPr>
          </a:p>
          <a:p>
            <a:pPr marL="12700" marR="144145">
              <a:lnSpc>
                <a:spcPct val="95800"/>
              </a:lnSpc>
              <a:spcBef>
                <a:spcPts val="25"/>
              </a:spcBef>
            </a:pPr>
            <a:r>
              <a:rPr sz="1100" dirty="0">
                <a:latin typeface="Arial MT"/>
                <a:cs typeface="Arial MT"/>
              </a:rPr>
              <a:t>We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hold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earnings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conference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07:00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p.m.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(8:30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a.m. </a:t>
            </a:r>
            <a:r>
              <a:rPr sz="1100" dirty="0">
                <a:latin typeface="Arial MT"/>
                <a:cs typeface="Arial MT"/>
              </a:rPr>
              <a:t>U.S.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Eastern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discuss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conference </a:t>
            </a:r>
            <a:r>
              <a:rPr sz="1100" dirty="0">
                <a:latin typeface="Arial MT"/>
                <a:cs typeface="Arial MT"/>
              </a:rPr>
              <a:t>call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online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webcast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link-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https://links.ccwebcast.com/?EventId=WIP16102025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Arial MT"/>
              <a:cs typeface="Arial MT"/>
            </a:endParaRPr>
          </a:p>
          <a:p>
            <a:pPr marL="12700" marR="181610">
              <a:lnSpc>
                <a:spcPct val="95900"/>
              </a:lnSpc>
            </a:pP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recording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discussions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question-and-</a:t>
            </a:r>
            <a:r>
              <a:rPr sz="1100" dirty="0">
                <a:latin typeface="Arial MT"/>
                <a:cs typeface="Arial MT"/>
              </a:rPr>
              <a:t>answer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session</a:t>
            </a:r>
            <a:r>
              <a:rPr sz="1100" spc="-20" dirty="0">
                <a:latin typeface="Arial MT"/>
                <a:cs typeface="Arial MT"/>
              </a:rPr>
              <a:t> will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online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accessible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Investor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Relations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website</a:t>
            </a:r>
            <a:r>
              <a:rPr sz="1100" spc="-25" dirty="0">
                <a:latin typeface="Arial MT"/>
                <a:cs typeface="Arial MT"/>
              </a:rPr>
              <a:t> at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www.wipro.com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2875" y="9716816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175" cy="147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About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Wipro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Limited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900"/>
              </a:lnSpc>
              <a:spcBef>
                <a:spcPts val="1260"/>
              </a:spcBef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(NYSE: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WIT,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BSE: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507685,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NSE: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WIPRO)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consulting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building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innovative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address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clients’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-10" dirty="0">
                <a:latin typeface="Arial MT"/>
                <a:cs typeface="Arial MT"/>
              </a:rPr>
              <a:t> complex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needs.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holistic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portfolio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capabilities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consulting,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design, engineering,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help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realize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their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boldest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ambitions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build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future-ready, </a:t>
            </a:r>
            <a:r>
              <a:rPr sz="1100" dirty="0">
                <a:latin typeface="Arial MT"/>
                <a:cs typeface="Arial MT"/>
              </a:rPr>
              <a:t>sustainable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businesses.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</a:t>
            </a:r>
            <a:r>
              <a:rPr sz="1100" spc="3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230,000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employees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65 </a:t>
            </a:r>
            <a:r>
              <a:rPr sz="1100" dirty="0">
                <a:latin typeface="Arial MT"/>
                <a:cs typeface="Arial MT"/>
              </a:rPr>
              <a:t>countries,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promise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colleagues,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communities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thrive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ever-</a:t>
            </a:r>
            <a:r>
              <a:rPr sz="1100" dirty="0">
                <a:latin typeface="Arial MT"/>
                <a:cs typeface="Arial MT"/>
              </a:rPr>
              <a:t>changing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world.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additional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information,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visit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www.wipro.com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704" y="2431033"/>
            <a:ext cx="5466080" cy="591820"/>
          </a:xfrm>
          <a:custGeom>
            <a:avLst/>
            <a:gdLst/>
            <a:ahLst/>
            <a:cxnLst/>
            <a:rect l="l" t="t" r="r" b="b"/>
            <a:pathLst>
              <a:path w="5466080" h="591819">
                <a:moveTo>
                  <a:pt x="2784602" y="0"/>
                </a:move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269748"/>
                </a:lnTo>
                <a:lnTo>
                  <a:pt x="0" y="431292"/>
                </a:lnTo>
                <a:lnTo>
                  <a:pt x="0" y="591312"/>
                </a:lnTo>
                <a:lnTo>
                  <a:pt x="12192" y="591312"/>
                </a:lnTo>
                <a:lnTo>
                  <a:pt x="12192" y="431292"/>
                </a:lnTo>
                <a:lnTo>
                  <a:pt x="12192" y="269748"/>
                </a:lnTo>
                <a:lnTo>
                  <a:pt x="12192" y="12192"/>
                </a:lnTo>
                <a:lnTo>
                  <a:pt x="2784602" y="12192"/>
                </a:lnTo>
                <a:lnTo>
                  <a:pt x="2784602" y="0"/>
                </a:lnTo>
                <a:close/>
              </a:path>
              <a:path w="5466080" h="591819">
                <a:moveTo>
                  <a:pt x="3027235" y="0"/>
                </a:moveTo>
                <a:lnTo>
                  <a:pt x="3015056" y="0"/>
                </a:lnTo>
                <a:lnTo>
                  <a:pt x="2797175" y="0"/>
                </a:lnTo>
                <a:lnTo>
                  <a:pt x="2784678" y="0"/>
                </a:lnTo>
                <a:lnTo>
                  <a:pt x="2784678" y="12192"/>
                </a:lnTo>
                <a:lnTo>
                  <a:pt x="2797124" y="12192"/>
                </a:lnTo>
                <a:lnTo>
                  <a:pt x="3015056" y="12192"/>
                </a:lnTo>
                <a:lnTo>
                  <a:pt x="3027235" y="12192"/>
                </a:lnTo>
                <a:lnTo>
                  <a:pt x="3027235" y="0"/>
                </a:lnTo>
                <a:close/>
              </a:path>
              <a:path w="5466080" h="591819">
                <a:moveTo>
                  <a:pt x="5453710" y="0"/>
                </a:moveTo>
                <a:lnTo>
                  <a:pt x="3027248" y="0"/>
                </a:lnTo>
                <a:lnTo>
                  <a:pt x="3027248" y="12192"/>
                </a:lnTo>
                <a:lnTo>
                  <a:pt x="5453710" y="12192"/>
                </a:lnTo>
                <a:lnTo>
                  <a:pt x="5453710" y="0"/>
                </a:lnTo>
                <a:close/>
              </a:path>
              <a:path w="5466080" h="591819">
                <a:moveTo>
                  <a:pt x="5466029" y="0"/>
                </a:moveTo>
                <a:lnTo>
                  <a:pt x="5453837" y="0"/>
                </a:lnTo>
                <a:lnTo>
                  <a:pt x="5453837" y="12192"/>
                </a:lnTo>
                <a:lnTo>
                  <a:pt x="5453837" y="269748"/>
                </a:lnTo>
                <a:lnTo>
                  <a:pt x="5453837" y="431292"/>
                </a:lnTo>
                <a:lnTo>
                  <a:pt x="5453837" y="591312"/>
                </a:lnTo>
                <a:lnTo>
                  <a:pt x="5466029" y="591312"/>
                </a:lnTo>
                <a:lnTo>
                  <a:pt x="5466029" y="431292"/>
                </a:lnTo>
                <a:lnTo>
                  <a:pt x="5466029" y="269748"/>
                </a:lnTo>
                <a:lnTo>
                  <a:pt x="5466029" y="12192"/>
                </a:lnTo>
                <a:lnTo>
                  <a:pt x="54660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9380" y="2429611"/>
            <a:ext cx="2008505" cy="769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latin typeface="Arial"/>
                <a:cs typeface="Arial"/>
              </a:rPr>
              <a:t>Contact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Investor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Relations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295"/>
              </a:lnSpc>
              <a:spcBef>
                <a:spcPts val="325"/>
              </a:spcBef>
            </a:pPr>
            <a:r>
              <a:rPr sz="1100" dirty="0">
                <a:latin typeface="Arial MT"/>
                <a:cs typeface="Arial MT"/>
              </a:rPr>
              <a:t>Abhishek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Jain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85"/>
              </a:lnSpc>
            </a:pPr>
            <a:r>
              <a:rPr sz="1100" dirty="0">
                <a:latin typeface="Arial MT"/>
                <a:cs typeface="Arial MT"/>
              </a:rPr>
              <a:t>Phone: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+91-80-</a:t>
            </a:r>
            <a:r>
              <a:rPr sz="1100" dirty="0">
                <a:latin typeface="Arial MT"/>
                <a:cs typeface="Arial MT"/>
              </a:rPr>
              <a:t>6142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6143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310"/>
              </a:lnSpc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abhishek.jain2@wipro.com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8216" y="3159886"/>
            <a:ext cx="26034" cy="3175"/>
          </a:xfrm>
          <a:custGeom>
            <a:avLst/>
            <a:gdLst/>
            <a:ahLst/>
            <a:cxnLst/>
            <a:rect l="l" t="t" r="r" b="b"/>
            <a:pathLst>
              <a:path w="26035" h="3175">
                <a:moveTo>
                  <a:pt x="25908" y="0"/>
                </a:moveTo>
                <a:lnTo>
                  <a:pt x="0" y="0"/>
                </a:lnTo>
                <a:lnTo>
                  <a:pt x="0" y="3048"/>
                </a:lnTo>
                <a:lnTo>
                  <a:pt x="25908" y="3048"/>
                </a:lnTo>
                <a:lnTo>
                  <a:pt x="25908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98340" y="2429611"/>
            <a:ext cx="1751330" cy="769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latin typeface="Arial"/>
                <a:cs typeface="Arial"/>
              </a:rPr>
              <a:t>Contact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Media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Press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295"/>
              </a:lnSpc>
              <a:spcBef>
                <a:spcPts val="325"/>
              </a:spcBef>
            </a:pPr>
            <a:r>
              <a:rPr sz="1100" dirty="0">
                <a:latin typeface="Arial MT"/>
                <a:cs typeface="Arial MT"/>
              </a:rPr>
              <a:t>Dinesh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Joshi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85"/>
              </a:lnSpc>
            </a:pPr>
            <a:r>
              <a:rPr sz="1100" dirty="0">
                <a:latin typeface="Arial MT"/>
                <a:cs typeface="Arial MT"/>
              </a:rPr>
              <a:t>Phone: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+91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92052-</a:t>
            </a:r>
            <a:r>
              <a:rPr sz="1100" spc="-20" dirty="0">
                <a:latin typeface="Arial MT"/>
                <a:cs typeface="Arial MT"/>
              </a:rPr>
              <a:t>64001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310"/>
              </a:lnSpc>
            </a:pP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media-relations@wipro.com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704" y="3022421"/>
            <a:ext cx="5466080" cy="183515"/>
          </a:xfrm>
          <a:custGeom>
            <a:avLst/>
            <a:gdLst/>
            <a:ahLst/>
            <a:cxnLst/>
            <a:rect l="l" t="t" r="r" b="b"/>
            <a:pathLst>
              <a:path w="5466080" h="183514">
                <a:moveTo>
                  <a:pt x="3018091" y="170992"/>
                </a:moveTo>
                <a:lnTo>
                  <a:pt x="3018091" y="170992"/>
                </a:lnTo>
                <a:lnTo>
                  <a:pt x="12192" y="170992"/>
                </a:lnTo>
                <a:lnTo>
                  <a:pt x="12192" y="0"/>
                </a:lnTo>
                <a:lnTo>
                  <a:pt x="0" y="0"/>
                </a:lnTo>
                <a:lnTo>
                  <a:pt x="0" y="170992"/>
                </a:lnTo>
                <a:lnTo>
                  <a:pt x="0" y="183184"/>
                </a:lnTo>
                <a:lnTo>
                  <a:pt x="3018091" y="183184"/>
                </a:lnTo>
                <a:lnTo>
                  <a:pt x="3018091" y="170992"/>
                </a:lnTo>
                <a:close/>
              </a:path>
              <a:path w="5466080" h="183514">
                <a:moveTo>
                  <a:pt x="5453710" y="170992"/>
                </a:moveTo>
                <a:lnTo>
                  <a:pt x="3018104" y="170992"/>
                </a:lnTo>
                <a:lnTo>
                  <a:pt x="3018104" y="183184"/>
                </a:lnTo>
                <a:lnTo>
                  <a:pt x="5453710" y="183184"/>
                </a:lnTo>
                <a:lnTo>
                  <a:pt x="5453710" y="170992"/>
                </a:lnTo>
                <a:close/>
              </a:path>
              <a:path w="5466080" h="183514">
                <a:moveTo>
                  <a:pt x="5466029" y="0"/>
                </a:moveTo>
                <a:lnTo>
                  <a:pt x="5453837" y="0"/>
                </a:lnTo>
                <a:lnTo>
                  <a:pt x="5453837" y="170992"/>
                </a:lnTo>
                <a:lnTo>
                  <a:pt x="5453837" y="183184"/>
                </a:lnTo>
                <a:lnTo>
                  <a:pt x="5466029" y="183184"/>
                </a:lnTo>
                <a:lnTo>
                  <a:pt x="5466029" y="170992"/>
                </a:lnTo>
                <a:lnTo>
                  <a:pt x="54660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2004" y="3359023"/>
            <a:ext cx="5972175" cy="437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295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Forward-</a:t>
            </a:r>
            <a:r>
              <a:rPr sz="1100" b="1" dirty="0">
                <a:latin typeface="Arial"/>
                <a:cs typeface="Arial"/>
              </a:rPr>
              <a:t>Looking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Statements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800"/>
              </a:lnSpc>
              <a:spcBef>
                <a:spcPts val="3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contained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herein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represent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beliefs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future </a:t>
            </a:r>
            <a:r>
              <a:rPr sz="1100" dirty="0">
                <a:latin typeface="Arial MT"/>
                <a:cs typeface="Arial MT"/>
              </a:rPr>
              <a:t>events,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nature,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inherently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outside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control.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Such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prospects,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its </a:t>
            </a:r>
            <a:r>
              <a:rPr sz="1100" spc="-10" dirty="0">
                <a:latin typeface="Arial MT"/>
                <a:cs typeface="Arial MT"/>
              </a:rPr>
              <a:t>future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benefits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experience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plans,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expectations </a:t>
            </a:r>
            <a:r>
              <a:rPr sz="1100" dirty="0">
                <a:latin typeface="Arial MT"/>
                <a:cs typeface="Arial MT"/>
              </a:rPr>
              <a:t>and intentions.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cautions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readers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 contained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herein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are </a:t>
            </a:r>
            <a:r>
              <a:rPr sz="1100" spc="-10" dirty="0">
                <a:latin typeface="Arial MT"/>
                <a:cs typeface="Arial MT"/>
              </a:rPr>
              <a:t>subject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risks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uncertainties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could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cause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actual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differ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materially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from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 </a:t>
            </a:r>
            <a:r>
              <a:rPr sz="1100" dirty="0">
                <a:latin typeface="Arial MT"/>
                <a:cs typeface="Arial MT"/>
              </a:rPr>
              <a:t>anticipated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risks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risks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uncertainties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fluctuations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earnings,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profits,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generate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complete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proposed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corporate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actions,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intense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competition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advantage,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attract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retain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highly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skilled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professionals,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overruns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fixed-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fixed-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frame </a:t>
            </a:r>
            <a:r>
              <a:rPr sz="1100" dirty="0">
                <a:latin typeface="Arial MT"/>
                <a:cs typeface="Arial MT"/>
              </a:rPr>
              <a:t>contracts,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concentration,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restrictions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immigration,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international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reduced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demand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focus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areas,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disruptions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telecommunication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networks,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successfully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complete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integrate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potential acquisitions,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liability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damages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companies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which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 investments,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withdrawal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fiscal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governmental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incentives,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political</a:t>
            </a:r>
            <a:r>
              <a:rPr sz="1100" spc="-10" dirty="0">
                <a:latin typeface="Arial MT"/>
                <a:cs typeface="Arial MT"/>
              </a:rPr>
              <a:t> instability, </a:t>
            </a:r>
            <a:r>
              <a:rPr sz="1100" dirty="0">
                <a:latin typeface="Arial MT"/>
                <a:cs typeface="Arial MT"/>
              </a:rPr>
              <a:t>war,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legal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restrictions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 raising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capital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acquiring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companies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outside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unauthorized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use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intellectual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property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economic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conditions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affecting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6985" algn="just">
              <a:lnSpc>
                <a:spcPct val="95800"/>
              </a:lnSpc>
            </a:pPr>
            <a:r>
              <a:rPr sz="1100" spc="-10" dirty="0">
                <a:latin typeface="Arial MT"/>
                <a:cs typeface="Arial MT"/>
              </a:rPr>
              <a:t>Additional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risks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could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affect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described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filings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United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Securities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Exchange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Commission,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including,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limited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Annual </a:t>
            </a:r>
            <a:r>
              <a:rPr sz="1100" dirty="0">
                <a:latin typeface="Arial MT"/>
                <a:cs typeface="Arial MT"/>
              </a:rPr>
              <a:t>Reports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20-F.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filings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5"/>
              </a:rPr>
              <a:t>www.sec.gov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may,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time, </a:t>
            </a:r>
            <a:r>
              <a:rPr sz="1100" dirty="0">
                <a:latin typeface="Arial MT"/>
                <a:cs typeface="Arial MT"/>
              </a:rPr>
              <a:t>make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additional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written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oral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including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contained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company’s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filings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Securities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Commission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reports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shareholders.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undertake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update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made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 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0" dirty="0">
                <a:latin typeface="Arial MT"/>
                <a:cs typeface="Arial MT"/>
              </a:rPr>
              <a:t> behalf.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2071" y="8661603"/>
            <a:ext cx="108839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29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# </a:t>
            </a:r>
            <a:r>
              <a:rPr sz="1100" spc="-50" dirty="0">
                <a:latin typeface="Arial MT"/>
                <a:cs typeface="Arial MT"/>
              </a:rPr>
              <a:t>#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(Tables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1295" y="9688538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31061"/>
          <a:ext cx="6169025" cy="7917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3460"/>
                <a:gridCol w="224155"/>
                <a:gridCol w="1186815"/>
                <a:gridCol w="1409064"/>
                <a:gridCol w="984250"/>
              </a:tblGrid>
              <a:tr h="539115">
                <a:tc gridSpan="5"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WIPRO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SUBSIDIARIES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0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INTERIM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CONDENSED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CONSOLIDATED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STATEMENTS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POSITION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(₹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millions,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except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unless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otherwise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stated)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37460">
                        <a:lnSpc>
                          <a:spcPct val="100000"/>
                        </a:lnSpc>
                        <a:spcBef>
                          <a:spcPts val="515"/>
                        </a:spcBef>
                        <a:tabLst>
                          <a:tab pos="4255135" algn="l"/>
                        </a:tabLst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March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31,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As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September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30,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7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6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987550">
                        <a:lnSpc>
                          <a:spcPts val="75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7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U.S.</a:t>
                      </a:r>
                      <a:r>
                        <a:rPr sz="7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Dollar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923414">
                        <a:lnSpc>
                          <a:spcPts val="73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millions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(unaudited)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 rate of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₹88.78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7950">
                <a:tc>
                  <a:txBody>
                    <a:bodyPr/>
                    <a:lstStyle/>
                    <a:p>
                      <a:pPr marL="2540">
                        <a:lnSpc>
                          <a:spcPts val="75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Goodwill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325,014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339,417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3,823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Intangible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27,450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25,108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283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235">
                <a:tc>
                  <a:txBody>
                    <a:bodyPr/>
                    <a:lstStyle/>
                    <a:p>
                      <a:pPr marL="250825">
                        <a:lnSpc>
                          <a:spcPts val="71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Property,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plant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equipment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80,684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79,067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891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870">
                <a:tc>
                  <a:txBody>
                    <a:bodyPr/>
                    <a:lstStyle/>
                    <a:p>
                      <a:pPr marL="250825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Right-of-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25,598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28,079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^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3110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26,458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42,831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483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299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638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4,664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4,821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1,327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1,586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3189">
                <a:tc>
                  <a:txBody>
                    <a:bodyPr/>
                    <a:lstStyle/>
                    <a:p>
                      <a:pPr marL="250825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Deferred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2,561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3,692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7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42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Contract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1790" algn="r">
                        <a:lnSpc>
                          <a:spcPts val="61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1,728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250825">
                        <a:lnSpc>
                          <a:spcPts val="765"/>
                        </a:lnSpc>
                        <a:spcBef>
                          <a:spcPts val="1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65"/>
                        </a:lnSpc>
                        <a:spcBef>
                          <a:spcPts val="1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7,230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65"/>
                        </a:lnSpc>
                        <a:spcBef>
                          <a:spcPts val="1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6,398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65"/>
                        </a:lnSpc>
                        <a:spcBef>
                          <a:spcPts val="13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0825">
                        <a:lnSpc>
                          <a:spcPts val="73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7,460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7,974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>
                  <a:txBody>
                    <a:bodyPr/>
                    <a:lstStyle/>
                    <a:p>
                      <a:pPr marL="126364">
                        <a:lnSpc>
                          <a:spcPts val="79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508,745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541,339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6,098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250825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Inventories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5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694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5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5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1,820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66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^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411,474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380,582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4,287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Cash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cash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equivalents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121,974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130,837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1,474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117,745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118,626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1,336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235">
                <a:tc>
                  <a:txBody>
                    <a:bodyPr/>
                    <a:lstStyle/>
                    <a:p>
                      <a:pPr marL="497840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Unbilled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64,280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74,475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839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235">
                <a:tc>
                  <a:txBody>
                    <a:bodyPr/>
                    <a:lstStyle/>
                    <a:p>
                      <a:pPr marL="497840">
                        <a:lnSpc>
                          <a:spcPts val="71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8,448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8,919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Contract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15,795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14,982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169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6,417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8,617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0825">
                        <a:lnSpc>
                          <a:spcPts val="73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29,128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31,541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126364">
                        <a:lnSpc>
                          <a:spcPts val="82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777,775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769,336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8,665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 marL="2540">
                        <a:lnSpc>
                          <a:spcPts val="790"/>
                        </a:lnSpc>
                        <a:spcBef>
                          <a:spcPts val="9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90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1,286,520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ts val="790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1,310,675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90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14,763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7635">
                <a:tc>
                  <a:txBody>
                    <a:bodyPr/>
                    <a:lstStyle/>
                    <a:p>
                      <a:pPr marL="2540">
                        <a:lnSpc>
                          <a:spcPts val="765"/>
                        </a:lnSpc>
                        <a:spcBef>
                          <a:spcPts val="14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2235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capital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20,944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20,968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236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premium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2,628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5,144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Retained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earnings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716,477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731,071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8,235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Share-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payment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reserve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6,985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6,169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Special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Economic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Re-investment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reserve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27,778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26,596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300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marL="250825">
                        <a:lnSpc>
                          <a:spcPts val="74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53,497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70,766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4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797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126364" marR="381000">
                        <a:lnSpc>
                          <a:spcPts val="80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Company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828,309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860,714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9,695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126364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Non-controlling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interests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2,138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1,906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>
                  <a:txBody>
                    <a:bodyPr/>
                    <a:lstStyle/>
                    <a:p>
                      <a:pPr marL="2540">
                        <a:lnSpc>
                          <a:spcPts val="77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830,447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862,620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9,716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marL="2540">
                        <a:lnSpc>
                          <a:spcPts val="765"/>
                        </a:lnSpc>
                        <a:spcBef>
                          <a:spcPts val="2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Loans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borrowings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63,954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3110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70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marL="497840">
                        <a:lnSpc>
                          <a:spcPts val="77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Lease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22,193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25,119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7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283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4978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1790" algn="r">
                        <a:lnSpc>
                          <a:spcPts val="61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66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^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7635">
                <a:tc>
                  <a:txBody>
                    <a:bodyPr/>
                    <a:lstStyle/>
                    <a:p>
                      <a:pPr marL="497840">
                        <a:lnSpc>
                          <a:spcPts val="765"/>
                        </a:lnSpc>
                        <a:spcBef>
                          <a:spcPts val="14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65"/>
                        </a:lnSpc>
                        <a:spcBef>
                          <a:spcPts val="14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7,793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65"/>
                        </a:lnSpc>
                        <a:spcBef>
                          <a:spcPts val="14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5,503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65"/>
                        </a:lnSpc>
                        <a:spcBef>
                          <a:spcPts val="14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Deferred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16,443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15,189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171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42,024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41,010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462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17,119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20,031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226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0825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Provisions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294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3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 marL="149225">
                        <a:lnSpc>
                          <a:spcPts val="79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non-current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169,820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107,084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9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250825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Loans,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borrowings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and bank</a:t>
                      </a:r>
                      <a:r>
                        <a:rPr sz="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overdrafts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97,863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128,507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1,447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Lease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8,011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968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4,696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497840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payables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accrued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88,252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89,171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1,004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870">
                <a:tc>
                  <a:txBody>
                    <a:bodyPr/>
                    <a:lstStyle/>
                    <a:p>
                      <a:pPr marL="497840">
                        <a:lnSpc>
                          <a:spcPts val="71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3,878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6,084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2235">
                <a:tc>
                  <a:txBody>
                    <a:bodyPr/>
                    <a:lstStyle/>
                    <a:p>
                      <a:pPr marL="250825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Contract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20,063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1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21,315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1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34,481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47,937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250825">
                        <a:lnSpc>
                          <a:spcPts val="70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31,086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33,803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0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381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0825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Provisions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1,637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802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1,447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>
                  <a:txBody>
                    <a:bodyPr/>
                    <a:lstStyle/>
                    <a:p>
                      <a:pPr marL="126364">
                        <a:lnSpc>
                          <a:spcPts val="77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286,253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340,971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3,840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095">
                <a:tc>
                  <a:txBody>
                    <a:bodyPr/>
                    <a:lstStyle/>
                    <a:p>
                      <a:pPr marL="2540">
                        <a:lnSpc>
                          <a:spcPts val="82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456,073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448,055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82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5,047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2540">
                        <a:lnSpc>
                          <a:spcPts val="805"/>
                        </a:lnSpc>
                        <a:spcBef>
                          <a:spcPts val="9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ts val="805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1,286,520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ts val="805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1,310,675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805"/>
                        </a:lnSpc>
                        <a:spcBef>
                          <a:spcPts val="9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14,763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marL="126364">
                        <a:lnSpc>
                          <a:spcPts val="780"/>
                        </a:lnSpc>
                        <a:spcBef>
                          <a:spcPts val="65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^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1450" y="965198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329182"/>
          <a:ext cx="6021070" cy="548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  <a:gridCol w="216534"/>
                <a:gridCol w="614044"/>
                <a:gridCol w="814069"/>
                <a:gridCol w="859789"/>
                <a:gridCol w="603885"/>
                <a:gridCol w="816610"/>
                <a:gridCol w="857885"/>
              </a:tblGrid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188595">
                        <a:lnSpc>
                          <a:spcPts val="76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WIPRO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SUBSIDIARIES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50495">
                        <a:lnSpc>
                          <a:spcPts val="72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INTERIM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CONDENSED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CONSOLIDATED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STATEMENTS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254000">
                        <a:lnSpc>
                          <a:spcPts val="78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(₹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millions,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except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unless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otherwise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stated)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64184">
                        <a:lnSpc>
                          <a:spcPts val="805"/>
                        </a:lnSpc>
                        <a:spcBef>
                          <a:spcPts val="360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months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ended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September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30,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14350">
                        <a:lnSpc>
                          <a:spcPts val="805"/>
                        </a:lnSpc>
                        <a:spcBef>
                          <a:spcPts val="360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Six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months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ended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September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30,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2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50240" marR="64135" indent="28575" algn="just">
                        <a:lnSpc>
                          <a:spcPts val="800"/>
                        </a:lnSpc>
                        <a:spcBef>
                          <a:spcPts val="4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70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dollar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(unaudited)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 rate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05840">
                        <a:lnSpc>
                          <a:spcPts val="74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₹88.78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25475" marR="31115" indent="23495" algn="ctr">
                        <a:lnSpc>
                          <a:spcPts val="800"/>
                        </a:lnSpc>
                        <a:spcBef>
                          <a:spcPts val="4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70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U.S.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Dollar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(unaudited)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 rate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86740" algn="ctr">
                        <a:lnSpc>
                          <a:spcPts val="74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₹88.78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1125">
                <a:tc>
                  <a:txBody>
                    <a:bodyPr/>
                    <a:lstStyle/>
                    <a:p>
                      <a:pPr marL="126364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Revenues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223,016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8760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226,973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2,557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442,654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0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448,319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5,050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126364">
                        <a:lnSpc>
                          <a:spcPts val="75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revenues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(155,049)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(159,832)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(1,800)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(308,355)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(317,079)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(3,572)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2540">
                        <a:lnSpc>
                          <a:spcPts val="83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profit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67,967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67,141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35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757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134,299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0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131,240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1,478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126364" marR="234950">
                        <a:lnSpc>
                          <a:spcPts val="800"/>
                        </a:lnSpc>
                        <a:spcBef>
                          <a:spcPts val="32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marketing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(17,388)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(14,920)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(168)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(33,232)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(30,205)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(340)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126364">
                        <a:lnSpc>
                          <a:spcPts val="76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administrative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(13,034)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(14,950)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(168)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(27,247)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(28,222)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(318)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126364">
                        <a:lnSpc>
                          <a:spcPts val="76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exchange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gains/(losses),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net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(396)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558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(602)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740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2540" marR="268605">
                        <a:lnSpc>
                          <a:spcPts val="800"/>
                        </a:lnSpc>
                        <a:spcBef>
                          <a:spcPts val="5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activities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37,149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37,829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427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73,218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73,553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828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126364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(3,569)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215265"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(3,612)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5715"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(41)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(6,857)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R="218440"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(7,220)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80"/>
                        </a:lnSpc>
                        <a:spcBef>
                          <a:spcPts val="350"/>
                        </a:spcBef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(81)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marR="99695" algn="r">
                        <a:lnSpc>
                          <a:spcPts val="72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9,195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8,455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2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16,675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18,872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72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213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12115">
                <a:tc>
                  <a:txBody>
                    <a:bodyPr/>
                    <a:lstStyle/>
                    <a:p>
                      <a:pPr marL="126364" marR="29209">
                        <a:lnSpc>
                          <a:spcPts val="80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profit/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(loss)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associate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venture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730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36854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152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730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57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(42)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4002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202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77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>
                  <a:txBody>
                    <a:bodyPr/>
                    <a:lstStyle/>
                    <a:p>
                      <a:pPr marL="2540">
                        <a:lnSpc>
                          <a:spcPts val="77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tax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42,778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42,824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75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483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82,994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85,407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775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962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126364">
                        <a:lnSpc>
                          <a:spcPts val="75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Income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(10,512)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653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(10,200)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(115)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(20,362)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(19,418)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(219)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2540">
                        <a:lnSpc>
                          <a:spcPts val="80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32,266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32,624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00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368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62,632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65,989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800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743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775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to: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126364" marR="271145">
                        <a:lnSpc>
                          <a:spcPts val="80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Company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32,088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32,462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62,120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65,766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741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7314">
                <a:tc>
                  <a:txBody>
                    <a:bodyPr/>
                    <a:lstStyle/>
                    <a:p>
                      <a:pPr marR="128905" algn="r">
                        <a:lnSpc>
                          <a:spcPts val="74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Non-controlling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interests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4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74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162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4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74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512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74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223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74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2540">
                        <a:lnSpc>
                          <a:spcPts val="80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32,266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32,624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800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368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62,632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65,989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800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743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77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Earnings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share: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L="2540" marR="10160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Company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marL="126364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Basic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3.10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5.94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6.28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72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126364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Diluted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3.06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3.09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5.93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0029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6.26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2540" marR="39370">
                        <a:lnSpc>
                          <a:spcPts val="800"/>
                        </a:lnSpc>
                        <a:spcBef>
                          <a:spcPts val="32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2540">
                        <a:lnSpc>
                          <a:spcPts val="76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earnings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75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marL="126364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Basic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10,453,511,270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8760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10,475,705,330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10,475,705,330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10,452,889,238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93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10,474,157,025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10,474,157,025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126364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Diluted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10,482,157,874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8760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10,496,319,658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10,496,319,658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10,479,772,816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935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10,495,032,480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10,495,032,480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8435" y="9683762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90447"/>
            <a:ext cx="5969000" cy="29400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030"/>
              </a:lnSpc>
              <a:spcBef>
                <a:spcPts val="175"/>
              </a:spcBef>
            </a:pPr>
            <a:r>
              <a:rPr sz="900" spc="-10" dirty="0">
                <a:latin typeface="Times New Roman"/>
                <a:cs typeface="Times New Roman"/>
              </a:rPr>
              <a:t>Information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reportable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segments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the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three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months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ended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September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30,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2025,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June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30,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2025,</a:t>
            </a:r>
            <a:r>
              <a:rPr sz="900" spc="-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September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30,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2024,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six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months </a:t>
            </a:r>
            <a:r>
              <a:rPr sz="900" dirty="0">
                <a:latin typeface="Times New Roman"/>
                <a:cs typeface="Times New Roman"/>
              </a:rPr>
              <a:t>ended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September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30,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2025,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September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30,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2024,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year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ended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March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31,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follows: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1234694"/>
          <a:ext cx="6021070" cy="451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4930"/>
                <a:gridCol w="547369"/>
                <a:gridCol w="553085"/>
                <a:gridCol w="551814"/>
                <a:gridCol w="553720"/>
                <a:gridCol w="551814"/>
                <a:gridCol w="562610"/>
              </a:tblGrid>
              <a:tr h="27114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Particulars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ts val="1030"/>
                        </a:lnSpc>
                        <a:spcBef>
                          <a:spcPts val="1005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months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ended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0650">
                        <a:lnSpc>
                          <a:spcPts val="1030"/>
                        </a:lnSpc>
                        <a:spcBef>
                          <a:spcPts val="1005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Six</a:t>
                      </a:r>
                      <a:r>
                        <a:rPr sz="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months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ended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905" marR="133350" indent="25400">
                        <a:lnSpc>
                          <a:spcPts val="1030"/>
                        </a:lnSpc>
                      </a:pP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Year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ended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3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4445" indent="-6286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September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69215" indent="8191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June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4445" indent="-6286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September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 marR="6350" indent="-6286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September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 marR="4445" indent="-6286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September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 marR="74295" indent="34925">
                        <a:lnSpc>
                          <a:spcPts val="1030"/>
                        </a:lnSpc>
                        <a:spcBef>
                          <a:spcPts val="9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March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31,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ts val="1035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revenue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4445">
                        <a:lnSpc>
                          <a:spcPts val="1019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 marL="129539">
                        <a:lnSpc>
                          <a:spcPts val="104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74,821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73,097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68,393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147,918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136,093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281,824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29539">
                        <a:lnSpc>
                          <a:spcPts val="103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67,011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67,070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67,932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134,081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135,270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271,972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129539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Europe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59,531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56,817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61,821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116,348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122,243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240,077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129539">
                        <a:lnSpc>
                          <a:spcPts val="1000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APMEA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25,042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23,816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23,811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48,858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47,314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94,351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of IT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226,405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220,800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221,957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447,205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440,920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888,224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marL="129539">
                        <a:lnSpc>
                          <a:spcPts val="1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Products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1,126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0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728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0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663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1,854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1,132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2,692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revenue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227,531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221,528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222,620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449,059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442,052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890,916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3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1060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 marL="4445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 marL="129539">
                        <a:lnSpc>
                          <a:spcPts val="104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15,435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14,994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13,338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30,429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27,025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58,186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29539">
                        <a:lnSpc>
                          <a:spcPts val="103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13,122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13,385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15,005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26,507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30,538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61,326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29539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Europe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6,962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6,026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7,821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12,988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13,694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29,434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129539">
                        <a:lnSpc>
                          <a:spcPts val="1019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APMEA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3,308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2,979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3,070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6,287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5,511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12,850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91440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Unallocated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(1,018)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0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750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(1,912)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(268)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(3,389)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(10,157)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of IT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37,809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38,134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37,322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75,943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73,379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151,639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4445">
                        <a:lnSpc>
                          <a:spcPts val="103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Products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(183)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121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(230)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(173)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marL="4445">
                        <a:lnSpc>
                          <a:spcPts val="994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Reconciling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Items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(81)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(2,430)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(2,511)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69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(195)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37,829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35,724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37,149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73,553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73,218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151,271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(3,612)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(3,608)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(3,569)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(7,220)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(6,857)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(14,770)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marL="4445">
                        <a:lnSpc>
                          <a:spcPts val="98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8,455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10,417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9,195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18,872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16,675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38,202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4445">
                        <a:lnSpc>
                          <a:spcPts val="97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profit/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(loss)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associate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venture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100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152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202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(42)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950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marL="4445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9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tax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42,824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42,583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42,778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85,407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82,994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174,957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96850" y="9554438"/>
            <a:ext cx="1292225" cy="368300"/>
          </a:xfrm>
          <a:custGeom>
            <a:avLst/>
            <a:gdLst/>
            <a:ahLst/>
            <a:cxnLst/>
            <a:rect l="l" t="t" r="r" b="b"/>
            <a:pathLst>
              <a:path w="1292225" h="368300">
                <a:moveTo>
                  <a:pt x="1292225" y="146050"/>
                </a:moveTo>
                <a:lnTo>
                  <a:pt x="1250950" y="146050"/>
                </a:lnTo>
                <a:lnTo>
                  <a:pt x="1250950" y="0"/>
                </a:lnTo>
                <a:lnTo>
                  <a:pt x="0" y="0"/>
                </a:lnTo>
                <a:lnTo>
                  <a:pt x="0" y="222250"/>
                </a:lnTo>
                <a:lnTo>
                  <a:pt x="41275" y="222250"/>
                </a:lnTo>
                <a:lnTo>
                  <a:pt x="41275" y="368300"/>
                </a:lnTo>
                <a:lnTo>
                  <a:pt x="1292225" y="368300"/>
                </a:lnTo>
                <a:lnTo>
                  <a:pt x="1292225" y="146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81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Additional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Information: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"/>
              <a:cs typeface="Arial"/>
            </a:endParaRPr>
          </a:p>
          <a:p>
            <a:pPr marL="12700" marR="670560">
              <a:lnSpc>
                <a:spcPts val="1270"/>
              </a:lnSpc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segments: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IT </a:t>
            </a:r>
            <a:r>
              <a:rPr sz="1100" b="1" spc="-10" dirty="0">
                <a:latin typeface="Arial"/>
                <a:cs typeface="Arial"/>
              </a:rPr>
              <a:t>Products.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03000"/>
              </a:lnSpc>
              <a:spcBef>
                <a:spcPts val="1150"/>
              </a:spcBef>
            </a:pP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primarily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offerings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customers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(“SMUs”)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-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1,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Europe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Asia </a:t>
            </a:r>
            <a:r>
              <a:rPr sz="1100" b="1" dirty="0">
                <a:latin typeface="Arial"/>
                <a:cs typeface="Arial"/>
              </a:rPr>
              <a:t>Pacific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Middle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East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Africa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(“APMEA”)</a:t>
            </a:r>
            <a:r>
              <a:rPr sz="1100" spc="-10" dirty="0">
                <a:latin typeface="Arial MT"/>
                <a:cs typeface="Arial MT"/>
              </a:rPr>
              <a:t>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Americas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Americas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primarily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organized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sector,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APMEA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countries.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3299"/>
              </a:lnSpc>
              <a:spcBef>
                <a:spcPts val="810"/>
              </a:spcBef>
            </a:pP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entire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Latin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(“LATAM”)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following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 </a:t>
            </a:r>
            <a:r>
              <a:rPr sz="1100" dirty="0">
                <a:latin typeface="Arial MT"/>
                <a:cs typeface="Arial MT"/>
              </a:rPr>
              <a:t>sectors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America: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Communications,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media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information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services,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gaming,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Consumer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goods,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medical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life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sciences, </a:t>
            </a:r>
            <a:r>
              <a:rPr sz="1100" dirty="0">
                <a:latin typeface="Arial MT"/>
                <a:cs typeface="Arial MT"/>
              </a:rPr>
              <a:t>Healthcare,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services.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entire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Canada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sectors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America: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Energy,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Manufacturing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insurance,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Hi-</a:t>
            </a:r>
            <a:r>
              <a:rPr sz="1100" spc="-10" dirty="0">
                <a:latin typeface="Arial MT"/>
                <a:cs typeface="Arial MT"/>
              </a:rPr>
              <a:t>tech.</a:t>
            </a: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50"/>
              </a:spcBef>
            </a:pPr>
            <a:r>
              <a:rPr sz="1100" b="1" dirty="0">
                <a:latin typeface="Arial"/>
                <a:cs typeface="Arial"/>
              </a:rPr>
              <a:t>Europe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Kingdom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Ireland, </a:t>
            </a:r>
            <a:r>
              <a:rPr sz="1100" spc="-10" dirty="0">
                <a:latin typeface="Arial MT"/>
                <a:cs typeface="Arial MT"/>
              </a:rPr>
              <a:t>Switzerland,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Germany,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Western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Europe.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2699"/>
              </a:lnSpc>
              <a:spcBef>
                <a:spcPts val="820"/>
              </a:spcBef>
            </a:pPr>
            <a:r>
              <a:rPr sz="1100" b="1" dirty="0">
                <a:latin typeface="Arial"/>
                <a:cs typeface="Arial"/>
              </a:rPr>
              <a:t>APMEA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Australia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Zealand,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Middle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East,</a:t>
            </a:r>
            <a:r>
              <a:rPr sz="1100" spc="-10" dirty="0">
                <a:latin typeface="Arial MT"/>
                <a:cs typeface="Arial MT"/>
              </a:rPr>
              <a:t> South-</a:t>
            </a:r>
            <a:r>
              <a:rPr sz="1100" dirty="0">
                <a:latin typeface="Arial MT"/>
                <a:cs typeface="Arial MT"/>
              </a:rPr>
              <a:t>East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Asia,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Japan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10" dirty="0">
                <a:latin typeface="Arial MT"/>
                <a:cs typeface="Arial MT"/>
              </a:rPr>
              <a:t>Africa.</a:t>
            </a: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103200"/>
              </a:lnSpc>
              <a:spcBef>
                <a:spcPts val="810"/>
              </a:spcBef>
            </a:pP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attributed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respective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SMUs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location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customer’s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primary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buying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respect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certain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global </a:t>
            </a:r>
            <a:r>
              <a:rPr sz="1100" dirty="0">
                <a:latin typeface="Arial MT"/>
                <a:cs typeface="Arial MT"/>
              </a:rPr>
              <a:t>customers,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multiple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countries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customer’s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buying </a:t>
            </a:r>
            <a:r>
              <a:rPr sz="1100" dirty="0">
                <a:latin typeface="Arial MT"/>
                <a:cs typeface="Arial MT"/>
              </a:rPr>
              <a:t>centers,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related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global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attributed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single </a:t>
            </a:r>
            <a:r>
              <a:rPr sz="1100" dirty="0">
                <a:latin typeface="Arial MT"/>
                <a:cs typeface="Arial MT"/>
              </a:rPr>
              <a:t>SMU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geographical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makers.</a:t>
            </a: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103000"/>
              </a:lnSpc>
              <a:spcBef>
                <a:spcPts val="825"/>
              </a:spcBef>
            </a:pP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value-</a:t>
            </a:r>
            <a:r>
              <a:rPr sz="1100" dirty="0">
                <a:latin typeface="Arial MT"/>
                <a:cs typeface="Arial MT"/>
              </a:rPr>
              <a:t>added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reseller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security,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packaged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SaaS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software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international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brands.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certain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outsourcing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segment,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hardware,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other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related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deliverables.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Revenue </a:t>
            </a:r>
            <a:r>
              <a:rPr sz="1100" dirty="0">
                <a:latin typeface="Arial MT"/>
                <a:cs typeface="Arial MT"/>
              </a:rPr>
              <a:t>relating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items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150" y="9701352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157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80" dirty="0">
                <a:latin typeface="Calibri"/>
                <a:cs typeface="Calibri"/>
              </a:rPr>
              <a:t>IPnutbelrincal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027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Reconciliation</a:t>
            </a:r>
            <a:r>
              <a:rPr sz="11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selected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Non-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100">
              <a:latin typeface="Arial"/>
              <a:cs typeface="Arial"/>
            </a:endParaRPr>
          </a:p>
          <a:p>
            <a:pPr marL="469265" marR="5080" indent="-228600">
              <a:lnSpc>
                <a:spcPts val="1270"/>
              </a:lnSpc>
            </a:pPr>
            <a:r>
              <a:rPr sz="1100" b="1" dirty="0">
                <a:latin typeface="Arial"/>
                <a:cs typeface="Arial"/>
              </a:rPr>
              <a:t>1.</a:t>
            </a:r>
            <a:r>
              <a:rPr sz="1100" b="1" spc="150" dirty="0">
                <a:latin typeface="Arial"/>
                <a:cs typeface="Arial"/>
              </a:rPr>
              <a:t>  </a:t>
            </a:r>
            <a:r>
              <a:rPr sz="1100" b="1" spc="-10" dirty="0">
                <a:latin typeface="Arial"/>
                <a:cs typeface="Arial"/>
              </a:rPr>
              <a:t>Reconciliation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Non-</a:t>
            </a:r>
            <a:r>
              <a:rPr sz="1100" b="1" dirty="0">
                <a:latin typeface="Arial"/>
                <a:cs typeface="Arial"/>
              </a:rPr>
              <a:t>GAAP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Constant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Currency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10" dirty="0">
                <a:latin typeface="Arial"/>
                <a:cs typeface="Arial"/>
              </a:rPr>
              <a:t> Services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Revenue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Services </a:t>
            </a:r>
            <a:r>
              <a:rPr sz="1100" b="1" dirty="0">
                <a:latin typeface="Arial"/>
                <a:cs typeface="Arial"/>
              </a:rPr>
              <a:t>Revenue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IFRS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($Mn)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704" y="1713229"/>
            <a:ext cx="6092825" cy="299085"/>
          </a:xfrm>
          <a:custGeom>
            <a:avLst/>
            <a:gdLst/>
            <a:ahLst/>
            <a:cxnLst/>
            <a:rect l="l" t="t" r="r" b="b"/>
            <a:pathLst>
              <a:path w="6092825" h="299085">
                <a:moveTo>
                  <a:pt x="6092634" y="0"/>
                </a:moveTo>
                <a:lnTo>
                  <a:pt x="608660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52400"/>
                </a:lnTo>
                <a:lnTo>
                  <a:pt x="0" y="298704"/>
                </a:lnTo>
                <a:lnTo>
                  <a:pt x="6096" y="298704"/>
                </a:lnTo>
                <a:lnTo>
                  <a:pt x="6096" y="152400"/>
                </a:lnTo>
                <a:lnTo>
                  <a:pt x="6096" y="6096"/>
                </a:lnTo>
                <a:lnTo>
                  <a:pt x="6086551" y="6096"/>
                </a:lnTo>
                <a:lnTo>
                  <a:pt x="6086551" y="152400"/>
                </a:lnTo>
                <a:lnTo>
                  <a:pt x="6086551" y="298704"/>
                </a:lnTo>
                <a:lnTo>
                  <a:pt x="6092634" y="298704"/>
                </a:lnTo>
                <a:lnTo>
                  <a:pt x="6092634" y="152400"/>
                </a:lnTo>
                <a:lnTo>
                  <a:pt x="6092634" y="6096"/>
                </a:lnTo>
                <a:lnTo>
                  <a:pt x="6092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6332" y="1699005"/>
            <a:ext cx="4216400" cy="46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1805">
              <a:lnSpc>
                <a:spcPts val="1175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Three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Months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ended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September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30,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2025</a:t>
            </a:r>
            <a:endParaRPr sz="1000">
              <a:latin typeface="Arial"/>
              <a:cs typeface="Arial"/>
            </a:endParaRPr>
          </a:p>
          <a:p>
            <a:pPr>
              <a:lnSpc>
                <a:spcPts val="1150"/>
              </a:lnSpc>
            </a:pPr>
            <a:r>
              <a:rPr sz="1000" dirty="0">
                <a:latin typeface="Arial MT"/>
                <a:cs typeface="Arial MT"/>
              </a:rPr>
              <a:t>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Revenue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IFRS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75"/>
              </a:lnSpc>
            </a:pPr>
            <a:r>
              <a:rPr sz="1000" dirty="0">
                <a:latin typeface="Arial MT"/>
                <a:cs typeface="Arial MT"/>
              </a:rPr>
              <a:t>Effect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Foreign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currency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exchange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movement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1946" y="1845310"/>
            <a:ext cx="842644" cy="323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240">
              <a:lnSpc>
                <a:spcPts val="1175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$2,604.3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75"/>
              </a:lnSpc>
              <a:tabLst>
                <a:tab pos="360680" algn="l"/>
              </a:tabLst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($10.1)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704" y="2011946"/>
            <a:ext cx="6092825" cy="299085"/>
          </a:xfrm>
          <a:custGeom>
            <a:avLst/>
            <a:gdLst/>
            <a:ahLst/>
            <a:cxnLst/>
            <a:rect l="l" t="t" r="r" b="b"/>
            <a:pathLst>
              <a:path w="6092825" h="299085">
                <a:moveTo>
                  <a:pt x="6096" y="152400"/>
                </a:moveTo>
                <a:lnTo>
                  <a:pt x="0" y="152400"/>
                </a:lnTo>
                <a:lnTo>
                  <a:pt x="0" y="298691"/>
                </a:lnTo>
                <a:lnTo>
                  <a:pt x="6096" y="298691"/>
                </a:lnTo>
                <a:lnTo>
                  <a:pt x="6096" y="152400"/>
                </a:lnTo>
                <a:close/>
              </a:path>
              <a:path w="6092825" h="299085">
                <a:moveTo>
                  <a:pt x="6096" y="0"/>
                </a:moveTo>
                <a:lnTo>
                  <a:pt x="0" y="0"/>
                </a:lnTo>
                <a:lnTo>
                  <a:pt x="0" y="146291"/>
                </a:lnTo>
                <a:lnTo>
                  <a:pt x="0" y="152387"/>
                </a:lnTo>
                <a:lnTo>
                  <a:pt x="6096" y="152387"/>
                </a:lnTo>
                <a:lnTo>
                  <a:pt x="6096" y="146291"/>
                </a:lnTo>
                <a:lnTo>
                  <a:pt x="6096" y="0"/>
                </a:lnTo>
                <a:close/>
              </a:path>
              <a:path w="6092825" h="299085">
                <a:moveTo>
                  <a:pt x="6092634" y="152400"/>
                </a:moveTo>
                <a:lnTo>
                  <a:pt x="6086551" y="152400"/>
                </a:lnTo>
                <a:lnTo>
                  <a:pt x="6086551" y="298691"/>
                </a:lnTo>
                <a:lnTo>
                  <a:pt x="6092634" y="298691"/>
                </a:lnTo>
                <a:lnTo>
                  <a:pt x="6092634" y="152400"/>
                </a:lnTo>
                <a:close/>
              </a:path>
              <a:path w="6092825" h="299085">
                <a:moveTo>
                  <a:pt x="6092634" y="0"/>
                </a:moveTo>
                <a:lnTo>
                  <a:pt x="6086551" y="0"/>
                </a:lnTo>
                <a:lnTo>
                  <a:pt x="6086551" y="146291"/>
                </a:lnTo>
                <a:lnTo>
                  <a:pt x="6086551" y="152387"/>
                </a:lnTo>
                <a:lnTo>
                  <a:pt x="6092634" y="152387"/>
                </a:lnTo>
                <a:lnTo>
                  <a:pt x="6092634" y="146291"/>
                </a:lnTo>
                <a:lnTo>
                  <a:pt x="6092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6332" y="2332989"/>
            <a:ext cx="3115310" cy="3238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>
              <a:lnSpc>
                <a:spcPts val="1150"/>
              </a:lnSpc>
              <a:spcBef>
                <a:spcPts val="175"/>
              </a:spcBef>
            </a:pPr>
            <a:r>
              <a:rPr sz="1000" b="1" spc="-10" dirty="0">
                <a:latin typeface="Arial"/>
                <a:cs typeface="Arial"/>
              </a:rPr>
              <a:t>Non-</a:t>
            </a:r>
            <a:r>
              <a:rPr sz="1000" b="1" dirty="0">
                <a:latin typeface="Arial"/>
                <a:cs typeface="Arial"/>
              </a:rPr>
              <a:t>GAAP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Constant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Currency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IT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Services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Revenue </a:t>
            </a:r>
            <a:r>
              <a:rPr sz="1000" b="1" dirty="0">
                <a:latin typeface="Arial"/>
                <a:cs typeface="Arial"/>
              </a:rPr>
              <a:t>based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on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previous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quarter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exchange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rates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1694" y="2406141"/>
            <a:ext cx="5054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$2,594.2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704" y="2310637"/>
            <a:ext cx="6092825" cy="384175"/>
          </a:xfrm>
          <a:custGeom>
            <a:avLst/>
            <a:gdLst/>
            <a:ahLst/>
            <a:cxnLst/>
            <a:rect l="l" t="t" r="r" b="b"/>
            <a:pathLst>
              <a:path w="6092825" h="384175">
                <a:moveTo>
                  <a:pt x="5257165" y="377952"/>
                </a:moveTo>
                <a:lnTo>
                  <a:pt x="12192" y="377952"/>
                </a:lnTo>
                <a:lnTo>
                  <a:pt x="6096" y="377952"/>
                </a:lnTo>
                <a:lnTo>
                  <a:pt x="6096" y="0"/>
                </a:lnTo>
                <a:lnTo>
                  <a:pt x="0" y="0"/>
                </a:lnTo>
                <a:lnTo>
                  <a:pt x="0" y="377952"/>
                </a:lnTo>
                <a:lnTo>
                  <a:pt x="0" y="384048"/>
                </a:lnTo>
                <a:lnTo>
                  <a:pt x="6096" y="384048"/>
                </a:lnTo>
                <a:lnTo>
                  <a:pt x="12192" y="384048"/>
                </a:lnTo>
                <a:lnTo>
                  <a:pt x="5257165" y="384048"/>
                </a:lnTo>
                <a:lnTo>
                  <a:pt x="5257165" y="377952"/>
                </a:lnTo>
                <a:close/>
              </a:path>
              <a:path w="6092825" h="384175">
                <a:moveTo>
                  <a:pt x="5263324" y="377952"/>
                </a:moveTo>
                <a:lnTo>
                  <a:pt x="5257241" y="377952"/>
                </a:lnTo>
                <a:lnTo>
                  <a:pt x="5257241" y="384048"/>
                </a:lnTo>
                <a:lnTo>
                  <a:pt x="5263324" y="384048"/>
                </a:lnTo>
                <a:lnTo>
                  <a:pt x="5263324" y="377952"/>
                </a:lnTo>
                <a:close/>
              </a:path>
              <a:path w="6092825" h="384175">
                <a:moveTo>
                  <a:pt x="6092634" y="0"/>
                </a:moveTo>
                <a:lnTo>
                  <a:pt x="6086551" y="0"/>
                </a:lnTo>
                <a:lnTo>
                  <a:pt x="6086551" y="377952"/>
                </a:lnTo>
                <a:lnTo>
                  <a:pt x="5263337" y="377952"/>
                </a:lnTo>
                <a:lnTo>
                  <a:pt x="5263337" y="384048"/>
                </a:lnTo>
                <a:lnTo>
                  <a:pt x="6086551" y="384048"/>
                </a:lnTo>
                <a:lnTo>
                  <a:pt x="6092634" y="384048"/>
                </a:lnTo>
                <a:lnTo>
                  <a:pt x="6092634" y="377952"/>
                </a:lnTo>
                <a:lnTo>
                  <a:pt x="6092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4704" y="2813557"/>
            <a:ext cx="6092825" cy="299085"/>
          </a:xfrm>
          <a:custGeom>
            <a:avLst/>
            <a:gdLst/>
            <a:ahLst/>
            <a:cxnLst/>
            <a:rect l="l" t="t" r="r" b="b"/>
            <a:pathLst>
              <a:path w="6092825" h="299085">
                <a:moveTo>
                  <a:pt x="5257165" y="0"/>
                </a:moveTo>
                <a:lnTo>
                  <a:pt x="1219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52400"/>
                </a:lnTo>
                <a:lnTo>
                  <a:pt x="0" y="298704"/>
                </a:lnTo>
                <a:lnTo>
                  <a:pt x="6096" y="298704"/>
                </a:lnTo>
                <a:lnTo>
                  <a:pt x="6096" y="152400"/>
                </a:lnTo>
                <a:lnTo>
                  <a:pt x="6096" y="6096"/>
                </a:lnTo>
                <a:lnTo>
                  <a:pt x="12192" y="6096"/>
                </a:lnTo>
                <a:lnTo>
                  <a:pt x="5257165" y="6096"/>
                </a:lnTo>
                <a:lnTo>
                  <a:pt x="5257165" y="0"/>
                </a:lnTo>
                <a:close/>
              </a:path>
              <a:path w="6092825" h="299085">
                <a:moveTo>
                  <a:pt x="5263324" y="0"/>
                </a:moveTo>
                <a:lnTo>
                  <a:pt x="5257241" y="0"/>
                </a:lnTo>
                <a:lnTo>
                  <a:pt x="5257241" y="6096"/>
                </a:lnTo>
                <a:lnTo>
                  <a:pt x="5263324" y="6096"/>
                </a:lnTo>
                <a:lnTo>
                  <a:pt x="5263324" y="0"/>
                </a:lnTo>
                <a:close/>
              </a:path>
              <a:path w="6092825" h="299085">
                <a:moveTo>
                  <a:pt x="6092634" y="0"/>
                </a:moveTo>
                <a:lnTo>
                  <a:pt x="6086602" y="0"/>
                </a:lnTo>
                <a:lnTo>
                  <a:pt x="5263337" y="0"/>
                </a:lnTo>
                <a:lnTo>
                  <a:pt x="5263337" y="6096"/>
                </a:lnTo>
                <a:lnTo>
                  <a:pt x="6086551" y="6096"/>
                </a:lnTo>
                <a:lnTo>
                  <a:pt x="6086551" y="152400"/>
                </a:lnTo>
                <a:lnTo>
                  <a:pt x="6086551" y="298704"/>
                </a:lnTo>
                <a:lnTo>
                  <a:pt x="6092634" y="298704"/>
                </a:lnTo>
                <a:lnTo>
                  <a:pt x="6092634" y="152400"/>
                </a:lnTo>
                <a:lnTo>
                  <a:pt x="6092634" y="6096"/>
                </a:lnTo>
                <a:lnTo>
                  <a:pt x="6092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6332" y="2799333"/>
            <a:ext cx="421640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1805">
              <a:lnSpc>
                <a:spcPts val="1175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Three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Months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ended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September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30,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2025</a:t>
            </a:r>
            <a:endParaRPr sz="1000">
              <a:latin typeface="Arial"/>
              <a:cs typeface="Arial"/>
            </a:endParaRPr>
          </a:p>
          <a:p>
            <a:pPr>
              <a:lnSpc>
                <a:spcPts val="1155"/>
              </a:lnSpc>
            </a:pPr>
            <a:r>
              <a:rPr sz="1000" dirty="0">
                <a:latin typeface="Arial MT"/>
                <a:cs typeface="Arial MT"/>
              </a:rPr>
              <a:t>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Services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Revenue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IFRS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75"/>
              </a:lnSpc>
            </a:pPr>
            <a:r>
              <a:rPr sz="1000" dirty="0">
                <a:latin typeface="Arial MT"/>
                <a:cs typeface="Arial MT"/>
              </a:rPr>
              <a:t>Effect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Foreign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currency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exchange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movement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1946" y="2945638"/>
            <a:ext cx="842644" cy="324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240">
              <a:lnSpc>
                <a:spcPts val="1175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$2,604.3</a:t>
            </a:r>
            <a:endParaRPr sz="1000">
              <a:latin typeface="Arial MT"/>
              <a:cs typeface="Arial MT"/>
            </a:endParaRPr>
          </a:p>
          <a:p>
            <a:pPr>
              <a:lnSpc>
                <a:spcPts val="1175"/>
              </a:lnSpc>
              <a:tabLst>
                <a:tab pos="360680" algn="l"/>
              </a:tabLst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($13.5)</a:t>
            </a:r>
            <a:r>
              <a:rPr sz="1000" u="sng" spc="5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704" y="3112337"/>
            <a:ext cx="6092825" cy="809625"/>
          </a:xfrm>
          <a:custGeom>
            <a:avLst/>
            <a:gdLst/>
            <a:ahLst/>
            <a:cxnLst/>
            <a:rect l="l" t="t" r="r" b="b"/>
            <a:pathLst>
              <a:path w="6092825" h="809625">
                <a:moveTo>
                  <a:pt x="6092634" y="0"/>
                </a:moveTo>
                <a:lnTo>
                  <a:pt x="6086551" y="0"/>
                </a:lnTo>
                <a:lnTo>
                  <a:pt x="6086551" y="146608"/>
                </a:lnTo>
                <a:lnTo>
                  <a:pt x="6086551" y="152704"/>
                </a:lnTo>
                <a:lnTo>
                  <a:pt x="6086551" y="299008"/>
                </a:lnTo>
                <a:lnTo>
                  <a:pt x="6086551" y="803452"/>
                </a:lnTo>
                <a:lnTo>
                  <a:pt x="5257165" y="803452"/>
                </a:lnTo>
                <a:lnTo>
                  <a:pt x="5254193" y="803452"/>
                </a:lnTo>
                <a:lnTo>
                  <a:pt x="5248097" y="803452"/>
                </a:lnTo>
                <a:lnTo>
                  <a:pt x="6096" y="803452"/>
                </a:lnTo>
                <a:lnTo>
                  <a:pt x="6096" y="299008"/>
                </a:lnTo>
                <a:lnTo>
                  <a:pt x="6096" y="152704"/>
                </a:lnTo>
                <a:lnTo>
                  <a:pt x="6096" y="146608"/>
                </a:lnTo>
                <a:lnTo>
                  <a:pt x="6096" y="0"/>
                </a:lnTo>
                <a:lnTo>
                  <a:pt x="0" y="0"/>
                </a:lnTo>
                <a:lnTo>
                  <a:pt x="0" y="809548"/>
                </a:lnTo>
                <a:lnTo>
                  <a:pt x="6096" y="809548"/>
                </a:lnTo>
                <a:lnTo>
                  <a:pt x="6092634" y="809548"/>
                </a:lnTo>
                <a:lnTo>
                  <a:pt x="6092634" y="803452"/>
                </a:lnTo>
                <a:lnTo>
                  <a:pt x="6092634" y="299008"/>
                </a:lnTo>
                <a:lnTo>
                  <a:pt x="6092634" y="152704"/>
                </a:lnTo>
                <a:lnTo>
                  <a:pt x="6092634" y="146608"/>
                </a:lnTo>
                <a:lnTo>
                  <a:pt x="6092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86332" y="3496183"/>
            <a:ext cx="3863340" cy="323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175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Non-</a:t>
            </a:r>
            <a:r>
              <a:rPr sz="1000" b="1" dirty="0">
                <a:latin typeface="Arial"/>
                <a:cs typeface="Arial"/>
              </a:rPr>
              <a:t>GAAP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Constant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Currency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IT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Services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Revenue</a:t>
            </a:r>
            <a:endParaRPr sz="1000">
              <a:latin typeface="Arial"/>
              <a:cs typeface="Arial"/>
            </a:endParaRPr>
          </a:p>
          <a:p>
            <a:pPr>
              <a:lnSpc>
                <a:spcPts val="1175"/>
              </a:lnSpc>
            </a:pPr>
            <a:r>
              <a:rPr sz="1000" b="1" dirty="0">
                <a:latin typeface="Arial"/>
                <a:cs typeface="Arial"/>
              </a:rPr>
              <a:t>based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on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exchange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rates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comparable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period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previous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year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1694" y="3569335"/>
            <a:ext cx="5054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$2,590.8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0604" y="4061586"/>
            <a:ext cx="5744845" cy="49910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195"/>
              </a:spcBef>
            </a:pPr>
            <a:r>
              <a:rPr sz="1100" b="1" dirty="0">
                <a:latin typeface="Arial"/>
                <a:cs typeface="Arial"/>
              </a:rPr>
              <a:t>2.</a:t>
            </a:r>
            <a:r>
              <a:rPr sz="1100" b="1" spc="120" dirty="0">
                <a:latin typeface="Arial"/>
                <a:cs typeface="Arial"/>
              </a:rPr>
              <a:t> 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Reconciliation</a:t>
            </a:r>
            <a:r>
              <a:rPr sz="1100" b="1" u="sng" spc="4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4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Free</a:t>
            </a:r>
            <a:r>
              <a:rPr sz="1100" b="1" u="sng" spc="4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Cash</a:t>
            </a:r>
            <a:r>
              <a:rPr sz="1100" b="1" u="sng" spc="4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</a:t>
            </a:r>
            <a:r>
              <a:rPr sz="1100" b="1" u="sng" spc="4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4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three</a:t>
            </a:r>
            <a:r>
              <a:rPr sz="1100" b="1" u="sng" spc="4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months</a:t>
            </a:r>
            <a:r>
              <a:rPr sz="1100" b="1" u="sng" spc="4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100" b="1" u="sng" spc="4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six</a:t>
            </a:r>
            <a:r>
              <a:rPr sz="1100" b="1" u="sng" spc="4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months</a:t>
            </a:r>
            <a:r>
              <a:rPr sz="1100" b="1" u="sng" spc="4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ended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September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2025</a:t>
            </a:r>
            <a:endParaRPr sz="1100">
              <a:latin typeface="Arial"/>
              <a:cs typeface="Arial"/>
            </a:endParaRPr>
          </a:p>
          <a:p>
            <a:pPr marR="9525" algn="r">
              <a:lnSpc>
                <a:spcPts val="1110"/>
              </a:lnSpc>
            </a:pPr>
            <a:r>
              <a:rPr sz="1000" i="1" dirty="0">
                <a:latin typeface="Arial"/>
                <a:cs typeface="Arial"/>
              </a:rPr>
              <a:t>Amounts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INR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Mn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14704" y="4549775"/>
          <a:ext cx="5972810" cy="2140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3730"/>
                <a:gridCol w="1399540"/>
                <a:gridCol w="1316989"/>
              </a:tblGrid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0" marR="128905" indent="-200025">
                        <a:lnSpc>
                          <a:spcPts val="1030"/>
                        </a:lnSpc>
                        <a:spcBef>
                          <a:spcPts val="1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Three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months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ended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Sept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30,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2025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 marR="158115" indent="-131445">
                        <a:lnSpc>
                          <a:spcPts val="1030"/>
                        </a:lnSpc>
                        <a:spcBef>
                          <a:spcPts val="18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Six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months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ended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Sept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30,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2025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Profit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period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[A]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32,624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65,989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Computation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 Free Cash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Flow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generated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activities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[B]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33,872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74,991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Add/</a:t>
                      </a:r>
                      <a:r>
                        <a:rPr sz="900" i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(deduct)</a:t>
                      </a:r>
                      <a:r>
                        <a:rPr sz="9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cash</a:t>
                      </a:r>
                      <a:r>
                        <a:rPr sz="9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inflow/</a:t>
                      </a:r>
                      <a:r>
                        <a:rPr sz="9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(outflow)on: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Purchase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property,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plant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equipment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(3,372)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(6,114)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Proceeds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sale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property,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plant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equipment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666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678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104"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Free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[C]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31,166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69,555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percentage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Income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[B/A]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103.8%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113.6%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Free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percentage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Income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[C/A]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95.5%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105.4%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130604" y="6840093"/>
            <a:ext cx="57397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3.</a:t>
            </a:r>
            <a:r>
              <a:rPr sz="1100" b="1" spc="120" dirty="0">
                <a:latin typeface="Arial"/>
                <a:cs typeface="Arial"/>
              </a:rPr>
              <a:t> 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Reconciliation</a:t>
            </a:r>
            <a:r>
              <a:rPr sz="11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Adjusted</a:t>
            </a:r>
            <a:r>
              <a:rPr sz="11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Segment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Results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Three</a:t>
            </a:r>
            <a:r>
              <a:rPr sz="10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Months</a:t>
            </a:r>
            <a:r>
              <a:rPr sz="10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ended</a:t>
            </a:r>
            <a:r>
              <a:rPr sz="10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September</a:t>
            </a:r>
            <a:r>
              <a:rPr sz="10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0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914704" y="7168260"/>
          <a:ext cx="6015355" cy="108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44545"/>
                <a:gridCol w="1614804"/>
                <a:gridCol w="974725"/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Amount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0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INR</a:t>
                      </a:r>
                      <a:r>
                        <a:rPr sz="10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Mn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765" marR="180340" indent="-91440">
                        <a:lnSpc>
                          <a:spcPts val="1140"/>
                        </a:lnSpc>
                        <a:spcBef>
                          <a:spcPts val="10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Operating Margin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IT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Services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Segment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Results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37,809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16.7%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Effect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impact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bankruptcy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1,165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spc="-50" dirty="0">
                          <a:latin typeface="Arial MT"/>
                          <a:cs typeface="Arial MT"/>
                        </a:rPr>
                        <a:t>-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11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Adjusted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Services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Results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38,974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17.2%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3188335" y="8588502"/>
            <a:ext cx="1393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50" dirty="0">
                <a:latin typeface="Arial"/>
                <a:cs typeface="Arial"/>
              </a:rPr>
              <a:t>-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3840" y="971331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4208</Words>
  <Application>Microsoft Office PowerPoint</Application>
  <PresentationFormat>Custom</PresentationFormat>
  <Paragraphs>792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Srilakshminarayanan Srinivasan</dc:creator>
  <cp:lastModifiedBy>Microsoft account</cp:lastModifiedBy>
  <cp:revision>1</cp:revision>
  <dcterms:created xsi:type="dcterms:W3CDTF">2025-12-14T13:12:00Z</dcterms:created>
  <dcterms:modified xsi:type="dcterms:W3CDTF">2025-12-14T13:12:16Z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2025-12-14T00:00:00Z</vt:filetime>
  </property>
  <property fmtid="{D5CDD505-2E9C-101B-9397-08002B2CF9AE}" pid="5" name="MSIP_Label_a8c544ca-bb84-4280-906e-934547e1d30c_ActionId">
    <vt:lpwstr>535d7afc-2f27-41b9-b82a-c660e8f306c8</vt:lpwstr>
  </property>
  <property fmtid="{D5CDD505-2E9C-101B-9397-08002B2CF9AE}" pid="6" name="MSIP_Label_a8c544ca-bb84-4280-906e-934547e1d30c_ContentBits">
    <vt:lpwstr>2</vt:lpwstr>
  </property>
  <property fmtid="{D5CDD505-2E9C-101B-9397-08002B2CF9AE}" pid="7" name="MSIP_Label_a8c544ca-bb84-4280-906e-934547e1d30c_Enabled">
    <vt:lpwstr>true</vt:lpwstr>
  </property>
  <property fmtid="{D5CDD505-2E9C-101B-9397-08002B2CF9AE}" pid="8" name="MSIP_Label_a8c544ca-bb84-4280-906e-934547e1d30c_Method">
    <vt:lpwstr>Privileged</vt:lpwstr>
  </property>
  <property fmtid="{D5CDD505-2E9C-101B-9397-08002B2CF9AE}" pid="9" name="MSIP_Label_a8c544ca-bb84-4280-906e-934547e1d30c_Name">
    <vt:lpwstr>Internal - General Use</vt:lpwstr>
  </property>
  <property fmtid="{D5CDD505-2E9C-101B-9397-08002B2CF9AE}" pid="10" name="MSIP_Label_a8c544ca-bb84-4280-906e-934547e1d30c_SetDate">
    <vt:lpwstr>2025-10-16T09:11:51Z</vt:lpwstr>
  </property>
  <property fmtid="{D5CDD505-2E9C-101B-9397-08002B2CF9AE}" pid="11" name="MSIP_Label_a8c544ca-bb84-4280-906e-934547e1d30c_SiteId">
    <vt:lpwstr>258ac4e4-146a-411e-9dc8-79a9e12fd6da</vt:lpwstr>
  </property>
  <property fmtid="{D5CDD505-2E9C-101B-9397-08002B2CF9AE}" pid="12" name="MSIP_Label_a8c544ca-bb84-4280-906e-934547e1d30c_Tag">
    <vt:lpwstr>10, 0, 1, 1</vt:lpwstr>
  </property>
  <property fmtid="{D5CDD505-2E9C-101B-9397-08002B2CF9AE}" pid="13" name="Producer">
    <vt:lpwstr>Microsoft® Word for Microsoft 365</vt:lpwstr>
  </property>
</Properties>
</file>