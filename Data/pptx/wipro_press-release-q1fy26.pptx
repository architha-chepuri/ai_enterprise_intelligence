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243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802507" y="9300159"/>
            <a:ext cx="168910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c01.safelinks.protection.outlook.com/?url=https://links.ccwebcast.com/?EventId%3DWIP17072025&amp;data=05|02|shravya.dechamma@wipro.com|c2791410196946c76f6908ddc52317ab|258ac4e4146a411e9dc879a9e12fd6da|0|0|638883476802090066|Unknown|TWFpbGZsb3d8eyJFbXB0eU1hcGkiOnRydWUsIlYiOiIwLjAuMDAwMCIsIlAiOiJXaW4zMiIsIkFOIjoiTWFpbCIsIldUIjoyfQ%3D%3D|0|||&amp;sdata=gMOSHcqVrpX8xVUSKHI6AlcHVbNdEPmVx/avnjtSCX4%3D&amp;reserved=0" TargetMode="External"/><Relationship Id="rId2" Type="http://schemas.openxmlformats.org/officeDocument/2006/relationships/hyperlink" Target="http://www.wipro.com/investors/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wipro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dipak.bohra@wipro.com" TargetMode="External"/><Relationship Id="rId2" Type="http://schemas.openxmlformats.org/officeDocument/2006/relationships/hyperlink" Target="http://www.wipro.com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www.sec.gov/" TargetMode="External"/><Relationship Id="rId5" Type="http://schemas.openxmlformats.org/officeDocument/2006/relationships/hyperlink" Target="mailto:media-relations@wipro.com" TargetMode="External"/><Relationship Id="rId4" Type="http://schemas.openxmlformats.org/officeDocument/2006/relationships/hyperlink" Target="mailto:abhishek.jain2@wipro.com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1134110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500" dirty="0">
                <a:latin typeface="Calibri"/>
                <a:cs typeface="Calibri"/>
              </a:rPr>
              <a:t>P</a:t>
            </a:r>
            <a:r>
              <a:rPr sz="1000" spc="-260" dirty="0">
                <a:latin typeface="Calibri"/>
                <a:cs typeface="Calibri"/>
              </a:rPr>
              <a:t>I</a:t>
            </a:r>
            <a:r>
              <a:rPr sz="1000" spc="-270" dirty="0">
                <a:latin typeface="Calibri"/>
                <a:cs typeface="Calibri"/>
              </a:rPr>
              <a:t>P</a:t>
            </a:r>
            <a:r>
              <a:rPr sz="1000" spc="-295" dirty="0">
                <a:latin typeface="Calibri"/>
                <a:cs typeface="Calibri"/>
              </a:rPr>
              <a:t>n</a:t>
            </a:r>
            <a:r>
              <a:rPr sz="1000" spc="-245" dirty="0">
                <a:latin typeface="Calibri"/>
                <a:cs typeface="Calibri"/>
              </a:rPr>
              <a:t>u</a:t>
            </a:r>
            <a:r>
              <a:rPr sz="1000" spc="-105" dirty="0">
                <a:latin typeface="Calibri"/>
                <a:cs typeface="Calibri"/>
              </a:rPr>
              <a:t>t</a:t>
            </a:r>
            <a:r>
              <a:rPr sz="1000" spc="-440" dirty="0">
                <a:latin typeface="Calibri"/>
                <a:cs typeface="Calibri"/>
              </a:rPr>
              <a:t>b</a:t>
            </a:r>
            <a:r>
              <a:rPr sz="1000" spc="-75" dirty="0">
                <a:latin typeface="Calibri"/>
                <a:cs typeface="Calibri"/>
              </a:rPr>
              <a:t>e</a:t>
            </a:r>
            <a:r>
              <a:rPr sz="1000" spc="-175" dirty="0">
                <a:latin typeface="Calibri"/>
                <a:cs typeface="Calibri"/>
              </a:rPr>
              <a:t>l</a:t>
            </a:r>
            <a:r>
              <a:rPr sz="1000" spc="-195" dirty="0">
                <a:latin typeface="Calibri"/>
                <a:cs typeface="Calibri"/>
              </a:rPr>
              <a:t>r</a:t>
            </a:r>
            <a:r>
              <a:rPr sz="1000" spc="-55" dirty="0">
                <a:latin typeface="Calibri"/>
                <a:cs typeface="Calibri"/>
              </a:rPr>
              <a:t>i</a:t>
            </a:r>
            <a:r>
              <a:rPr sz="1000" spc="-484" dirty="0">
                <a:latin typeface="Calibri"/>
                <a:cs typeface="Calibri"/>
              </a:rPr>
              <a:t>n</a:t>
            </a:r>
            <a:r>
              <a:rPr sz="1000" spc="50" dirty="0">
                <a:latin typeface="Calibri"/>
                <a:cs typeface="Calibri"/>
              </a:rPr>
              <a:t>c</a:t>
            </a:r>
            <a:r>
              <a:rPr sz="1000" spc="-5" dirty="0">
                <a:latin typeface="Calibri"/>
                <a:cs typeface="Calibri"/>
              </a:rPr>
              <a:t>al</a:t>
            </a:r>
            <a:r>
              <a:rPr sz="1000" spc="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-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General</a:t>
            </a:r>
            <a:r>
              <a:rPr sz="1000" spc="15" dirty="0"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Use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964438"/>
            <a:ext cx="19824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FOR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IMMEDIATE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RELEASE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304" y="2240026"/>
            <a:ext cx="6266180" cy="5783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Arial"/>
                <a:cs typeface="Arial"/>
              </a:rPr>
              <a:t>Wipro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announces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results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for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the</a:t>
            </a:r>
            <a:r>
              <a:rPr sz="1300" b="1" spc="-3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Quarter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ended</a:t>
            </a:r>
            <a:r>
              <a:rPr sz="1300" b="1" spc="-4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June</a:t>
            </a:r>
            <a:r>
              <a:rPr sz="1300" b="1" spc="-45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30,</a:t>
            </a:r>
            <a:r>
              <a:rPr sz="1300" b="1" spc="-35" dirty="0">
                <a:latin typeface="Arial"/>
                <a:cs typeface="Arial"/>
              </a:rPr>
              <a:t> </a:t>
            </a:r>
            <a:r>
              <a:rPr sz="1300" b="1" spc="-20" dirty="0">
                <a:latin typeface="Arial"/>
                <a:cs typeface="Arial"/>
              </a:rPr>
              <a:t>2025</a:t>
            </a:r>
            <a:endParaRPr sz="1300">
              <a:latin typeface="Arial"/>
              <a:cs typeface="Arial"/>
            </a:endParaRPr>
          </a:p>
          <a:p>
            <a:pPr marL="508634" marR="291465" algn="ctr">
              <a:lnSpc>
                <a:spcPct val="95900"/>
              </a:lnSpc>
              <a:spcBef>
                <a:spcPts val="1345"/>
              </a:spcBef>
            </a:pPr>
            <a:r>
              <a:rPr sz="1200" dirty="0">
                <a:latin typeface="Arial MT"/>
                <a:cs typeface="Arial MT"/>
              </a:rPr>
              <a:t>Large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deal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booking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$2.7Bn,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grows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131%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YoY,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overall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deal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bookings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$5.0Bn </a:t>
            </a:r>
            <a:r>
              <a:rPr sz="1200" dirty="0">
                <a:latin typeface="Arial MT"/>
                <a:cs typeface="Arial MT"/>
              </a:rPr>
              <a:t>Revenue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decreases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2.3%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YoY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CC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terms.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Net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income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grows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10.9%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YoY</a:t>
            </a:r>
            <a:r>
              <a:rPr sz="1200" spc="50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Q1’26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operating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margin at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17.3%,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expands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0.8%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YoY;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EPS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grows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10.8%</a:t>
            </a:r>
            <a:r>
              <a:rPr sz="1200" spc="-25" dirty="0">
                <a:latin typeface="Arial MT"/>
                <a:cs typeface="Arial MT"/>
              </a:rPr>
              <a:t> YoY </a:t>
            </a:r>
            <a:r>
              <a:rPr sz="1200" dirty="0">
                <a:latin typeface="Arial MT"/>
                <a:cs typeface="Arial MT"/>
              </a:rPr>
              <a:t>Operating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cash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flows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123.2%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net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income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1200">
              <a:latin typeface="Arial MT"/>
              <a:cs typeface="Arial MT"/>
            </a:endParaRPr>
          </a:p>
          <a:p>
            <a:pPr marR="6985" algn="ctr">
              <a:lnSpc>
                <a:spcPts val="1290"/>
              </a:lnSpc>
            </a:pPr>
            <a:r>
              <a:rPr sz="1100" b="1" dirty="0">
                <a:latin typeface="Arial"/>
                <a:cs typeface="Arial"/>
              </a:rPr>
              <a:t>EAST</a:t>
            </a:r>
            <a:r>
              <a:rPr sz="1100" b="1" spc="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BRUNSWICK,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N.J.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|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BANGALORE,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India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–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July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17,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2025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Limited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(NYSE: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WIT,</a:t>
            </a:r>
            <a:endParaRPr sz="1100">
              <a:latin typeface="Arial MT"/>
              <a:cs typeface="Arial MT"/>
            </a:endParaRPr>
          </a:p>
          <a:p>
            <a:pPr marL="152400" marR="158750" algn="just">
              <a:lnSpc>
                <a:spcPct val="95900"/>
              </a:lnSpc>
              <a:spcBef>
                <a:spcPts val="25"/>
              </a:spcBef>
            </a:pPr>
            <a:r>
              <a:rPr sz="1100" dirty="0">
                <a:latin typeface="Arial MT"/>
                <a:cs typeface="Arial MT"/>
              </a:rPr>
              <a:t>BSE: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507685,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NSE: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WIPRO),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leading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technology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services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consulting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company,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announced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results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under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International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Reporting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Standards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(IFRS) for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quarter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ended </a:t>
            </a:r>
            <a:r>
              <a:rPr sz="1100" dirty="0">
                <a:latin typeface="Arial MT"/>
                <a:cs typeface="Arial MT"/>
              </a:rPr>
              <a:t>June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30,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2025.</a:t>
            </a:r>
            <a:endParaRPr sz="1100">
              <a:latin typeface="Arial MT"/>
              <a:cs typeface="Arial MT"/>
            </a:endParaRPr>
          </a:p>
          <a:p>
            <a:pPr marL="152400" algn="just">
              <a:lnSpc>
                <a:spcPct val="100000"/>
              </a:lnSpc>
              <a:spcBef>
                <a:spcPts val="1210"/>
              </a:spcBef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Highlights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Results</a:t>
            </a:r>
            <a:endParaRPr sz="1100">
              <a:latin typeface="Arial"/>
              <a:cs typeface="Arial"/>
            </a:endParaRPr>
          </a:p>
          <a:p>
            <a:pPr marL="152400" algn="just">
              <a:lnSpc>
                <a:spcPct val="100000"/>
              </a:lnSpc>
              <a:spcBef>
                <a:spcPts val="1200"/>
              </a:spcBef>
            </a:pPr>
            <a:r>
              <a:rPr sz="1100" b="1" dirty="0">
                <a:latin typeface="Arial"/>
                <a:cs typeface="Arial"/>
              </a:rPr>
              <a:t>Results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for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Quarter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ended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June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30,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2025: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Arial"/>
              <a:cs typeface="Arial"/>
            </a:endParaRPr>
          </a:p>
          <a:p>
            <a:pPr marL="377825" marR="160020" indent="-225425">
              <a:lnSpc>
                <a:spcPts val="1270"/>
              </a:lnSpc>
              <a:spcBef>
                <a:spcPts val="5"/>
              </a:spcBef>
              <a:buAutoNum type="arabicPeriod"/>
              <a:tabLst>
                <a:tab pos="381000" algn="l"/>
              </a:tabLst>
            </a:pPr>
            <a:r>
              <a:rPr sz="1100" dirty="0">
                <a:latin typeface="Arial MT"/>
                <a:cs typeface="Arial MT"/>
              </a:rPr>
              <a:t>Gross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₹221.3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billion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($2,581.6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million</a:t>
            </a:r>
            <a:r>
              <a:rPr sz="1050" baseline="31746" dirty="0">
                <a:latin typeface="Arial MT"/>
                <a:cs typeface="Arial MT"/>
              </a:rPr>
              <a:t>1</a:t>
            </a:r>
            <a:r>
              <a:rPr sz="1100" dirty="0">
                <a:latin typeface="Arial MT"/>
                <a:cs typeface="Arial MT"/>
              </a:rPr>
              <a:t>),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decrease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1.6%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increase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of 	</a:t>
            </a:r>
            <a:r>
              <a:rPr sz="1100" dirty="0">
                <a:latin typeface="Arial MT"/>
                <a:cs typeface="Arial MT"/>
              </a:rPr>
              <a:t>0.8%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YoY.</a:t>
            </a:r>
            <a:endParaRPr sz="1100">
              <a:latin typeface="Arial MT"/>
              <a:cs typeface="Arial MT"/>
            </a:endParaRPr>
          </a:p>
          <a:p>
            <a:pPr marL="377825" indent="-225425">
              <a:lnSpc>
                <a:spcPts val="1200"/>
              </a:lnSpc>
              <a:buAutoNum type="arabicPeriod"/>
              <a:tabLst>
                <a:tab pos="377825" algn="l"/>
              </a:tabLst>
            </a:pPr>
            <a:r>
              <a:rPr sz="1100" dirty="0">
                <a:latin typeface="Arial MT"/>
                <a:cs typeface="Arial MT"/>
              </a:rPr>
              <a:t>IT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$2,587.4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million,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decrease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0.3%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1.5%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YoY.</a:t>
            </a:r>
            <a:endParaRPr sz="1100">
              <a:latin typeface="Arial MT"/>
              <a:cs typeface="Arial MT"/>
            </a:endParaRPr>
          </a:p>
          <a:p>
            <a:pPr marL="377825" marR="160655" indent="-225425">
              <a:lnSpc>
                <a:spcPts val="1270"/>
              </a:lnSpc>
              <a:spcBef>
                <a:spcPts val="50"/>
              </a:spcBef>
              <a:buAutoNum type="arabicPeriod"/>
              <a:tabLst>
                <a:tab pos="381000" algn="l"/>
              </a:tabLst>
            </a:pPr>
            <a:r>
              <a:rPr sz="1100" spc="-10" dirty="0">
                <a:latin typeface="Arial MT"/>
                <a:cs typeface="Arial MT"/>
              </a:rPr>
              <a:t>Non-</a:t>
            </a:r>
            <a:r>
              <a:rPr sz="1100" dirty="0">
                <a:latin typeface="Arial MT"/>
                <a:cs typeface="Arial MT"/>
              </a:rPr>
              <a:t>GAAP</a:t>
            </a:r>
            <a:r>
              <a:rPr sz="1050" baseline="31746" dirty="0">
                <a:latin typeface="Arial MT"/>
                <a:cs typeface="Arial MT"/>
              </a:rPr>
              <a:t>2</a:t>
            </a:r>
            <a:r>
              <a:rPr sz="1050" spc="127" baseline="31746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constant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currency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Services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decreased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2.0%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2.3% 	YoY.</a:t>
            </a:r>
            <a:endParaRPr sz="1100">
              <a:latin typeface="Arial MT"/>
              <a:cs typeface="Arial MT"/>
            </a:endParaRPr>
          </a:p>
          <a:p>
            <a:pPr marL="377825" indent="-225425">
              <a:lnSpc>
                <a:spcPts val="1205"/>
              </a:lnSpc>
              <a:buAutoNum type="arabicPeriod"/>
              <a:tabLst>
                <a:tab pos="377825" algn="l"/>
              </a:tabLst>
            </a:pPr>
            <a:r>
              <a:rPr sz="1100" dirty="0">
                <a:latin typeface="Arial MT"/>
                <a:cs typeface="Arial MT"/>
              </a:rPr>
              <a:t>Total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bookings</a:t>
            </a:r>
            <a:r>
              <a:rPr sz="1050" baseline="31746" dirty="0">
                <a:latin typeface="Arial MT"/>
                <a:cs typeface="Arial MT"/>
              </a:rPr>
              <a:t>3</a:t>
            </a:r>
            <a:r>
              <a:rPr sz="1050" spc="569" baseline="31746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$4,971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million,</a:t>
            </a:r>
            <a:r>
              <a:rPr sz="1100" spc="2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up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24.1%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50.7%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YoY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constant</a:t>
            </a:r>
            <a:endParaRPr sz="1100">
              <a:latin typeface="Arial MT"/>
              <a:cs typeface="Arial MT"/>
            </a:endParaRPr>
          </a:p>
          <a:p>
            <a:pPr marL="381000" marR="160020">
              <a:lnSpc>
                <a:spcPts val="1260"/>
              </a:lnSpc>
              <a:spcBef>
                <a:spcPts val="70"/>
              </a:spcBef>
            </a:pPr>
            <a:r>
              <a:rPr sz="1100" dirty="0">
                <a:latin typeface="Arial MT"/>
                <a:cs typeface="Arial MT"/>
              </a:rPr>
              <a:t>currency</a:t>
            </a:r>
            <a:r>
              <a:rPr sz="1050" baseline="31746" dirty="0">
                <a:latin typeface="Arial MT"/>
                <a:cs typeface="Arial MT"/>
              </a:rPr>
              <a:t>2</a:t>
            </a:r>
            <a:r>
              <a:rPr sz="1100" dirty="0">
                <a:latin typeface="Arial MT"/>
                <a:cs typeface="Arial MT"/>
              </a:rPr>
              <a:t>.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Large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deal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bookings</a:t>
            </a:r>
            <a:r>
              <a:rPr sz="1050" baseline="31746" dirty="0">
                <a:latin typeface="Arial MT"/>
                <a:cs typeface="Arial MT"/>
              </a:rPr>
              <a:t>4</a:t>
            </a:r>
            <a:r>
              <a:rPr sz="1050" spc="82" baseline="31746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$2,666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million,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increase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49.7%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and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130.8% </a:t>
            </a:r>
            <a:r>
              <a:rPr sz="1100" dirty="0">
                <a:latin typeface="Arial MT"/>
                <a:cs typeface="Arial MT"/>
              </a:rPr>
              <a:t>YoY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constant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currency</a:t>
            </a:r>
            <a:r>
              <a:rPr sz="1050" spc="-15" baseline="31746" dirty="0">
                <a:latin typeface="Arial MT"/>
                <a:cs typeface="Arial MT"/>
              </a:rPr>
              <a:t>2</a:t>
            </a:r>
            <a:r>
              <a:rPr sz="1100" spc="-10" dirty="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377825" indent="-225425">
              <a:lnSpc>
                <a:spcPts val="1205"/>
              </a:lnSpc>
              <a:buAutoNum type="arabicPeriod" startAt="5"/>
              <a:tabLst>
                <a:tab pos="377825" algn="l"/>
              </a:tabLst>
            </a:pPr>
            <a:r>
              <a:rPr sz="1100" dirty="0">
                <a:latin typeface="Arial MT"/>
                <a:cs typeface="Arial MT"/>
              </a:rPr>
              <a:t>IT</a:t>
            </a:r>
            <a:r>
              <a:rPr sz="1100" spc="3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2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operating</a:t>
            </a:r>
            <a:r>
              <a:rPr sz="1100" spc="2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margin</a:t>
            </a:r>
            <a:r>
              <a:rPr sz="1050" baseline="31746" dirty="0">
                <a:latin typeface="Arial MT"/>
                <a:cs typeface="Arial MT"/>
              </a:rPr>
              <a:t>5</a:t>
            </a:r>
            <a:r>
              <a:rPr sz="1050" spc="630" baseline="31746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3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Q1’26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2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17.3%,</a:t>
            </a:r>
            <a:r>
              <a:rPr sz="1100" spc="3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contraction</a:t>
            </a:r>
            <a:r>
              <a:rPr sz="1100" spc="2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3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0.2%</a:t>
            </a:r>
            <a:r>
              <a:rPr sz="1100" spc="2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31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</a:t>
            </a:r>
            <a:endParaRPr sz="1100">
              <a:latin typeface="Arial MT"/>
              <a:cs typeface="Arial MT"/>
            </a:endParaRPr>
          </a:p>
          <a:p>
            <a:pPr marL="381000">
              <a:lnSpc>
                <a:spcPts val="1265"/>
              </a:lnSpc>
            </a:pPr>
            <a:r>
              <a:rPr sz="1100" dirty="0">
                <a:latin typeface="Arial MT"/>
                <a:cs typeface="Arial MT"/>
              </a:rPr>
              <a:t>expansion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0.8%</a:t>
            </a:r>
            <a:r>
              <a:rPr sz="1100" spc="-20" dirty="0">
                <a:latin typeface="Arial MT"/>
                <a:cs typeface="Arial MT"/>
              </a:rPr>
              <a:t> YoY.</a:t>
            </a:r>
            <a:endParaRPr sz="1100">
              <a:latin typeface="Arial MT"/>
              <a:cs typeface="Arial MT"/>
            </a:endParaRPr>
          </a:p>
          <a:p>
            <a:pPr marL="377825" marR="159385" indent="-225425">
              <a:lnSpc>
                <a:spcPts val="1270"/>
              </a:lnSpc>
              <a:spcBef>
                <a:spcPts val="55"/>
              </a:spcBef>
              <a:buAutoNum type="arabicPeriod" startAt="6"/>
              <a:tabLst>
                <a:tab pos="381000" algn="l"/>
              </a:tabLst>
            </a:pPr>
            <a:r>
              <a:rPr sz="1100" dirty="0">
                <a:latin typeface="Arial MT"/>
                <a:cs typeface="Arial MT"/>
              </a:rPr>
              <a:t>Net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income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 the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quarter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0" dirty="0">
                <a:latin typeface="Arial MT"/>
                <a:cs typeface="Arial MT"/>
              </a:rPr>
              <a:t>₹33.3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billion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($388.4 million</a:t>
            </a:r>
            <a:r>
              <a:rPr sz="1050" baseline="31746" dirty="0">
                <a:latin typeface="Arial MT"/>
                <a:cs typeface="Arial MT"/>
              </a:rPr>
              <a:t>1</a:t>
            </a:r>
            <a:r>
              <a:rPr sz="1100" dirty="0">
                <a:latin typeface="Arial MT"/>
                <a:cs typeface="Arial MT"/>
              </a:rPr>
              <a:t>),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decrease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6.7% QoQ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	</a:t>
            </a:r>
            <a:r>
              <a:rPr sz="1100" dirty="0">
                <a:latin typeface="Arial MT"/>
                <a:cs typeface="Arial MT"/>
              </a:rPr>
              <a:t>increase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10.9%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YoY.</a:t>
            </a:r>
            <a:endParaRPr sz="1100">
              <a:latin typeface="Arial MT"/>
              <a:cs typeface="Arial MT"/>
            </a:endParaRPr>
          </a:p>
          <a:p>
            <a:pPr marL="377825" indent="-225425">
              <a:lnSpc>
                <a:spcPts val="1205"/>
              </a:lnSpc>
              <a:buAutoNum type="arabicPeriod" startAt="6"/>
              <a:tabLst>
                <a:tab pos="377825" algn="l"/>
              </a:tabLst>
            </a:pPr>
            <a:r>
              <a:rPr sz="1100" dirty="0">
                <a:latin typeface="Arial MT"/>
                <a:cs typeface="Arial MT"/>
              </a:rPr>
              <a:t>Earnings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share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quarter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spc="-130" dirty="0">
                <a:latin typeface="Arial MT"/>
                <a:cs typeface="Arial MT"/>
              </a:rPr>
              <a:t>₹3.2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($0.04</a:t>
            </a:r>
            <a:r>
              <a:rPr sz="1050" baseline="31746" dirty="0">
                <a:latin typeface="Arial MT"/>
                <a:cs typeface="Arial MT"/>
              </a:rPr>
              <a:t>1</a:t>
            </a:r>
            <a:r>
              <a:rPr sz="1100" dirty="0">
                <a:latin typeface="Arial MT"/>
                <a:cs typeface="Arial MT"/>
              </a:rPr>
              <a:t>),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decrease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6.7%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increase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of</a:t>
            </a:r>
            <a:endParaRPr sz="1100">
              <a:latin typeface="Arial MT"/>
              <a:cs typeface="Arial MT"/>
            </a:endParaRPr>
          </a:p>
          <a:p>
            <a:pPr marL="381000">
              <a:lnSpc>
                <a:spcPts val="1265"/>
              </a:lnSpc>
            </a:pPr>
            <a:r>
              <a:rPr sz="1100" dirty="0">
                <a:latin typeface="Arial MT"/>
                <a:cs typeface="Arial MT"/>
              </a:rPr>
              <a:t>10.8%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YoY.</a:t>
            </a:r>
            <a:endParaRPr sz="1100">
              <a:latin typeface="Arial MT"/>
              <a:cs typeface="Arial MT"/>
            </a:endParaRPr>
          </a:p>
          <a:p>
            <a:pPr marL="377825" marR="157480" indent="-225425">
              <a:lnSpc>
                <a:spcPts val="1260"/>
              </a:lnSpc>
              <a:spcBef>
                <a:spcPts val="60"/>
              </a:spcBef>
              <a:buAutoNum type="arabicPeriod" startAt="8"/>
              <a:tabLst>
                <a:tab pos="381000" algn="l"/>
              </a:tabLst>
            </a:pPr>
            <a:r>
              <a:rPr sz="1100" dirty="0">
                <a:latin typeface="Arial MT"/>
                <a:cs typeface="Arial MT"/>
              </a:rPr>
              <a:t>Operating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cash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flows of </a:t>
            </a:r>
            <a:r>
              <a:rPr sz="1100" spc="-100" dirty="0">
                <a:latin typeface="Arial MT"/>
                <a:cs typeface="Arial MT"/>
              </a:rPr>
              <a:t>₹41.1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billion ($479.6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million</a:t>
            </a:r>
            <a:r>
              <a:rPr sz="1050" baseline="31746" dirty="0">
                <a:latin typeface="Arial MT"/>
                <a:cs typeface="Arial MT"/>
              </a:rPr>
              <a:t>1</a:t>
            </a:r>
            <a:r>
              <a:rPr sz="1100" dirty="0">
                <a:latin typeface="Arial MT"/>
                <a:cs typeface="Arial MT"/>
              </a:rPr>
              <a:t>),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increase of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9.8%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QoQ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2.9%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YoY 	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123.2%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 Net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Income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quarter.</a:t>
            </a:r>
            <a:endParaRPr sz="1100">
              <a:latin typeface="Arial MT"/>
              <a:cs typeface="Arial MT"/>
            </a:endParaRPr>
          </a:p>
          <a:p>
            <a:pPr marL="377825" indent="-225425">
              <a:lnSpc>
                <a:spcPts val="1215"/>
              </a:lnSpc>
              <a:buAutoNum type="arabicPeriod" startAt="8"/>
              <a:tabLst>
                <a:tab pos="377825" algn="l"/>
              </a:tabLst>
            </a:pPr>
            <a:r>
              <a:rPr sz="1100" dirty="0">
                <a:latin typeface="Arial MT"/>
                <a:cs typeface="Arial MT"/>
              </a:rPr>
              <a:t>Declared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interim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dividend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54" dirty="0">
                <a:latin typeface="Arial MT"/>
                <a:cs typeface="Arial MT"/>
              </a:rPr>
              <a:t>₹5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($0.06</a:t>
            </a:r>
            <a:r>
              <a:rPr sz="1050" baseline="31746" dirty="0">
                <a:latin typeface="Arial MT"/>
                <a:cs typeface="Arial MT"/>
              </a:rPr>
              <a:t>1</a:t>
            </a:r>
            <a:r>
              <a:rPr sz="1100" dirty="0">
                <a:latin typeface="Arial MT"/>
                <a:cs typeface="Arial MT"/>
              </a:rPr>
              <a:t>)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equity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share/ADS.</a:t>
            </a:r>
            <a:endParaRPr sz="1100">
              <a:latin typeface="Arial MT"/>
              <a:cs typeface="Arial MT"/>
            </a:endParaRPr>
          </a:p>
          <a:p>
            <a:pPr marL="378460" indent="-226060">
              <a:lnSpc>
                <a:spcPts val="1290"/>
              </a:lnSpc>
              <a:buAutoNum type="arabicPeriod" startAt="8"/>
              <a:tabLst>
                <a:tab pos="378460" algn="l"/>
              </a:tabLst>
            </a:pPr>
            <a:r>
              <a:rPr sz="1100" dirty="0">
                <a:latin typeface="Arial MT"/>
                <a:cs typeface="Arial MT"/>
              </a:rPr>
              <a:t>Voluntary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attrition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15.1%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trailing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12-</a:t>
            </a:r>
            <a:r>
              <a:rPr sz="1100" dirty="0">
                <a:latin typeface="Arial MT"/>
                <a:cs typeface="Arial MT"/>
              </a:rPr>
              <a:t>month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basis.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3739" y="1050434"/>
            <a:ext cx="1250995" cy="9878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43204" y="9650450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49"/>
                </a:lnTo>
                <a:lnTo>
                  <a:pt x="1250950" y="222249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314325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0" dirty="0">
                <a:latin typeface="Calibri"/>
                <a:cs typeface="Calibri"/>
              </a:rPr>
              <a:t>Public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949198"/>
            <a:ext cx="5972810" cy="3458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Outlook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Quarter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ending</a:t>
            </a:r>
            <a:r>
              <a:rPr sz="1100" b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September</a:t>
            </a:r>
            <a:r>
              <a:rPr sz="1100" b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30,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2025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95900"/>
              </a:lnSpc>
            </a:pPr>
            <a:r>
              <a:rPr sz="1100" dirty="0">
                <a:latin typeface="Arial MT"/>
                <a:cs typeface="Arial MT"/>
              </a:rPr>
              <a:t>We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expect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range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$2,560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million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$2,612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million*.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translates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sequential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guidance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(-</a:t>
            </a:r>
            <a:r>
              <a:rPr sz="1100" dirty="0">
                <a:latin typeface="Arial MT"/>
                <a:cs typeface="Arial MT"/>
              </a:rPr>
              <a:t>)1.0%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1.0%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constant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currency terms.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Arial MT"/>
              <a:cs typeface="Arial MT"/>
            </a:endParaRPr>
          </a:p>
          <a:p>
            <a:pPr marL="12700" marR="6985" algn="just">
              <a:lnSpc>
                <a:spcPts val="1030"/>
              </a:lnSpc>
              <a:spcBef>
                <a:spcPts val="5"/>
              </a:spcBef>
            </a:pPr>
            <a:r>
              <a:rPr sz="900" i="1" dirty="0">
                <a:latin typeface="Arial"/>
                <a:cs typeface="Arial"/>
              </a:rPr>
              <a:t>*Outlook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Quarter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ending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Sept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30,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2025,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is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based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on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following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exchange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rates: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GBP/USD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at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1.34,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Euro/USD </a:t>
            </a:r>
            <a:r>
              <a:rPr sz="900" i="1" dirty="0">
                <a:latin typeface="Arial"/>
                <a:cs typeface="Arial"/>
              </a:rPr>
              <a:t>at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1.13,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AUD/USD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at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0.64,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USD/INR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at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85.88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CAD/USD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at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0.72</a:t>
            </a:r>
            <a:endParaRPr sz="9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960"/>
              </a:spcBef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Performance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Quarter</a:t>
            </a:r>
            <a:r>
              <a:rPr sz="1100" b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ended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June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30,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2025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96000"/>
              </a:lnSpc>
              <a:spcBef>
                <a:spcPts val="894"/>
              </a:spcBef>
            </a:pPr>
            <a:r>
              <a:rPr sz="1100" b="1" dirty="0">
                <a:latin typeface="Arial"/>
                <a:cs typeface="Arial"/>
              </a:rPr>
              <a:t>Srini</a:t>
            </a:r>
            <a:r>
              <a:rPr sz="1100" b="1" spc="2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Pallia,</a:t>
            </a:r>
            <a:r>
              <a:rPr sz="1100" b="1" spc="2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CEO</a:t>
            </a:r>
            <a:r>
              <a:rPr sz="1100" b="1" spc="2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2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Managing</a:t>
            </a:r>
            <a:r>
              <a:rPr sz="1100" b="1" spc="254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Director,</a:t>
            </a:r>
            <a:r>
              <a:rPr sz="1100" b="1" spc="27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said</a:t>
            </a:r>
            <a:r>
              <a:rPr sz="1100" b="1" spc="2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“In</a:t>
            </a:r>
            <a:r>
              <a:rPr sz="1100" i="1" spc="27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254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quarter</a:t>
            </a:r>
            <a:r>
              <a:rPr sz="1100" i="1" spc="2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shaped</a:t>
            </a:r>
            <a:r>
              <a:rPr sz="1100" i="1" spc="2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by</a:t>
            </a:r>
            <a:r>
              <a:rPr sz="1100" i="1" spc="24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macroeconomic </a:t>
            </a:r>
            <a:r>
              <a:rPr sz="1100" i="1" dirty="0">
                <a:latin typeface="Arial"/>
                <a:cs typeface="Arial"/>
              </a:rPr>
              <a:t>uncertainty,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clients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prioritised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efficiency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and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cost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optimization.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We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partnered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closely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with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them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to </a:t>
            </a:r>
            <a:r>
              <a:rPr sz="1100" i="1" dirty="0">
                <a:latin typeface="Arial"/>
                <a:cs typeface="Arial"/>
              </a:rPr>
              <a:t>address</a:t>
            </a:r>
            <a:r>
              <a:rPr sz="1100" i="1" spc="1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these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needs,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resulting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16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large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deals,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including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two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mega</a:t>
            </a:r>
            <a:r>
              <a:rPr sz="1100" i="1" spc="1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deals.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Building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on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the </a:t>
            </a:r>
            <a:r>
              <a:rPr sz="1100" i="1" dirty="0">
                <a:latin typeface="Arial"/>
                <a:cs typeface="Arial"/>
              </a:rPr>
              <a:t>momentum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from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last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quarter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and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supported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by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strong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pipeline,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we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are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well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positioned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for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the </a:t>
            </a:r>
            <a:r>
              <a:rPr sz="1100" i="1" dirty="0">
                <a:latin typeface="Arial"/>
                <a:cs typeface="Arial"/>
              </a:rPr>
              <a:t>second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half.</a:t>
            </a:r>
            <a:r>
              <a:rPr sz="1100" i="1" spc="17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AI</a:t>
            </a:r>
            <a:r>
              <a:rPr sz="1100" i="1" spc="1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is</a:t>
            </a:r>
            <a:r>
              <a:rPr sz="1100" i="1" spc="17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no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longer</a:t>
            </a:r>
            <a:r>
              <a:rPr sz="1100" i="1" spc="17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experimental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-</a:t>
            </a:r>
            <a:r>
              <a:rPr sz="1100" i="1" spc="1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it’s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central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to</a:t>
            </a:r>
            <a:r>
              <a:rPr sz="1100" i="1" spc="1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our</a:t>
            </a:r>
            <a:r>
              <a:rPr sz="1100" i="1" spc="17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clients’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strategies,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and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we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are </a:t>
            </a:r>
            <a:r>
              <a:rPr sz="1100" i="1" dirty="0">
                <a:latin typeface="Arial"/>
                <a:cs typeface="Arial"/>
              </a:rPr>
              <a:t>delivering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real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impact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at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scale.</a:t>
            </a:r>
            <a:r>
              <a:rPr sz="1100" spc="-10" dirty="0">
                <a:latin typeface="Calibri"/>
                <a:cs typeface="Calibri"/>
              </a:rPr>
              <a:t>”</a:t>
            </a:r>
            <a:endParaRPr sz="1100">
              <a:latin typeface="Calibri"/>
              <a:cs typeface="Calibri"/>
            </a:endParaRPr>
          </a:p>
          <a:p>
            <a:pPr marL="12700" marR="5715" algn="just">
              <a:lnSpc>
                <a:spcPct val="95800"/>
              </a:lnSpc>
              <a:spcBef>
                <a:spcPts val="1340"/>
              </a:spcBef>
            </a:pPr>
            <a:r>
              <a:rPr sz="1100" b="1" dirty="0">
                <a:latin typeface="Arial"/>
                <a:cs typeface="Arial"/>
              </a:rPr>
              <a:t>Aparna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Iyer,</a:t>
            </a:r>
            <a:r>
              <a:rPr sz="1100" b="1" spc="7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Chief</a:t>
            </a:r>
            <a:r>
              <a:rPr sz="1100" b="1" spc="7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Financial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Officer,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said</a:t>
            </a:r>
            <a:r>
              <a:rPr sz="1100" b="1" spc="7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“</a:t>
            </a:r>
            <a:r>
              <a:rPr sz="1100" i="1" dirty="0">
                <a:latin typeface="Arial"/>
                <a:cs typeface="Arial"/>
              </a:rPr>
              <a:t>We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expanded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our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operating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margins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by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80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basis </a:t>
            </a:r>
            <a:r>
              <a:rPr sz="1100" i="1" dirty="0">
                <a:latin typeface="Arial"/>
                <a:cs typeface="Arial"/>
              </a:rPr>
              <a:t>points on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YoY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basis.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Our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cash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flow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conversion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remained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strong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with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operating cash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flows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being </a:t>
            </a:r>
            <a:r>
              <a:rPr sz="1100" i="1" dirty="0">
                <a:latin typeface="Arial"/>
                <a:cs typeface="Arial"/>
              </a:rPr>
              <a:t>at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123%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of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our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net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income.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The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board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also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declared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interim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dividend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of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INR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5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per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share.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With </a:t>
            </a:r>
            <a:r>
              <a:rPr sz="1100" i="1" dirty="0">
                <a:latin typeface="Arial"/>
                <a:cs typeface="Arial"/>
              </a:rPr>
              <a:t>this,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the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total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cash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returned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to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shareholders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over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the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last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6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months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is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more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than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$1.3</a:t>
            </a:r>
            <a:r>
              <a:rPr sz="1100" i="1" spc="-20" dirty="0">
                <a:latin typeface="Arial"/>
                <a:cs typeface="Arial"/>
              </a:rPr>
              <a:t> Bn.”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4712334"/>
            <a:ext cx="121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25" dirty="0">
                <a:latin typeface="Arial"/>
                <a:cs typeface="Arial"/>
              </a:rPr>
              <a:t>1.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9153" y="4712334"/>
            <a:ext cx="5514340" cy="187134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7620" algn="just">
              <a:lnSpc>
                <a:spcPts val="1030"/>
              </a:lnSpc>
              <a:spcBef>
                <a:spcPts val="175"/>
              </a:spcBef>
            </a:pP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convenience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readers,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amounts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Indian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Rupees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this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release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have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been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translated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into </a:t>
            </a:r>
            <a:r>
              <a:rPr sz="900" i="1" dirty="0">
                <a:latin typeface="Arial"/>
                <a:cs typeface="Arial"/>
              </a:rPr>
              <a:t>United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States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Dollars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at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certified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foreign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exchange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rate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US$1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=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₹85.74,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as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published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by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Federal </a:t>
            </a:r>
            <a:r>
              <a:rPr sz="900" i="1" dirty="0">
                <a:latin typeface="Arial"/>
                <a:cs typeface="Arial"/>
              </a:rPr>
              <a:t>Reserve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Board</a:t>
            </a:r>
            <a:r>
              <a:rPr sz="900" i="1" spc="1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Governors</a:t>
            </a:r>
            <a:r>
              <a:rPr sz="900" i="1" spc="114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on</a:t>
            </a:r>
            <a:r>
              <a:rPr sz="900" i="1" spc="1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June</a:t>
            </a:r>
            <a:r>
              <a:rPr sz="900" i="1" spc="1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30,</a:t>
            </a:r>
            <a:r>
              <a:rPr sz="900" i="1" spc="1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2025.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However,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1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realized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exchange</a:t>
            </a:r>
            <a:r>
              <a:rPr sz="900" i="1" spc="1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rate</a:t>
            </a:r>
            <a:r>
              <a:rPr sz="900" i="1" spc="1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1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our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IT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Services </a:t>
            </a:r>
            <a:r>
              <a:rPr sz="900" i="1" dirty="0">
                <a:latin typeface="Arial"/>
                <a:cs typeface="Arial"/>
              </a:rPr>
              <a:t>business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segment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quarter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ended June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30,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2025,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was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US$1=</a:t>
            </a:r>
            <a:r>
              <a:rPr sz="900" i="1" spc="-10" dirty="0">
                <a:latin typeface="Arial"/>
                <a:cs typeface="Arial"/>
              </a:rPr>
              <a:t> ₹85.34</a:t>
            </a:r>
            <a:endParaRPr sz="900">
              <a:latin typeface="Arial"/>
              <a:cs typeface="Arial"/>
            </a:endParaRPr>
          </a:p>
          <a:p>
            <a:pPr marL="12700" marR="9525" algn="just">
              <a:lnSpc>
                <a:spcPts val="1030"/>
              </a:lnSpc>
              <a:spcBef>
                <a:spcPts val="20"/>
              </a:spcBef>
            </a:pPr>
            <a:r>
              <a:rPr sz="900" i="1" dirty="0">
                <a:latin typeface="Arial"/>
                <a:cs typeface="Arial"/>
              </a:rPr>
              <a:t>Constant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currency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period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is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product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volumes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that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period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times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average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actual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exchange </a:t>
            </a:r>
            <a:r>
              <a:rPr sz="900" i="1" dirty="0">
                <a:latin typeface="Arial"/>
                <a:cs typeface="Arial"/>
              </a:rPr>
              <a:t>rate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corresponding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comparative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period.</a:t>
            </a:r>
            <a:endParaRPr sz="900">
              <a:latin typeface="Arial"/>
              <a:cs typeface="Arial"/>
            </a:endParaRPr>
          </a:p>
          <a:p>
            <a:pPr marL="12700" marR="8255" algn="just">
              <a:lnSpc>
                <a:spcPts val="1030"/>
              </a:lnSpc>
              <a:spcBef>
                <a:spcPts val="5"/>
              </a:spcBef>
            </a:pPr>
            <a:r>
              <a:rPr sz="900" i="1" dirty="0">
                <a:latin typeface="Arial"/>
                <a:cs typeface="Arial"/>
              </a:rPr>
              <a:t>Total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Bookings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refers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total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contract</a:t>
            </a:r>
            <a:r>
              <a:rPr sz="900" i="1" spc="-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value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-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all</a:t>
            </a:r>
            <a:r>
              <a:rPr sz="900" i="1" spc="-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orders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that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were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booked</a:t>
            </a:r>
            <a:r>
              <a:rPr sz="900" i="1" spc="-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during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period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including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new </a:t>
            </a:r>
            <a:r>
              <a:rPr sz="900" i="1" dirty="0">
                <a:latin typeface="Arial"/>
                <a:cs typeface="Arial"/>
              </a:rPr>
              <a:t>orders,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renewals,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increases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existing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contracts.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Bookings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do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not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reflect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subsequent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terminations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or</a:t>
            </a:r>
            <a:endParaRPr sz="900">
              <a:latin typeface="Arial"/>
              <a:cs typeface="Arial"/>
            </a:endParaRPr>
          </a:p>
          <a:p>
            <a:pPr marL="12700" marR="5080" algn="just">
              <a:lnSpc>
                <a:spcPts val="1030"/>
              </a:lnSpc>
              <a:spcBef>
                <a:spcPts val="15"/>
              </a:spcBef>
            </a:pPr>
            <a:r>
              <a:rPr sz="900" i="1" dirty="0">
                <a:latin typeface="Arial"/>
                <a:cs typeface="Arial"/>
              </a:rPr>
              <a:t>reductions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related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bookings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originally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recorded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prior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fiscal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periods.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Bookings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are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recorded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using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then- </a:t>
            </a:r>
            <a:r>
              <a:rPr sz="900" i="1" dirty="0">
                <a:latin typeface="Arial"/>
                <a:cs typeface="Arial"/>
              </a:rPr>
              <a:t>existing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foreign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currency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exchange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rates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are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not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subsequently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adjusted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foreign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currency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exchange </a:t>
            </a:r>
            <a:r>
              <a:rPr sz="900" i="1" dirty="0">
                <a:latin typeface="Arial"/>
                <a:cs typeface="Arial"/>
              </a:rPr>
              <a:t>rate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fluctuations.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revenues</a:t>
            </a:r>
            <a:r>
              <a:rPr sz="900" i="1" spc="1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from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these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contracts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accrue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over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tenure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contract.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constant </a:t>
            </a:r>
            <a:r>
              <a:rPr sz="900" i="1" dirty="0">
                <a:latin typeface="Arial"/>
                <a:cs typeface="Arial"/>
              </a:rPr>
              <a:t>currency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growth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rates,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refer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note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2.</a:t>
            </a:r>
            <a:endParaRPr sz="900">
              <a:latin typeface="Arial"/>
              <a:cs typeface="Arial"/>
            </a:endParaRPr>
          </a:p>
          <a:p>
            <a:pPr marL="12700" marR="706120" algn="just">
              <a:lnSpc>
                <a:spcPts val="1030"/>
              </a:lnSpc>
              <a:spcBef>
                <a:spcPts val="20"/>
              </a:spcBef>
            </a:pPr>
            <a:r>
              <a:rPr sz="900" i="1" dirty="0">
                <a:latin typeface="Arial"/>
                <a:cs typeface="Arial"/>
              </a:rPr>
              <a:t>Large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deal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bookings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consist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deals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greater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than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equal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$30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million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total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contract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value. </a:t>
            </a:r>
            <a:r>
              <a:rPr sz="900" i="1" dirty="0">
                <a:latin typeface="Arial"/>
                <a:cs typeface="Arial"/>
              </a:rPr>
              <a:t>IT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Services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Operating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Margin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refers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Segment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Results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Total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as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reflected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IFRS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financials.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5238115"/>
            <a:ext cx="121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25" dirty="0">
                <a:latin typeface="Arial"/>
                <a:cs typeface="Arial"/>
              </a:rPr>
              <a:t>2.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5500496"/>
            <a:ext cx="1219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25" dirty="0">
                <a:latin typeface="Arial"/>
                <a:cs typeface="Arial"/>
              </a:rPr>
              <a:t>3.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6289928"/>
            <a:ext cx="121920" cy="294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55"/>
              </a:lnSpc>
              <a:spcBef>
                <a:spcPts val="100"/>
              </a:spcBef>
            </a:pPr>
            <a:r>
              <a:rPr sz="900" i="1" spc="-25" dirty="0">
                <a:latin typeface="Arial"/>
                <a:cs typeface="Arial"/>
              </a:rPr>
              <a:t>4.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5"/>
              </a:lnSpc>
            </a:pPr>
            <a:r>
              <a:rPr sz="900" i="1" spc="-25" dirty="0">
                <a:latin typeface="Arial"/>
                <a:cs typeface="Arial"/>
              </a:rPr>
              <a:t>5.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3503" y="9678568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50"/>
                </a:lnTo>
                <a:lnTo>
                  <a:pt x="1250950" y="222250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314325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0" dirty="0">
                <a:latin typeface="Calibri"/>
                <a:cs typeface="Calibri"/>
              </a:rPr>
              <a:t>Public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88923"/>
            <a:ext cx="5971540" cy="788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Highlights</a:t>
            </a: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Strategic</a:t>
            </a: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Deal</a:t>
            </a:r>
            <a:r>
              <a:rPr sz="12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Wins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270"/>
              </a:lnSpc>
            </a:pPr>
            <a:r>
              <a:rPr sz="1100" dirty="0">
                <a:latin typeface="Arial MT"/>
                <a:cs typeface="Arial MT"/>
              </a:rPr>
              <a:t>In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Q1’26,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continued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win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large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deals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industries.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Key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highlights include:</a:t>
            </a:r>
            <a:endParaRPr sz="1100">
              <a:latin typeface="Arial MT"/>
              <a:cs typeface="Arial MT"/>
            </a:endParaRPr>
          </a:p>
          <a:p>
            <a:pPr marL="694690" marR="5080" indent="-225425" algn="just">
              <a:lnSpc>
                <a:spcPct val="95900"/>
              </a:lnSpc>
              <a:spcBef>
                <a:spcPts val="1235"/>
              </a:spcBef>
              <a:buAutoNum type="arabicPeriod"/>
              <a:tabLst>
                <a:tab pos="697865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leading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technology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chosen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exclusive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strategic 	partner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scale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engineering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application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support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operations.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This 	</a:t>
            </a:r>
            <a:r>
              <a:rPr sz="1100" dirty="0">
                <a:latin typeface="Arial MT"/>
                <a:cs typeface="Arial MT"/>
              </a:rPr>
              <a:t>milestone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engagement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direct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reflection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client’s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vision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simplify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operations, 	</a:t>
            </a:r>
            <a:r>
              <a:rPr sz="1100" dirty="0">
                <a:latin typeface="Arial MT"/>
                <a:cs typeface="Arial MT"/>
              </a:rPr>
              <a:t>accelerate</a:t>
            </a:r>
            <a:r>
              <a:rPr sz="1100" spc="15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innovation,</a:t>
            </a:r>
            <a:r>
              <a:rPr sz="1100" spc="16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6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build</a:t>
            </a:r>
            <a:r>
              <a:rPr sz="1100" spc="16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55" dirty="0">
                <a:latin typeface="Arial MT"/>
                <a:cs typeface="Arial MT"/>
              </a:rPr>
              <a:t>  </a:t>
            </a:r>
            <a:r>
              <a:rPr sz="1100" spc="-10" dirty="0">
                <a:latin typeface="Arial MT"/>
                <a:cs typeface="Arial MT"/>
              </a:rPr>
              <a:t>future-</a:t>
            </a:r>
            <a:r>
              <a:rPr sz="1100" dirty="0">
                <a:latin typeface="Arial MT"/>
                <a:cs typeface="Arial MT"/>
              </a:rPr>
              <a:t>ready</a:t>
            </a:r>
            <a:r>
              <a:rPr sz="1100" spc="16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engineering</a:t>
            </a:r>
            <a:r>
              <a:rPr sz="1100" spc="15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ecosystem.</a:t>
            </a:r>
            <a:r>
              <a:rPr sz="1100" spc="160" dirty="0">
                <a:latin typeface="Arial MT"/>
                <a:cs typeface="Arial MT"/>
              </a:rPr>
              <a:t>  </a:t>
            </a:r>
            <a:r>
              <a:rPr sz="1100" spc="-25" dirty="0">
                <a:latin typeface="Arial MT"/>
                <a:cs typeface="Arial MT"/>
              </a:rPr>
              <a:t>By 	</a:t>
            </a:r>
            <a:r>
              <a:rPr sz="1100" dirty="0">
                <a:latin typeface="Arial MT"/>
                <a:cs typeface="Arial MT"/>
              </a:rPr>
              <a:t>consolidating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fragmented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vendor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establishing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high-</a:t>
            </a:r>
            <a:r>
              <a:rPr sz="1100" dirty="0">
                <a:latin typeface="Arial MT"/>
                <a:cs typeface="Arial MT"/>
              </a:rPr>
              <a:t>impact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Centre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of 	</a:t>
            </a:r>
            <a:r>
              <a:rPr sz="1100" dirty="0">
                <a:latin typeface="Arial MT"/>
                <a:cs typeface="Arial MT"/>
              </a:rPr>
              <a:t>Excellence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India,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enabling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double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engineering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capacity, 	</a:t>
            </a:r>
            <a:r>
              <a:rPr sz="1100" dirty="0">
                <a:latin typeface="Arial MT"/>
                <a:cs typeface="Arial MT"/>
              </a:rPr>
              <a:t>enhance</a:t>
            </a:r>
            <a:r>
              <a:rPr sz="1100" spc="3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application</a:t>
            </a:r>
            <a:r>
              <a:rPr sz="1100" spc="3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reliability,</a:t>
            </a:r>
            <a:r>
              <a:rPr sz="1100" spc="3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3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reduce</a:t>
            </a:r>
            <a:r>
              <a:rPr sz="1100" spc="3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support</a:t>
            </a:r>
            <a:r>
              <a:rPr sz="1100" spc="3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overhead—</a:t>
            </a:r>
            <a:r>
              <a:rPr sz="1100" dirty="0">
                <a:latin typeface="Arial MT"/>
                <a:cs typeface="Arial MT"/>
              </a:rPr>
              <a:t>while</a:t>
            </a:r>
            <a:r>
              <a:rPr sz="1100" spc="3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significantly 	</a:t>
            </a:r>
            <a:r>
              <a:rPr sz="1100" dirty="0">
                <a:latin typeface="Arial MT"/>
                <a:cs typeface="Arial MT"/>
              </a:rPr>
              <a:t>improving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partner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experience.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co-</a:t>
            </a:r>
            <a:r>
              <a:rPr sz="1100" dirty="0">
                <a:latin typeface="Arial MT"/>
                <a:cs typeface="Arial MT"/>
              </a:rPr>
              <a:t>development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Agentic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solution 	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enterprise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application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space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marks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pivotal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moment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our 	</a:t>
            </a:r>
            <a:r>
              <a:rPr sz="1100" spc="-10" dirty="0">
                <a:latin typeface="Arial MT"/>
                <a:cs typeface="Arial MT"/>
              </a:rPr>
              <a:t>journey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embed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intelligent,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autonomous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capabilities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complex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enterprise systems 	</a:t>
            </a:r>
            <a:r>
              <a:rPr sz="1100" dirty="0">
                <a:latin typeface="Arial MT"/>
                <a:cs typeface="Arial MT"/>
              </a:rPr>
              <a:t>while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laying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foundation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enterprise-</a:t>
            </a:r>
            <a:r>
              <a:rPr sz="1100" dirty="0">
                <a:latin typeface="Arial MT"/>
                <a:cs typeface="Arial MT"/>
              </a:rPr>
              <a:t>grade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adoption.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win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testament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	</a:t>
            </a:r>
            <a:r>
              <a:rPr sz="1100" dirty="0">
                <a:latin typeface="Arial MT"/>
                <a:cs typeface="Arial MT"/>
              </a:rPr>
              <a:t>Wipro’s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deep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technical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expertise,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innovation-</a:t>
            </a:r>
            <a:r>
              <a:rPr sz="1100" dirty="0">
                <a:latin typeface="Arial MT"/>
                <a:cs typeface="Arial MT"/>
              </a:rPr>
              <a:t>led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delivery,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investments 	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position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true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engineering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partner.</a:t>
            </a:r>
            <a:endParaRPr sz="1100">
              <a:latin typeface="Arial MT"/>
              <a:cs typeface="Arial MT"/>
            </a:endParaRPr>
          </a:p>
          <a:p>
            <a:pPr marL="694690" marR="5080" indent="-225425" algn="just">
              <a:lnSpc>
                <a:spcPct val="95900"/>
              </a:lnSpc>
              <a:spcBef>
                <a:spcPts val="1250"/>
              </a:spcBef>
              <a:buAutoNum type="arabicPeriod"/>
              <a:tabLst>
                <a:tab pos="697865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US-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technology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awarded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contract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	</a:t>
            </a:r>
            <a:r>
              <a:rPr sz="1100" dirty="0">
                <a:latin typeface="Arial MT"/>
                <a:cs typeface="Arial MT"/>
              </a:rPr>
              <a:t>enable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innovation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scale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proprietary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operating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system.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accelerate 	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release</a:t>
            </a:r>
            <a:r>
              <a:rPr sz="1100" spc="3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3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new</a:t>
            </a:r>
            <a:r>
              <a:rPr sz="1100" spc="3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OS</a:t>
            </a:r>
            <a:r>
              <a:rPr sz="1100" spc="3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versions</a:t>
            </a:r>
            <a:r>
              <a:rPr sz="1100" spc="3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3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streamlining</a:t>
            </a:r>
            <a:r>
              <a:rPr sz="1100" spc="3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test</a:t>
            </a:r>
            <a:r>
              <a:rPr sz="1100" spc="3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engineering,</a:t>
            </a:r>
            <a:r>
              <a:rPr sz="1100" spc="3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ensuring</a:t>
            </a:r>
            <a:r>
              <a:rPr sz="1100" spc="3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its 	</a:t>
            </a:r>
            <a:r>
              <a:rPr sz="1100" spc="-10" dirty="0">
                <a:latin typeface="Arial MT"/>
                <a:cs typeface="Arial MT"/>
              </a:rPr>
              <a:t>compatibility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applications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devices.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integrating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AI-</a:t>
            </a:r>
            <a:r>
              <a:rPr sz="1100" spc="-10" dirty="0">
                <a:latin typeface="Arial MT"/>
                <a:cs typeface="Arial MT"/>
              </a:rPr>
              <a:t>powered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tools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	</a:t>
            </a:r>
            <a:r>
              <a:rPr sz="1100" dirty="0">
                <a:latin typeface="Arial MT"/>
                <a:cs typeface="Arial MT"/>
              </a:rPr>
              <a:t>application</a:t>
            </a:r>
            <a:r>
              <a:rPr sz="1100" spc="3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development</a:t>
            </a:r>
            <a:r>
              <a:rPr sz="1100" spc="3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workflow,</a:t>
            </a:r>
            <a:r>
              <a:rPr sz="1100" spc="3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3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3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automate</a:t>
            </a:r>
            <a:r>
              <a:rPr sz="1100" spc="3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test</a:t>
            </a:r>
            <a:r>
              <a:rPr sz="1100" spc="3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creation,</a:t>
            </a:r>
            <a:r>
              <a:rPr sz="1100" spc="3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speed</a:t>
            </a:r>
            <a:r>
              <a:rPr sz="1100" spc="3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up 	</a:t>
            </a:r>
            <a:r>
              <a:rPr sz="1100" dirty="0">
                <a:latin typeface="Arial MT"/>
                <a:cs typeface="Arial MT"/>
              </a:rPr>
              <a:t>adaptation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apps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new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environments,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intelligently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assess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their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quality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	</a:t>
            </a:r>
            <a:r>
              <a:rPr sz="1100" dirty="0">
                <a:latin typeface="Arial MT"/>
                <a:cs typeface="Arial MT"/>
              </a:rPr>
              <a:t>reliability.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These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enhancements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reduce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development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cycle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total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cost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of 	</a:t>
            </a:r>
            <a:r>
              <a:rPr sz="1100" dirty="0">
                <a:latin typeface="Arial MT"/>
                <a:cs typeface="Arial MT"/>
              </a:rPr>
              <a:t>ownership,</a:t>
            </a:r>
            <a:r>
              <a:rPr sz="1100" spc="12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while</a:t>
            </a:r>
            <a:r>
              <a:rPr sz="1100" spc="13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improving</a:t>
            </a:r>
            <a:r>
              <a:rPr sz="1100" spc="12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12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experience</a:t>
            </a:r>
            <a:r>
              <a:rPr sz="1100" spc="12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2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12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stability.</a:t>
            </a:r>
            <a:r>
              <a:rPr sz="1100" spc="130" dirty="0">
                <a:latin typeface="Arial MT"/>
                <a:cs typeface="Arial MT"/>
              </a:rPr>
              <a:t>  </a:t>
            </a:r>
            <a:r>
              <a:rPr sz="1100" spc="-20" dirty="0">
                <a:latin typeface="Arial MT"/>
                <a:cs typeface="Arial MT"/>
              </a:rPr>
              <a:t>This 	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strengthens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partnership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spanning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more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than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two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decades,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built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on 	</a:t>
            </a:r>
            <a:r>
              <a:rPr sz="1100" dirty="0">
                <a:latin typeface="Arial MT"/>
                <a:cs typeface="Arial MT"/>
              </a:rPr>
              <a:t>deep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domain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expertise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consistent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excellence.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AutoNum type="arabicPeriod"/>
            </a:pPr>
            <a:endParaRPr sz="1100">
              <a:latin typeface="Arial MT"/>
              <a:cs typeface="Arial MT"/>
            </a:endParaRPr>
          </a:p>
          <a:p>
            <a:pPr marL="694690" marR="5080" indent="-225425" algn="just">
              <a:lnSpc>
                <a:spcPct val="95800"/>
              </a:lnSpc>
              <a:buAutoNum type="arabicPeriod"/>
              <a:tabLst>
                <a:tab pos="697865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US-based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specialty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fashion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retailer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chosen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Wipro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modernize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business</a:t>
            </a:r>
            <a:r>
              <a:rPr sz="1100" spc="-25" dirty="0">
                <a:latin typeface="Arial MT"/>
                <a:cs typeface="Arial MT"/>
              </a:rPr>
              <a:t> and 	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3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operations,</a:t>
            </a:r>
            <a:r>
              <a:rPr sz="1100" spc="3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3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</a:t>
            </a:r>
            <a:r>
              <a:rPr sz="1100" spc="3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3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consumer</a:t>
            </a:r>
            <a:r>
              <a:rPr sz="1100" spc="3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interface</a:t>
            </a:r>
            <a:r>
              <a:rPr sz="1100" spc="3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3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contact</a:t>
            </a:r>
            <a:r>
              <a:rPr sz="1100" spc="3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centers,</a:t>
            </a:r>
            <a:r>
              <a:rPr sz="1100" spc="3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e- 	</a:t>
            </a:r>
            <a:r>
              <a:rPr sz="1100" dirty="0">
                <a:latin typeface="Arial MT"/>
                <a:cs typeface="Arial MT"/>
              </a:rPr>
              <a:t>commerce,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marketing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functions.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Enterprise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partner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will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create 	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dedicated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4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innovation</a:t>
            </a:r>
            <a:r>
              <a:rPr sz="1100" spc="4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hub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client,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which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4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encompass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process, 	applications,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Infrastructure.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Leveraging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agents,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Wipro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will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help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client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deliver 	</a:t>
            </a:r>
            <a:r>
              <a:rPr sz="1100" dirty="0">
                <a:latin typeface="Arial MT"/>
                <a:cs typeface="Arial MT"/>
              </a:rPr>
              <a:t>personalized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experiences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recommendations.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Further,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create 	</a:t>
            </a:r>
            <a:r>
              <a:rPr sz="1100" dirty="0">
                <a:latin typeface="Arial MT"/>
                <a:cs typeface="Arial MT"/>
              </a:rPr>
              <a:t>an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AI-powered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solution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accelerate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software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development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cycle,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delivering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 	</a:t>
            </a:r>
            <a:r>
              <a:rPr sz="1100" dirty="0">
                <a:latin typeface="Arial MT"/>
                <a:cs typeface="Arial MT"/>
              </a:rPr>
              <a:t>seamless,</a:t>
            </a:r>
            <a:r>
              <a:rPr sz="1100" spc="3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transparent,</a:t>
            </a:r>
            <a:r>
              <a:rPr sz="1100" spc="3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3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more</a:t>
            </a:r>
            <a:r>
              <a:rPr sz="1100" spc="3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unified</a:t>
            </a:r>
            <a:r>
              <a:rPr sz="1100" spc="3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</a:t>
            </a:r>
            <a:r>
              <a:rPr sz="1100" spc="3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experience</a:t>
            </a:r>
            <a:r>
              <a:rPr sz="1100" spc="3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3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customers</a:t>
            </a:r>
            <a:r>
              <a:rPr sz="1100" spc="3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	</a:t>
            </a:r>
            <a:r>
              <a:rPr sz="1100" dirty="0">
                <a:latin typeface="Arial MT"/>
                <a:cs typeface="Arial MT"/>
              </a:rPr>
              <a:t>employees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digital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channels.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Ultimately,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transformation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will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	</a:t>
            </a:r>
            <a:r>
              <a:rPr sz="1100" dirty="0">
                <a:latin typeface="Arial MT"/>
                <a:cs typeface="Arial MT"/>
              </a:rPr>
              <a:t>foundation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more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agile,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AI-</a:t>
            </a:r>
            <a:r>
              <a:rPr sz="1100" dirty="0">
                <a:latin typeface="Arial MT"/>
                <a:cs typeface="Arial MT"/>
              </a:rPr>
              <a:t>infused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enterprise,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helping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scale,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innovate, 	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prepare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future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growth.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AutoNum type="arabicPeriod"/>
            </a:pPr>
            <a:endParaRPr sz="1100">
              <a:latin typeface="Arial MT"/>
              <a:cs typeface="Arial MT"/>
            </a:endParaRPr>
          </a:p>
          <a:p>
            <a:pPr marL="694690" marR="5080" indent="-225425" algn="just">
              <a:lnSpc>
                <a:spcPct val="95800"/>
              </a:lnSpc>
              <a:buAutoNum type="arabicPeriod"/>
              <a:tabLst>
                <a:tab pos="697865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leading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US-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hospitality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selected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enhance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performance 	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their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life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cycle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including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growth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reservations,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service, 	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payments.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Following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successful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pilots,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selected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help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client 	</a:t>
            </a:r>
            <a:r>
              <a:rPr sz="1100" dirty="0">
                <a:latin typeface="Arial MT"/>
                <a:cs typeface="Arial MT"/>
              </a:rPr>
              <a:t>optimize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scale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capabilities,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which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part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their</a:t>
            </a:r>
            <a:r>
              <a:rPr sz="1100" spc="-10" dirty="0">
                <a:latin typeface="Arial MT"/>
                <a:cs typeface="Arial MT"/>
              </a:rPr>
              <a:t> business 	</a:t>
            </a:r>
            <a:r>
              <a:rPr sz="1100" dirty="0">
                <a:latin typeface="Arial MT"/>
                <a:cs typeface="Arial MT"/>
              </a:rPr>
              <a:t>transformation</a:t>
            </a:r>
            <a:r>
              <a:rPr sz="1100" spc="10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roadmap.</a:t>
            </a:r>
            <a:r>
              <a:rPr sz="1100" spc="11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10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11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10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enable</a:t>
            </a:r>
            <a:r>
              <a:rPr sz="1100" spc="10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11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05" dirty="0">
                <a:latin typeface="Arial MT"/>
                <a:cs typeface="Arial MT"/>
              </a:rPr>
              <a:t>  </a:t>
            </a:r>
            <a:r>
              <a:rPr sz="1100" spc="-10" dirty="0">
                <a:latin typeface="Arial MT"/>
                <a:cs typeface="Arial MT"/>
              </a:rPr>
              <a:t>improve 	</a:t>
            </a:r>
            <a:r>
              <a:rPr sz="1100" dirty="0">
                <a:latin typeface="Arial MT"/>
                <a:cs typeface="Arial MT"/>
              </a:rPr>
              <a:t>conversion,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increase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booking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velocity,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ensure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best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class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satisfaction.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6375" y="9691243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49"/>
                </a:lnTo>
                <a:lnTo>
                  <a:pt x="1250950" y="222249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314325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0" dirty="0">
                <a:latin typeface="Calibri"/>
                <a:cs typeface="Calibri"/>
              </a:rPr>
              <a:t>Public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9153" y="788923"/>
            <a:ext cx="5515610" cy="822642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238125" marR="5080" indent="-225425" algn="just">
              <a:lnSpc>
                <a:spcPct val="95800"/>
              </a:lnSpc>
              <a:spcBef>
                <a:spcPts val="160"/>
              </a:spcBef>
              <a:buAutoNum type="arabicPeriod" startAt="5"/>
              <a:tabLst>
                <a:tab pos="241300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leading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apparel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selected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infrastructure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	</a:t>
            </a:r>
            <a:r>
              <a:rPr sz="1100" dirty="0">
                <a:latin typeface="Arial MT"/>
                <a:cs typeface="Arial MT"/>
              </a:rPr>
              <a:t>Cybersecurity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AI-first</a:t>
            </a:r>
            <a:r>
              <a:rPr sz="1100" spc="2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approach.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part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first-</a:t>
            </a:r>
            <a:r>
              <a:rPr sz="1100" spc="-10" dirty="0">
                <a:latin typeface="Arial MT"/>
                <a:cs typeface="Arial MT"/>
              </a:rPr>
              <a:t>of-its-</a:t>
            </a:r>
            <a:r>
              <a:rPr sz="1100" spc="-20" dirty="0">
                <a:latin typeface="Arial MT"/>
                <a:cs typeface="Arial MT"/>
              </a:rPr>
              <a:t>kind 	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client,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deploy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proprietary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platform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streamline 	</a:t>
            </a:r>
            <a:r>
              <a:rPr sz="1100" dirty="0">
                <a:latin typeface="Arial MT"/>
                <a:cs typeface="Arial MT"/>
              </a:rPr>
              <a:t>operations,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improve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regulatory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compliance,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enhance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overall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experience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for 	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clients’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end-consumers,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suppliers,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employees, while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delivering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significant </a:t>
            </a:r>
            <a:r>
              <a:rPr sz="1100" spc="-20" dirty="0">
                <a:latin typeface="Arial MT"/>
                <a:cs typeface="Arial MT"/>
              </a:rPr>
              <a:t>cost 	</a:t>
            </a:r>
            <a:r>
              <a:rPr sz="1100" spc="-10" dirty="0">
                <a:latin typeface="Arial MT"/>
                <a:cs typeface="Arial MT"/>
              </a:rPr>
              <a:t>reductions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operations.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will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also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strengthen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security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posture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enabling 	</a:t>
            </a:r>
            <a:r>
              <a:rPr sz="1100" dirty="0">
                <a:latin typeface="Arial MT"/>
                <a:cs typeface="Arial MT"/>
              </a:rPr>
              <a:t>AI-</a:t>
            </a:r>
            <a:r>
              <a:rPr sz="1100" spc="-10" dirty="0">
                <a:latin typeface="Arial MT"/>
                <a:cs typeface="Arial MT"/>
              </a:rPr>
              <a:t>powered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predictive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preventive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operations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automation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security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workflows 	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improve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incident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resolution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times.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Through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unified,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AI-led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managed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services 	model,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Wipro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will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help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client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improve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regulatory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compliance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and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minimize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business 	</a:t>
            </a:r>
            <a:r>
              <a:rPr sz="1100" dirty="0">
                <a:latin typeface="Arial MT"/>
                <a:cs typeface="Arial MT"/>
              </a:rPr>
              <a:t>disruption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through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greater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operational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stability.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AutoNum type="arabicPeriod" startAt="5"/>
            </a:pPr>
            <a:endParaRPr sz="1100">
              <a:latin typeface="Arial MT"/>
              <a:cs typeface="Arial MT"/>
            </a:endParaRPr>
          </a:p>
          <a:p>
            <a:pPr marL="238125" marR="5080" indent="-225425" algn="just">
              <a:lnSpc>
                <a:spcPct val="95900"/>
              </a:lnSpc>
              <a:buAutoNum type="arabicPeriod" startAt="5"/>
              <a:tabLst>
                <a:tab pos="241300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leading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US-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healthcare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payer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selected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expanding 	</a:t>
            </a:r>
            <a:r>
              <a:rPr sz="1100" dirty="0">
                <a:latin typeface="Arial MT"/>
                <a:cs typeface="Arial MT"/>
              </a:rPr>
              <a:t>operational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demands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member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experience.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re-imagine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	</a:t>
            </a:r>
            <a:r>
              <a:rPr sz="1100" dirty="0">
                <a:latin typeface="Arial MT"/>
                <a:cs typeface="Arial MT"/>
              </a:rPr>
              <a:t>client’s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prior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authorization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workflows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clinical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case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determinations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improve 	</a:t>
            </a:r>
            <a:r>
              <a:rPr sz="1100" dirty="0">
                <a:latin typeface="Arial MT"/>
                <a:cs typeface="Arial MT"/>
              </a:rPr>
              <a:t>service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member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experience.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drive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measurable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impact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through 	</a:t>
            </a:r>
            <a:r>
              <a:rPr sz="1100" dirty="0">
                <a:latin typeface="Arial MT"/>
                <a:cs typeface="Arial MT"/>
              </a:rPr>
              <a:t>reduced</a:t>
            </a:r>
            <a:r>
              <a:rPr sz="1100" spc="2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turnaround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times,</a:t>
            </a:r>
            <a:r>
              <a:rPr sz="1100" spc="2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enhanced</a:t>
            </a:r>
            <a:r>
              <a:rPr sz="1100" spc="2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</a:t>
            </a:r>
            <a:r>
              <a:rPr sz="1100" spc="2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levels,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stronger</a:t>
            </a:r>
            <a:r>
              <a:rPr sz="1100" spc="2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Net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Promoter 	</a:t>
            </a:r>
            <a:r>
              <a:rPr sz="1100" dirty="0">
                <a:latin typeface="Arial MT"/>
                <a:cs typeface="Arial MT"/>
              </a:rPr>
              <a:t>Scores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client.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AutoNum type="arabicPeriod" startAt="5"/>
            </a:pPr>
            <a:endParaRPr sz="1100">
              <a:latin typeface="Arial MT"/>
              <a:cs typeface="Arial MT"/>
            </a:endParaRPr>
          </a:p>
          <a:p>
            <a:pPr marL="238125" marR="5080" indent="-225425" algn="just">
              <a:lnSpc>
                <a:spcPct val="95900"/>
              </a:lnSpc>
              <a:buAutoNum type="arabicPeriod" startAt="5"/>
              <a:tabLst>
                <a:tab pos="241300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been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selected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US-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digital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health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technology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firm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</a:t>
            </a:r>
            <a:r>
              <a:rPr sz="1100" spc="-25" dirty="0">
                <a:latin typeface="Arial MT"/>
                <a:cs typeface="Arial MT"/>
              </a:rPr>
              <a:t> its 	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care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sales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operations.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Leveraging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 automation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through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 	</a:t>
            </a:r>
            <a:r>
              <a:rPr sz="1100" spc="-10" dirty="0">
                <a:latin typeface="Arial MT"/>
                <a:cs typeface="Arial MT"/>
              </a:rPr>
              <a:t>cloud-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platform,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enable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client’s</a:t>
            </a:r>
            <a:r>
              <a:rPr sz="1100" spc="1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medical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offices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pharmacy 	</a:t>
            </a:r>
            <a:r>
              <a:rPr sz="1100" dirty="0">
                <a:latin typeface="Arial MT"/>
                <a:cs typeface="Arial MT"/>
              </a:rPr>
              <a:t>operations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advanced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self-</a:t>
            </a:r>
            <a:r>
              <a:rPr sz="1100" dirty="0">
                <a:latin typeface="Arial MT"/>
                <a:cs typeface="Arial MT"/>
              </a:rPr>
              <a:t>service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capabilities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conversational</a:t>
            </a:r>
            <a:r>
              <a:rPr sz="1100" spc="2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2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	</a:t>
            </a:r>
            <a:r>
              <a:rPr sz="1100" dirty="0">
                <a:latin typeface="Arial MT"/>
                <a:cs typeface="Arial MT"/>
              </a:rPr>
              <a:t>intelligent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query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routing.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Additionally,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GenAI-powered</a:t>
            </a:r>
            <a:r>
              <a:rPr sz="1100" spc="1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knowledge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presentation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	</a:t>
            </a:r>
            <a:r>
              <a:rPr sz="1100" spc="-10" dirty="0">
                <a:latin typeface="Arial MT"/>
                <a:cs typeface="Arial MT"/>
              </a:rPr>
              <a:t>context-aware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guidance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will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deployed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assist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agents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enhance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overall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service 	</a:t>
            </a:r>
            <a:r>
              <a:rPr sz="1100" dirty="0">
                <a:latin typeface="Arial MT"/>
                <a:cs typeface="Arial MT"/>
              </a:rPr>
              <a:t>delivery.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help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boost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sales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improve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post- 	</a:t>
            </a:r>
            <a:r>
              <a:rPr sz="1100" dirty="0">
                <a:latin typeface="Arial MT"/>
                <a:cs typeface="Arial MT"/>
              </a:rPr>
              <a:t>sales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patients,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all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while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reducing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operational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costs.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establish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 	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model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spanning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17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countries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supporting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10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languages, 	</a:t>
            </a:r>
            <a:r>
              <a:rPr sz="1100" dirty="0">
                <a:latin typeface="Arial MT"/>
                <a:cs typeface="Arial MT"/>
              </a:rPr>
              <a:t>driving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increased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market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share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improved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experience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patients.</a:t>
            </a:r>
            <a:endParaRPr sz="1100">
              <a:latin typeface="Arial MT"/>
              <a:cs typeface="Arial MT"/>
            </a:endParaRPr>
          </a:p>
          <a:p>
            <a:pPr marL="238125" marR="5080" indent="-225425" algn="just">
              <a:lnSpc>
                <a:spcPct val="95800"/>
              </a:lnSpc>
              <a:spcBef>
                <a:spcPts val="1260"/>
              </a:spcBef>
              <a:buAutoNum type="arabicPeriod" startAt="5"/>
              <a:tabLst>
                <a:tab pos="241300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US-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payment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engaged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partnership 	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enhance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resilience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reliability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business-</a:t>
            </a:r>
            <a:r>
              <a:rPr sz="1100" dirty="0">
                <a:latin typeface="Arial MT"/>
                <a:cs typeface="Arial MT"/>
              </a:rPr>
              <a:t>critical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applications.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	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consolidates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technology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under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more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focused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partner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model, 	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10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10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deploy</a:t>
            </a:r>
            <a:r>
              <a:rPr sz="1100" spc="11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AI-powered</a:t>
            </a:r>
            <a:r>
              <a:rPr sz="1100" spc="10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Application</a:t>
            </a:r>
            <a:r>
              <a:rPr sz="1100" spc="11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Management</a:t>
            </a:r>
            <a:r>
              <a:rPr sz="1100" spc="10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Solutions</a:t>
            </a:r>
            <a:r>
              <a:rPr sz="1100" spc="10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00" dirty="0">
                <a:latin typeface="Arial MT"/>
                <a:cs typeface="Arial MT"/>
              </a:rPr>
              <a:t>  </a:t>
            </a:r>
            <a:r>
              <a:rPr sz="1100" spc="-10" dirty="0">
                <a:latin typeface="Arial MT"/>
                <a:cs typeface="Arial MT"/>
              </a:rPr>
              <a:t>reinvent 	operations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unify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visibility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120+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application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groups.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Wipro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team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will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help 	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client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optimise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business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processes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change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management,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improve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observability 	</a:t>
            </a:r>
            <a:r>
              <a:rPr sz="1100" dirty="0">
                <a:latin typeface="Arial MT"/>
                <a:cs typeface="Arial MT"/>
              </a:rPr>
              <a:t>and deliver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cost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efficiency.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 will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 greater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operational </a:t>
            </a:r>
            <a:r>
              <a:rPr sz="1100" spc="-10" dirty="0">
                <a:latin typeface="Arial MT"/>
                <a:cs typeface="Arial MT"/>
              </a:rPr>
              <a:t>stability, 	</a:t>
            </a:r>
            <a:r>
              <a:rPr sz="1100" dirty="0">
                <a:latin typeface="Arial MT"/>
                <a:cs typeface="Arial MT"/>
              </a:rPr>
              <a:t>support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continuous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innovation,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improve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end-</a:t>
            </a: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experience.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AutoNum type="arabicPeriod" startAt="5"/>
            </a:pPr>
            <a:endParaRPr sz="1100">
              <a:latin typeface="Arial MT"/>
              <a:cs typeface="Arial MT"/>
            </a:endParaRPr>
          </a:p>
          <a:p>
            <a:pPr marL="238125" marR="7620" indent="-225425" algn="just">
              <a:lnSpc>
                <a:spcPct val="95900"/>
              </a:lnSpc>
              <a:buAutoNum type="arabicPeriod" startAt="5"/>
              <a:tabLst>
                <a:tab pos="241300" algn="l"/>
              </a:tabLst>
            </a:pPr>
            <a:r>
              <a:rPr sz="1100" dirty="0">
                <a:latin typeface="Arial MT"/>
                <a:cs typeface="Arial MT"/>
              </a:rPr>
              <a:t>One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Europe’s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largest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semiconductor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manufacturers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selected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develop 	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maintain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software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automotive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division.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span 	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full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lifecycle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silicon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engineering,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helping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accelerate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silicon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software 	</a:t>
            </a:r>
            <a:r>
              <a:rPr sz="1100" dirty="0">
                <a:latin typeface="Arial MT"/>
                <a:cs typeface="Arial MT"/>
              </a:rPr>
              <a:t>development,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improve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reliability,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bring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innovations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market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faster.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20" dirty="0">
                <a:latin typeface="Arial MT"/>
                <a:cs typeface="Arial MT"/>
              </a:rPr>
              <a:t> also 	</a:t>
            </a:r>
            <a:r>
              <a:rPr sz="1100" dirty="0">
                <a:latin typeface="Arial MT"/>
                <a:cs typeface="Arial MT"/>
              </a:rPr>
              <a:t>integrating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into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software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development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process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boost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efficiency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enable 	</a:t>
            </a:r>
            <a:r>
              <a:rPr sz="1100" dirty="0">
                <a:latin typeface="Arial MT"/>
                <a:cs typeface="Arial MT"/>
              </a:rPr>
              <a:t>smarter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engineering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decisions.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win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reinforces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Wipro’s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position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trusted 	</a:t>
            </a:r>
            <a:r>
              <a:rPr sz="1100" dirty="0">
                <a:latin typeface="Arial MT"/>
                <a:cs typeface="Arial MT"/>
              </a:rPr>
              <a:t>engineering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partner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semiconductor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industry.</a:t>
            </a:r>
            <a:endParaRPr sz="1100">
              <a:latin typeface="Arial MT"/>
              <a:cs typeface="Arial MT"/>
            </a:endParaRPr>
          </a:p>
          <a:p>
            <a:pPr marL="238760" marR="6350" indent="-226060" algn="just">
              <a:lnSpc>
                <a:spcPct val="95900"/>
              </a:lnSpc>
              <a:spcBef>
                <a:spcPts val="1255"/>
              </a:spcBef>
              <a:buAutoNum type="arabicPeriod" startAt="5"/>
              <a:tabLst>
                <a:tab pos="241300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leading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Europe-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medical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devices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selected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transform 	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quality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regulatory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consolidate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streamline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	</a:t>
            </a:r>
            <a:r>
              <a:rPr sz="1100" dirty="0">
                <a:latin typeface="Arial MT"/>
                <a:cs typeface="Arial MT"/>
              </a:rPr>
              <a:t>client’s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processes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through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delivery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model,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AI-powered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solutions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	</a:t>
            </a:r>
            <a:r>
              <a:rPr sz="1100" dirty="0">
                <a:latin typeface="Arial MT"/>
                <a:cs typeface="Arial MT"/>
              </a:rPr>
              <a:t>prioritize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allocate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complaints,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identify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complaint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codes,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enhance 	</a:t>
            </a:r>
            <a:r>
              <a:rPr sz="1100" dirty="0">
                <a:latin typeface="Arial MT"/>
                <a:cs typeface="Arial MT"/>
              </a:rPr>
              <a:t>regulatory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reporting.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intelligent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automation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1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expected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significantly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3675" y="9704717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50"/>
                </a:lnTo>
                <a:lnTo>
                  <a:pt x="1250950" y="222250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314325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0" dirty="0">
                <a:latin typeface="Calibri"/>
                <a:cs typeface="Calibri"/>
              </a:rPr>
              <a:t>Public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9153" y="788923"/>
            <a:ext cx="5514975" cy="661987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241300" marR="6350" algn="just">
              <a:lnSpc>
                <a:spcPct val="95500"/>
              </a:lnSpc>
              <a:spcBef>
                <a:spcPts val="160"/>
              </a:spcBef>
            </a:pPr>
            <a:r>
              <a:rPr sz="1100" dirty="0">
                <a:latin typeface="Arial MT"/>
                <a:cs typeface="Arial MT"/>
              </a:rPr>
              <a:t>improve</a:t>
            </a:r>
            <a:r>
              <a:rPr sz="1100" spc="4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complaint</a:t>
            </a:r>
            <a:r>
              <a:rPr sz="1100" spc="4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management,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strengthen</a:t>
            </a:r>
            <a:r>
              <a:rPr sz="1100" spc="4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compliance,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4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drive</a:t>
            </a:r>
            <a:r>
              <a:rPr sz="1100" spc="39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operational </a:t>
            </a:r>
            <a:r>
              <a:rPr sz="1100" dirty="0">
                <a:latin typeface="Arial MT"/>
                <a:cs typeface="Arial MT"/>
              </a:rPr>
              <a:t>efficiency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4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4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client’s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portfolio,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while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enabling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substantial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cost </a:t>
            </a:r>
            <a:r>
              <a:rPr sz="1100" dirty="0">
                <a:latin typeface="Arial MT"/>
                <a:cs typeface="Arial MT"/>
              </a:rPr>
              <a:t>efficiencies,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enhanced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productivity,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superior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outcomes.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Arial MT"/>
              <a:cs typeface="Arial MT"/>
            </a:endParaRPr>
          </a:p>
          <a:p>
            <a:pPr marL="238760" marR="5080" indent="-226060" algn="just">
              <a:lnSpc>
                <a:spcPct val="95800"/>
              </a:lnSpc>
              <a:buAutoNum type="arabicPeriod" startAt="11"/>
              <a:tabLst>
                <a:tab pos="241300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enterprise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software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selected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support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expanding 	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through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intelligent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audit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invoice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verification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travel 	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expense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management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workflows.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continuous,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round-</a:t>
            </a:r>
            <a:r>
              <a:rPr sz="1100" spc="-10" dirty="0">
                <a:latin typeface="Arial MT"/>
                <a:cs typeface="Arial MT"/>
              </a:rPr>
              <a:t>the-clock 	</a:t>
            </a:r>
            <a:r>
              <a:rPr sz="1100" dirty="0">
                <a:latin typeface="Arial MT"/>
                <a:cs typeface="Arial MT"/>
              </a:rPr>
              <a:t>support through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 globally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distributed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team, ensuring timely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 precise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validation </a:t>
            </a:r>
            <a:r>
              <a:rPr sz="1100" spc="-25" dirty="0">
                <a:latin typeface="Arial MT"/>
                <a:cs typeface="Arial MT"/>
              </a:rPr>
              <a:t>of 	</a:t>
            </a:r>
            <a:r>
              <a:rPr sz="1100" dirty="0">
                <a:latin typeface="Arial MT"/>
                <a:cs typeface="Arial MT"/>
              </a:rPr>
              <a:t>expense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reports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invoice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data. By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applying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domain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expertise and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rigorous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quality 	</a:t>
            </a:r>
            <a:r>
              <a:rPr sz="1100" dirty="0">
                <a:latin typeface="Arial MT"/>
                <a:cs typeface="Arial MT"/>
              </a:rPr>
              <a:t>controls,</a:t>
            </a:r>
            <a:r>
              <a:rPr sz="1100" spc="2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help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20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maintain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high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standards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while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scaling 	</a:t>
            </a:r>
            <a:r>
              <a:rPr sz="1100" dirty="0">
                <a:latin typeface="Arial MT"/>
                <a:cs typeface="Arial MT"/>
              </a:rPr>
              <a:t>delivery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growing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portfolio.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engagement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focuses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improving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accuracy, 	</a:t>
            </a:r>
            <a:r>
              <a:rPr sz="1100" dirty="0">
                <a:latin typeface="Arial MT"/>
                <a:cs typeface="Arial MT"/>
              </a:rPr>
              <a:t>compliance,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operational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efficiency.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AutoNum type="arabicPeriod" startAt="11"/>
            </a:pPr>
            <a:endParaRPr sz="1100">
              <a:latin typeface="Arial MT"/>
              <a:cs typeface="Arial MT"/>
            </a:endParaRPr>
          </a:p>
          <a:p>
            <a:pPr marL="238760" marR="5080" indent="-226060" algn="just">
              <a:lnSpc>
                <a:spcPct val="95900"/>
              </a:lnSpc>
              <a:buAutoNum type="arabicPeriod" startAt="11"/>
              <a:tabLst>
                <a:tab pos="241300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selected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automotive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streamline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its 	</a:t>
            </a:r>
            <a:r>
              <a:rPr sz="1100" dirty="0">
                <a:latin typeface="Arial MT"/>
                <a:cs typeface="Arial MT"/>
              </a:rPr>
              <a:t>Enterprise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Resource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Planning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unified,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AI-powered</a:t>
            </a:r>
            <a:r>
              <a:rPr sz="1100" spc="-10" dirty="0">
                <a:latin typeface="Arial MT"/>
                <a:cs typeface="Arial MT"/>
              </a:rPr>
              <a:t> platform. 	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deploy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solutions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Finance,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HR,</a:t>
            </a:r>
            <a:r>
              <a:rPr sz="1100" spc="2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Procurement—enhancing 	</a:t>
            </a:r>
            <a:r>
              <a:rPr sz="1100" dirty="0">
                <a:latin typeface="Arial MT"/>
                <a:cs typeface="Arial MT"/>
              </a:rPr>
              <a:t>operations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intelligent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automation,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document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processing,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predictive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insights. 	</a:t>
            </a:r>
            <a:r>
              <a:rPr sz="1100" dirty="0">
                <a:latin typeface="Arial MT"/>
                <a:cs typeface="Arial MT"/>
              </a:rPr>
              <a:t>This engagement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drive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productivity,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optimize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resource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utilization, 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strengthen 	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client’s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competitive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edge.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AutoNum type="arabicPeriod" startAt="11"/>
            </a:pPr>
            <a:endParaRPr sz="1100">
              <a:latin typeface="Arial MT"/>
              <a:cs typeface="Arial MT"/>
            </a:endParaRPr>
          </a:p>
          <a:p>
            <a:pPr marL="238760" marR="6350" indent="-226060" algn="just">
              <a:lnSpc>
                <a:spcPct val="95800"/>
              </a:lnSpc>
              <a:spcBef>
                <a:spcPts val="5"/>
              </a:spcBef>
              <a:buAutoNum type="arabicPeriod" startAt="11"/>
              <a:tabLst>
                <a:tab pos="241300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leading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bank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strong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APAC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presence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selected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set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up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 	</a:t>
            </a:r>
            <a:r>
              <a:rPr sz="1100" dirty="0">
                <a:latin typeface="Arial MT"/>
                <a:cs typeface="Arial MT"/>
              </a:rPr>
              <a:t>centralized</a:t>
            </a:r>
            <a:r>
              <a:rPr sz="1100" spc="4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AI-</a:t>
            </a:r>
            <a:r>
              <a:rPr sz="1100" dirty="0">
                <a:latin typeface="Arial MT"/>
                <a:cs typeface="Arial MT"/>
              </a:rPr>
              <a:t>powered</a:t>
            </a:r>
            <a:r>
              <a:rPr sz="1100" spc="4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Center</a:t>
            </a:r>
            <a:r>
              <a:rPr sz="1100" spc="45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4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Excellence</a:t>
            </a:r>
            <a:r>
              <a:rPr sz="1100" spc="4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4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accelerate</a:t>
            </a:r>
            <a:r>
              <a:rPr sz="1100" spc="4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enterprise-</a:t>
            </a:r>
            <a:r>
              <a:rPr sz="1100" dirty="0">
                <a:latin typeface="Arial MT"/>
                <a:cs typeface="Arial MT"/>
              </a:rPr>
              <a:t>wide</a:t>
            </a:r>
            <a:r>
              <a:rPr sz="1100" spc="45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AI 	</a:t>
            </a:r>
            <a:r>
              <a:rPr sz="1100" dirty="0">
                <a:latin typeface="Arial MT"/>
                <a:cs typeface="Arial MT"/>
              </a:rPr>
              <a:t>adoption.</a:t>
            </a:r>
            <a:r>
              <a:rPr sz="1100" spc="4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4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deploy</a:t>
            </a:r>
            <a:r>
              <a:rPr sz="1100" spc="4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Agentic</a:t>
            </a:r>
            <a:r>
              <a:rPr sz="1100" spc="4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4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solutions</a:t>
            </a:r>
            <a:r>
              <a:rPr sz="1100" spc="4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4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enable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smarter</a:t>
            </a:r>
            <a:r>
              <a:rPr sz="1100" spc="4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customer 	</a:t>
            </a:r>
            <a:r>
              <a:rPr sz="1100" dirty="0">
                <a:latin typeface="Arial MT"/>
                <a:cs typeface="Arial MT"/>
              </a:rPr>
              <a:t>interactions,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automated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workflows,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intelligent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document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handling.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deal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will 	</a:t>
            </a:r>
            <a:r>
              <a:rPr sz="1100" dirty="0">
                <a:latin typeface="Arial MT"/>
                <a:cs typeface="Arial MT"/>
              </a:rPr>
              <a:t>boost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operational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efficiency,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decision-</a:t>
            </a:r>
            <a:r>
              <a:rPr sz="1100" dirty="0">
                <a:latin typeface="Arial MT"/>
                <a:cs typeface="Arial MT"/>
              </a:rPr>
              <a:t>making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speed,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overall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experience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for 	</a:t>
            </a:r>
            <a:r>
              <a:rPr sz="1100" dirty="0">
                <a:latin typeface="Arial MT"/>
                <a:cs typeface="Arial MT"/>
              </a:rPr>
              <a:t>the </a:t>
            </a:r>
            <a:r>
              <a:rPr sz="1100" spc="-10" dirty="0">
                <a:latin typeface="Arial MT"/>
                <a:cs typeface="Arial MT"/>
              </a:rPr>
              <a:t>client.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AutoNum type="arabicPeriod" startAt="11"/>
            </a:pPr>
            <a:endParaRPr sz="1100">
              <a:latin typeface="Arial MT"/>
              <a:cs typeface="Arial MT"/>
            </a:endParaRPr>
          </a:p>
          <a:p>
            <a:pPr marL="238760" marR="5715" indent="-226060" algn="just">
              <a:lnSpc>
                <a:spcPct val="95800"/>
              </a:lnSpc>
              <a:buAutoNum type="arabicPeriod" startAt="11"/>
              <a:tabLst>
                <a:tab pos="241300" algn="l"/>
              </a:tabLst>
            </a:pPr>
            <a:r>
              <a:rPr sz="1100" dirty="0">
                <a:latin typeface="Arial MT"/>
                <a:cs typeface="Arial MT"/>
              </a:rPr>
              <a:t>A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global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logistics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selected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supply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chain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operations 	</a:t>
            </a:r>
            <a:r>
              <a:rPr sz="1100" dirty="0">
                <a:latin typeface="Arial MT"/>
                <a:cs typeface="Arial MT"/>
              </a:rPr>
              <a:t>through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GenAI-powered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solutions.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Building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success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previously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deployed 	</a:t>
            </a:r>
            <a:r>
              <a:rPr sz="1100" dirty="0">
                <a:latin typeface="Arial MT"/>
                <a:cs typeface="Arial MT"/>
              </a:rPr>
              <a:t>Gen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AI-</a:t>
            </a:r>
            <a:r>
              <a:rPr sz="1100" dirty="0">
                <a:latin typeface="Arial MT"/>
                <a:cs typeface="Arial MT"/>
              </a:rPr>
              <a:t>powered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virtual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assistants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processes,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introduce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agentic 	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assistive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optimize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procurement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logistics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workflows.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engagement 	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3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</a:t>
            </a:r>
            <a:r>
              <a:rPr sz="1100" spc="3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significant</a:t>
            </a:r>
            <a:r>
              <a:rPr sz="1100" spc="3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improvement</a:t>
            </a:r>
            <a:r>
              <a:rPr sz="1100" spc="3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operational</a:t>
            </a:r>
            <a:r>
              <a:rPr sz="1100" spc="3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efficiency</a:t>
            </a:r>
            <a:r>
              <a:rPr sz="1100" spc="3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3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measurable 	</a:t>
            </a:r>
            <a:r>
              <a:rPr sz="1100" dirty="0">
                <a:latin typeface="Arial MT"/>
                <a:cs typeface="Arial MT"/>
              </a:rPr>
              <a:t>increase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satisfaction—</a:t>
            </a:r>
            <a:r>
              <a:rPr sz="1100" dirty="0">
                <a:latin typeface="Arial MT"/>
                <a:cs typeface="Arial MT"/>
              </a:rPr>
              <a:t>enabling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smarter,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faster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decision-</a:t>
            </a:r>
            <a:r>
              <a:rPr sz="1100" dirty="0">
                <a:latin typeface="Arial MT"/>
                <a:cs typeface="Arial MT"/>
              </a:rPr>
              <a:t>making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client.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AutoNum type="arabicPeriod" startAt="11"/>
            </a:pPr>
            <a:endParaRPr sz="1100">
              <a:latin typeface="Arial MT"/>
              <a:cs typeface="Arial MT"/>
            </a:endParaRPr>
          </a:p>
          <a:p>
            <a:pPr marL="238760" marR="5715" indent="-226060" algn="just">
              <a:lnSpc>
                <a:spcPct val="95800"/>
              </a:lnSpc>
              <a:spcBef>
                <a:spcPts val="5"/>
              </a:spcBef>
              <a:buAutoNum type="arabicPeriod" startAt="11"/>
              <a:tabLst>
                <a:tab pos="241300" algn="l"/>
              </a:tabLst>
            </a:pPr>
            <a:r>
              <a:rPr sz="1100" spc="-10" dirty="0">
                <a:latin typeface="Arial MT"/>
                <a:cs typeface="Arial MT"/>
              </a:rPr>
              <a:t>A</a:t>
            </a:r>
            <a:r>
              <a:rPr sz="1100" spc="33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major</a:t>
            </a:r>
            <a:r>
              <a:rPr sz="1100" spc="3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UK-</a:t>
            </a:r>
            <a:r>
              <a:rPr sz="1100" spc="-5" dirty="0">
                <a:latin typeface="Arial MT"/>
                <a:cs typeface="Arial MT"/>
              </a:rPr>
              <a:t>base</a:t>
            </a:r>
            <a:r>
              <a:rPr sz="1100" dirty="0">
                <a:latin typeface="Arial MT"/>
                <a:cs typeface="Arial MT"/>
              </a:rPr>
              <a:t>d</a:t>
            </a:r>
            <a:r>
              <a:rPr sz="1100" spc="3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utilities</a:t>
            </a:r>
            <a:r>
              <a:rPr sz="1100" spc="33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provider</a:t>
            </a:r>
            <a:r>
              <a:rPr sz="1100" spc="33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ha</a:t>
            </a:r>
            <a:r>
              <a:rPr sz="1100" dirty="0">
                <a:latin typeface="Arial MT"/>
                <a:cs typeface="Arial MT"/>
              </a:rPr>
              <a:t>s</a:t>
            </a:r>
            <a:r>
              <a:rPr sz="1100" spc="3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selected</a:t>
            </a:r>
            <a:r>
              <a:rPr sz="1100" spc="33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Wipro</a:t>
            </a:r>
            <a:r>
              <a:rPr sz="1100" spc="3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33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transform</a:t>
            </a:r>
            <a:r>
              <a:rPr sz="1100" spc="32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its</a:t>
            </a:r>
            <a:r>
              <a:rPr sz="1100" spc="33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legacy</a:t>
            </a:r>
            <a:r>
              <a:rPr sz="1100" dirty="0">
                <a:latin typeface="Arial MT"/>
                <a:cs typeface="Arial MT"/>
              </a:rPr>
              <a:t> 	</a:t>
            </a:r>
            <a:r>
              <a:rPr sz="1100" spc="-5" dirty="0">
                <a:latin typeface="Arial MT"/>
                <a:cs typeface="Arial MT"/>
              </a:rPr>
              <a:t>Geographic</a:t>
            </a:r>
            <a:r>
              <a:rPr sz="1100" spc="-8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Information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System</a:t>
            </a:r>
            <a:r>
              <a:rPr sz="1100" spc="-8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(GIS)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5" dirty="0">
                <a:latin typeface="Arial MT"/>
                <a:cs typeface="Arial MT"/>
              </a:rPr>
              <a:t>a</a:t>
            </a:r>
            <a:r>
              <a:rPr sz="1100" dirty="0">
                <a:latin typeface="Arial MT"/>
                <a:cs typeface="Arial MT"/>
              </a:rPr>
              <a:t>s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part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8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multi-</a:t>
            </a:r>
            <a:r>
              <a:rPr sz="1100" spc="-10" dirty="0">
                <a:latin typeface="Arial MT"/>
                <a:cs typeface="Arial MT"/>
              </a:rPr>
              <a:t>year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strategy.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This</a:t>
            </a:r>
            <a:r>
              <a:rPr sz="1100" spc="-8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Consulting-</a:t>
            </a:r>
            <a:r>
              <a:rPr sz="1100" dirty="0">
                <a:latin typeface="Arial MT"/>
                <a:cs typeface="Arial MT"/>
              </a:rPr>
              <a:t> 	</a:t>
            </a:r>
            <a:r>
              <a:rPr sz="1100" spc="-10" dirty="0">
                <a:latin typeface="Arial MT"/>
                <a:cs typeface="Arial MT"/>
              </a:rPr>
              <a:t>led</a:t>
            </a:r>
            <a:r>
              <a:rPr sz="1100" spc="54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engagement</a:t>
            </a:r>
            <a:r>
              <a:rPr sz="1100" spc="550" dirty="0">
                <a:latin typeface="Arial MT"/>
                <a:cs typeface="Arial MT"/>
              </a:rPr>
              <a:t> </a:t>
            </a:r>
            <a:r>
              <a:rPr sz="1100" spc="-15" dirty="0">
                <a:latin typeface="Arial MT"/>
                <a:cs typeface="Arial MT"/>
              </a:rPr>
              <a:t>will</a:t>
            </a:r>
            <a:r>
              <a:rPr sz="1100" spc="54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leverage</a:t>
            </a:r>
            <a:r>
              <a:rPr sz="1100" spc="5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Wipro’s</a:t>
            </a:r>
            <a:r>
              <a:rPr sz="1100" spc="54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dee</a:t>
            </a:r>
            <a:r>
              <a:rPr sz="1100" dirty="0">
                <a:latin typeface="Arial MT"/>
                <a:cs typeface="Arial MT"/>
              </a:rPr>
              <a:t>p</a:t>
            </a:r>
            <a:r>
              <a:rPr sz="1100" spc="5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domain</a:t>
            </a:r>
            <a:r>
              <a:rPr sz="1100" spc="53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expertise</a:t>
            </a:r>
            <a:r>
              <a:rPr sz="1100" spc="54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a</a:t>
            </a:r>
            <a:r>
              <a:rPr sz="1100" spc="-20" dirty="0">
                <a:latin typeface="Arial MT"/>
                <a:cs typeface="Arial MT"/>
              </a:rPr>
              <a:t>n</a:t>
            </a:r>
            <a:r>
              <a:rPr sz="1100" dirty="0">
                <a:latin typeface="Arial MT"/>
                <a:cs typeface="Arial MT"/>
              </a:rPr>
              <a:t>d</a:t>
            </a:r>
            <a:r>
              <a:rPr sz="1100" spc="5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technical 	capabilities</a:t>
            </a:r>
            <a:r>
              <a:rPr sz="1100" spc="2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6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deliver</a:t>
            </a:r>
            <a:r>
              <a:rPr sz="1100" spc="27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Strategic</a:t>
            </a:r>
            <a:r>
              <a:rPr sz="1100" spc="27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Asset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Management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services,</a:t>
            </a:r>
            <a:r>
              <a:rPr sz="1100" spc="2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shaping</a:t>
            </a:r>
            <a:r>
              <a:rPr sz="1100" spc="2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2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client’s</a:t>
            </a:r>
            <a:r>
              <a:rPr sz="1100" dirty="0">
                <a:latin typeface="Arial MT"/>
                <a:cs typeface="Arial MT"/>
              </a:rPr>
              <a:t> 	</a:t>
            </a:r>
            <a:r>
              <a:rPr sz="1100" spc="-5" dirty="0">
                <a:latin typeface="Arial MT"/>
                <a:cs typeface="Arial MT"/>
              </a:rPr>
              <a:t>transformation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roadmap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an</a:t>
            </a:r>
            <a:r>
              <a:rPr sz="1100" dirty="0">
                <a:latin typeface="Arial MT"/>
                <a:cs typeface="Arial MT"/>
              </a:rPr>
              <a:t>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guiding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future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initiatives.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Th</a:t>
            </a:r>
            <a:r>
              <a:rPr sz="1100" dirty="0">
                <a:latin typeface="Arial MT"/>
                <a:cs typeface="Arial MT"/>
              </a:rPr>
              <a:t>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engagement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expecte</a:t>
            </a:r>
            <a:r>
              <a:rPr sz="1100" dirty="0">
                <a:latin typeface="Arial MT"/>
                <a:cs typeface="Arial MT"/>
              </a:rPr>
              <a:t>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 	</a:t>
            </a:r>
            <a:r>
              <a:rPr sz="1100" spc="-5" dirty="0">
                <a:latin typeface="Arial MT"/>
                <a:cs typeface="Arial MT"/>
              </a:rPr>
              <a:t>driv</a:t>
            </a:r>
            <a:r>
              <a:rPr sz="1100" dirty="0">
                <a:latin typeface="Arial MT"/>
                <a:cs typeface="Arial MT"/>
              </a:rPr>
              <a:t>e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significant</a:t>
            </a:r>
            <a:r>
              <a:rPr sz="1100" spc="42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improvements</a:t>
            </a:r>
            <a:r>
              <a:rPr sz="1100" spc="40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operational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efficiency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an</a:t>
            </a:r>
            <a:r>
              <a:rPr sz="1100" dirty="0">
                <a:latin typeface="Arial MT"/>
                <a:cs typeface="Arial MT"/>
              </a:rPr>
              <a:t>d</a:t>
            </a:r>
            <a:r>
              <a:rPr sz="1100" spc="4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better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cust</a:t>
            </a:r>
            <a:r>
              <a:rPr sz="1100" spc="-15" dirty="0">
                <a:latin typeface="Arial MT"/>
                <a:cs typeface="Arial MT"/>
              </a:rPr>
              <a:t>o</a:t>
            </a:r>
            <a:r>
              <a:rPr sz="1100" dirty="0">
                <a:latin typeface="Arial MT"/>
                <a:cs typeface="Arial MT"/>
              </a:rPr>
              <a:t>mer 	</a:t>
            </a:r>
            <a:r>
              <a:rPr sz="1100" spc="-5" dirty="0">
                <a:latin typeface="Arial MT"/>
                <a:cs typeface="Arial MT"/>
              </a:rPr>
              <a:t>experience.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7635" y="9703384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49"/>
                </a:lnTo>
                <a:lnTo>
                  <a:pt x="1250950" y="222249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314325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0" dirty="0">
                <a:latin typeface="Calibri"/>
                <a:cs typeface="Calibri"/>
              </a:rPr>
              <a:t>Public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9304" y="788923"/>
            <a:ext cx="5997575" cy="697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Analyst</a:t>
            </a:r>
            <a:r>
              <a:rPr sz="1200" b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Recognition</a:t>
            </a:r>
            <a:endParaRPr sz="1200">
              <a:latin typeface="Arial"/>
              <a:cs typeface="Arial"/>
            </a:endParaRPr>
          </a:p>
          <a:p>
            <a:pPr marL="479425" indent="-225425">
              <a:lnSpc>
                <a:spcPts val="1290"/>
              </a:lnSpc>
              <a:spcBef>
                <a:spcPts val="1205"/>
              </a:spcBef>
              <a:buAutoNum type="arabicPeriod"/>
              <a:tabLst>
                <a:tab pos="47942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ranked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Avasant's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Applied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AI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2024–2025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RadarView™</a:t>
            </a:r>
            <a:endParaRPr sz="1100">
              <a:latin typeface="Arial MT"/>
              <a:cs typeface="Arial MT"/>
            </a:endParaRPr>
          </a:p>
          <a:p>
            <a:pPr marL="478790" marR="19685" indent="-225425">
              <a:lnSpc>
                <a:spcPts val="1270"/>
              </a:lnSpc>
              <a:spcBef>
                <a:spcPts val="55"/>
              </a:spcBef>
              <a:buAutoNum type="arabicPeriod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114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114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recognized</a:t>
            </a:r>
            <a:r>
              <a:rPr sz="1100" spc="11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12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14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114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2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Avasant's</a:t>
            </a:r>
            <a:r>
              <a:rPr sz="1100" spc="11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Cybersecurity</a:t>
            </a:r>
            <a:r>
              <a:rPr sz="1100" spc="114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120" dirty="0">
                <a:latin typeface="Arial MT"/>
                <a:cs typeface="Arial MT"/>
              </a:rPr>
              <a:t>  </a:t>
            </a:r>
            <a:r>
              <a:rPr sz="1100" spc="-20" dirty="0">
                <a:latin typeface="Arial MT"/>
                <a:cs typeface="Arial MT"/>
              </a:rPr>
              <a:t>2025 	</a:t>
            </a:r>
            <a:r>
              <a:rPr sz="1100" spc="-10" dirty="0">
                <a:latin typeface="Arial MT"/>
                <a:cs typeface="Arial MT"/>
              </a:rPr>
              <a:t>RadarView™</a:t>
            </a:r>
            <a:endParaRPr sz="1100">
              <a:latin typeface="Arial MT"/>
              <a:cs typeface="Arial MT"/>
            </a:endParaRPr>
          </a:p>
          <a:p>
            <a:pPr marL="479425" indent="-225425">
              <a:lnSpc>
                <a:spcPts val="1205"/>
              </a:lnSpc>
              <a:buAutoNum type="arabicPeriod"/>
              <a:tabLst>
                <a:tab pos="47942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43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4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recognized</a:t>
            </a:r>
            <a:r>
              <a:rPr sz="1100" spc="4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4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4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4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4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Everest</a:t>
            </a:r>
            <a:r>
              <a:rPr sz="1100" spc="43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Group's</a:t>
            </a:r>
            <a:r>
              <a:rPr sz="1100" spc="4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Pharmacovigilance</a:t>
            </a:r>
            <a:r>
              <a:rPr sz="1100" spc="4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(PV)</a:t>
            </a:r>
            <a:endParaRPr sz="1100">
              <a:latin typeface="Arial MT"/>
              <a:cs typeface="Arial MT"/>
            </a:endParaRPr>
          </a:p>
          <a:p>
            <a:pPr marL="481965">
              <a:lnSpc>
                <a:spcPts val="1265"/>
              </a:lnSpc>
            </a:pPr>
            <a:r>
              <a:rPr sz="1100" dirty="0">
                <a:latin typeface="Arial MT"/>
                <a:cs typeface="Arial MT"/>
              </a:rPr>
              <a:t>Operations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PEAK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Matrix®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Assessment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2025</a:t>
            </a:r>
            <a:endParaRPr sz="1100">
              <a:latin typeface="Arial MT"/>
              <a:cs typeface="Arial MT"/>
            </a:endParaRPr>
          </a:p>
          <a:p>
            <a:pPr marL="478790" marR="19050" indent="-225425">
              <a:lnSpc>
                <a:spcPts val="1270"/>
              </a:lnSpc>
              <a:spcBef>
                <a:spcPts val="55"/>
              </a:spcBef>
              <a:buAutoNum type="arabicPeriod" startAt="4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 was positioned as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 Leader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 ISG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Provider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Lens™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Digital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Engineering </a:t>
            </a:r>
            <a:r>
              <a:rPr sz="1100" spc="-10" dirty="0">
                <a:latin typeface="Arial MT"/>
                <a:cs typeface="Arial MT"/>
              </a:rPr>
              <a:t>Services 	</a:t>
            </a:r>
            <a:r>
              <a:rPr sz="1100" dirty="0">
                <a:latin typeface="Arial MT"/>
                <a:cs typeface="Arial MT"/>
              </a:rPr>
              <a:t>2025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&amp;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Europe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(all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quadrants)</a:t>
            </a:r>
            <a:endParaRPr sz="1100">
              <a:latin typeface="Arial MT"/>
              <a:cs typeface="Arial MT"/>
            </a:endParaRPr>
          </a:p>
          <a:p>
            <a:pPr marL="478790" marR="20955" indent="-225425">
              <a:lnSpc>
                <a:spcPts val="1260"/>
              </a:lnSpc>
              <a:buAutoNum type="arabicPeriod" startAt="4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45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4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positioned</a:t>
            </a:r>
            <a:r>
              <a:rPr sz="1100" spc="4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4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4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4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4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Avasant's</a:t>
            </a:r>
            <a:r>
              <a:rPr sz="1100" spc="4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Banking</a:t>
            </a:r>
            <a:r>
              <a:rPr sz="1100" spc="4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Digital</a:t>
            </a:r>
            <a:r>
              <a:rPr sz="1100" spc="4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46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2025 	</a:t>
            </a:r>
            <a:r>
              <a:rPr sz="1100" spc="-10" dirty="0">
                <a:latin typeface="Arial MT"/>
                <a:cs typeface="Arial MT"/>
              </a:rPr>
              <a:t>RadarView™</a:t>
            </a:r>
            <a:endParaRPr sz="1100">
              <a:latin typeface="Arial MT"/>
              <a:cs typeface="Arial MT"/>
            </a:endParaRPr>
          </a:p>
          <a:p>
            <a:pPr marL="478790" marR="17780" indent="-225425">
              <a:lnSpc>
                <a:spcPts val="1260"/>
              </a:lnSpc>
              <a:spcBef>
                <a:spcPts val="10"/>
              </a:spcBef>
              <a:buAutoNum type="arabicPeriod" startAt="4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positioned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ISG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Provider</a:t>
            </a:r>
            <a:r>
              <a:rPr sz="1100" spc="1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Lens™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ServiceNow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Ecosystem 	</a:t>
            </a:r>
            <a:r>
              <a:rPr sz="1100" dirty="0">
                <a:latin typeface="Arial MT"/>
                <a:cs typeface="Arial MT"/>
              </a:rPr>
              <a:t>Partners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2025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&amp;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Europe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(all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quadrants)</a:t>
            </a:r>
            <a:endParaRPr sz="1100">
              <a:latin typeface="Arial MT"/>
              <a:cs typeface="Arial MT"/>
            </a:endParaRPr>
          </a:p>
          <a:p>
            <a:pPr marL="478790" marR="20320" indent="-225425">
              <a:lnSpc>
                <a:spcPts val="1260"/>
              </a:lnSpc>
              <a:spcBef>
                <a:spcPts val="10"/>
              </a:spcBef>
              <a:buAutoNum type="arabicPeriod" startAt="4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positioned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Horizon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3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Market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 the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HFS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Horizons: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Energy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	</a:t>
            </a:r>
            <a:r>
              <a:rPr sz="1100" dirty="0">
                <a:latin typeface="Arial MT"/>
                <a:cs typeface="Arial MT"/>
              </a:rPr>
              <a:t>Utilities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Providers,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2025</a:t>
            </a:r>
            <a:endParaRPr sz="1100">
              <a:latin typeface="Arial MT"/>
              <a:cs typeface="Arial MT"/>
            </a:endParaRPr>
          </a:p>
          <a:p>
            <a:pPr marL="479425" indent="-225425">
              <a:lnSpc>
                <a:spcPts val="1205"/>
              </a:lnSpc>
              <a:buAutoNum type="arabicPeriod" startAt="4"/>
              <a:tabLst>
                <a:tab pos="47942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3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positioned</a:t>
            </a:r>
            <a:r>
              <a:rPr sz="1100" spc="2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3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2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Everest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Group's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Talent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Readiness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30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Next-</a:t>
            </a:r>
            <a:endParaRPr sz="1100">
              <a:latin typeface="Arial MT"/>
              <a:cs typeface="Arial MT"/>
            </a:endParaRPr>
          </a:p>
          <a:p>
            <a:pPr marL="481965">
              <a:lnSpc>
                <a:spcPts val="1265"/>
              </a:lnSpc>
            </a:pPr>
            <a:r>
              <a:rPr sz="1100" dirty="0">
                <a:latin typeface="Arial MT"/>
                <a:cs typeface="Arial MT"/>
              </a:rPr>
              <a:t>generation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Application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PEAK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Matrix®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Assessment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2025</a:t>
            </a:r>
            <a:endParaRPr sz="1100">
              <a:latin typeface="Arial MT"/>
              <a:cs typeface="Arial MT"/>
            </a:endParaRPr>
          </a:p>
          <a:p>
            <a:pPr marL="478790" marR="21590" indent="-225425">
              <a:lnSpc>
                <a:spcPts val="1270"/>
              </a:lnSpc>
              <a:spcBef>
                <a:spcPts val="55"/>
              </a:spcBef>
              <a:buAutoNum type="arabicPeriod" startAt="9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rated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Horizon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3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Market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HFS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Horizons: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Intelligent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Retail 	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CPG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Ecosystems,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2025</a:t>
            </a:r>
            <a:endParaRPr sz="1100">
              <a:latin typeface="Arial MT"/>
              <a:cs typeface="Arial MT"/>
            </a:endParaRPr>
          </a:p>
          <a:p>
            <a:pPr marL="479425" marR="17780" indent="-226060">
              <a:lnSpc>
                <a:spcPts val="1260"/>
              </a:lnSpc>
              <a:buAutoNum type="arabicPeriod" startAt="9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positioned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2025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Gartner®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Magic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Quadrant™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Finance 	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Accounting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Process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Outsourcing</a:t>
            </a:r>
            <a:endParaRPr sz="1100">
              <a:latin typeface="Arial MT"/>
              <a:cs typeface="Arial MT"/>
            </a:endParaRPr>
          </a:p>
          <a:p>
            <a:pPr marL="479425" marR="19050" indent="-226060">
              <a:lnSpc>
                <a:spcPts val="1260"/>
              </a:lnSpc>
              <a:spcBef>
                <a:spcPts val="15"/>
              </a:spcBef>
              <a:buAutoNum type="arabicPeriod" startAt="9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positioned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Provider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Lens™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SAP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Ecosystem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2025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-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&amp; 	</a:t>
            </a:r>
            <a:r>
              <a:rPr sz="1100" dirty="0">
                <a:latin typeface="Arial MT"/>
                <a:cs typeface="Arial MT"/>
              </a:rPr>
              <a:t>UK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(all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quadrants)</a:t>
            </a:r>
            <a:endParaRPr sz="1100">
              <a:latin typeface="Arial MT"/>
              <a:cs typeface="Arial MT"/>
            </a:endParaRPr>
          </a:p>
          <a:p>
            <a:pPr marL="479425" marR="21590" indent="-226060">
              <a:lnSpc>
                <a:spcPts val="1260"/>
              </a:lnSpc>
              <a:spcBef>
                <a:spcPts val="10"/>
              </a:spcBef>
              <a:buAutoNum type="arabicPeriod" startAt="9"/>
              <a:tabLst>
                <a:tab pos="481965" algn="l"/>
              </a:tabLst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rated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Leader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Avasant's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Supply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Chain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Business 	</a:t>
            </a:r>
            <a:r>
              <a:rPr sz="1100" dirty="0">
                <a:latin typeface="Arial MT"/>
                <a:cs typeface="Arial MT"/>
              </a:rPr>
              <a:t>Process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Transformation</a:t>
            </a:r>
            <a:r>
              <a:rPr sz="1100" dirty="0">
                <a:latin typeface="Arial MT"/>
                <a:cs typeface="Arial MT"/>
              </a:rPr>
              <a:t> 2025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RadarView™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100">
              <a:latin typeface="Arial MT"/>
              <a:cs typeface="Arial MT"/>
            </a:endParaRPr>
          </a:p>
          <a:p>
            <a:pPr marL="254000" algn="just">
              <a:lnSpc>
                <a:spcPts val="1055"/>
              </a:lnSpc>
            </a:pPr>
            <a:r>
              <a:rPr sz="900" i="1" dirty="0">
                <a:latin typeface="Arial"/>
                <a:cs typeface="Arial"/>
              </a:rPr>
              <a:t>Source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&amp;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Disclaimer: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*Gartner,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“Magic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Quadrant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Finance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Accounting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Business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Process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Outsourcing”,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Jan</a:t>
            </a:r>
            <a:endParaRPr sz="900">
              <a:latin typeface="Arial"/>
              <a:cs typeface="Arial"/>
            </a:endParaRPr>
          </a:p>
          <a:p>
            <a:pPr marL="254000" algn="just">
              <a:lnSpc>
                <a:spcPts val="1035"/>
              </a:lnSpc>
            </a:pPr>
            <a:r>
              <a:rPr sz="900" i="1" dirty="0">
                <a:latin typeface="Arial"/>
                <a:cs typeface="Arial"/>
              </a:rPr>
              <a:t>Ambergen,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et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al,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14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April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2025.</a:t>
            </a:r>
            <a:endParaRPr sz="900">
              <a:latin typeface="Arial"/>
              <a:cs typeface="Arial"/>
            </a:endParaRPr>
          </a:p>
          <a:p>
            <a:pPr marL="254000" marR="24130" algn="just">
              <a:lnSpc>
                <a:spcPct val="96100"/>
              </a:lnSpc>
              <a:spcBef>
                <a:spcPts val="20"/>
              </a:spcBef>
            </a:pPr>
            <a:r>
              <a:rPr sz="900" i="1" dirty="0">
                <a:latin typeface="Arial"/>
                <a:cs typeface="Arial"/>
              </a:rPr>
              <a:t>GARTNER</a:t>
            </a:r>
            <a:r>
              <a:rPr sz="900" i="1" spc="16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is</a:t>
            </a:r>
            <a:r>
              <a:rPr sz="900" i="1" spc="18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18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registered</a:t>
            </a:r>
            <a:r>
              <a:rPr sz="900" i="1" spc="18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trademark</a:t>
            </a:r>
            <a:r>
              <a:rPr sz="900" i="1" spc="18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18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service</a:t>
            </a:r>
            <a:r>
              <a:rPr sz="900" i="1" spc="17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mark</a:t>
            </a:r>
            <a:r>
              <a:rPr sz="900" i="1" spc="18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17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Gartner,</a:t>
            </a:r>
            <a:r>
              <a:rPr sz="900" i="1" spc="18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Inc.</a:t>
            </a:r>
            <a:r>
              <a:rPr sz="900" i="1" spc="17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and/or</a:t>
            </a:r>
            <a:r>
              <a:rPr sz="900" i="1" spc="17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its</a:t>
            </a:r>
            <a:r>
              <a:rPr sz="900" i="1" spc="18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affiliates</a:t>
            </a:r>
            <a:r>
              <a:rPr sz="900" i="1" spc="17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18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18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U.S.</a:t>
            </a:r>
            <a:r>
              <a:rPr sz="900" i="1" spc="17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and </a:t>
            </a:r>
            <a:r>
              <a:rPr sz="900" i="1" spc="-10" dirty="0">
                <a:latin typeface="Arial"/>
                <a:cs typeface="Arial"/>
              </a:rPr>
              <a:t>internationally,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MAGIC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QUADRANT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is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registered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trademark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Gartner,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Inc.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and/or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its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affiliates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are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used </a:t>
            </a:r>
            <a:r>
              <a:rPr sz="900" i="1" dirty="0">
                <a:latin typeface="Arial"/>
                <a:cs typeface="Arial"/>
              </a:rPr>
              <a:t>herein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with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permission.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All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rights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reserved.</a:t>
            </a:r>
            <a:endParaRPr sz="900">
              <a:latin typeface="Arial"/>
              <a:cs typeface="Arial"/>
            </a:endParaRPr>
          </a:p>
          <a:p>
            <a:pPr marL="254000" marR="25400" algn="just">
              <a:lnSpc>
                <a:spcPts val="1030"/>
              </a:lnSpc>
              <a:spcBef>
                <a:spcPts val="30"/>
              </a:spcBef>
            </a:pPr>
            <a:r>
              <a:rPr sz="900" i="1" spc="-10" dirty="0">
                <a:latin typeface="Arial"/>
                <a:cs typeface="Arial"/>
              </a:rPr>
              <a:t>Gartner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does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not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endorse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any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vendor,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product,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or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service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depicted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its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research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publications,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does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not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advise </a:t>
            </a:r>
            <a:r>
              <a:rPr sz="900" i="1" dirty="0">
                <a:latin typeface="Arial"/>
                <a:cs typeface="Arial"/>
              </a:rPr>
              <a:t>technology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users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select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only</a:t>
            </a:r>
            <a:r>
              <a:rPr sz="900" i="1" spc="7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those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vendors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with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highest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ratings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other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designation.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Gartner's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research</a:t>
            </a:r>
            <a:endParaRPr sz="900">
              <a:latin typeface="Arial"/>
              <a:cs typeface="Arial"/>
            </a:endParaRPr>
          </a:p>
          <a:p>
            <a:pPr marL="254000" marR="23495" algn="just">
              <a:lnSpc>
                <a:spcPts val="1030"/>
              </a:lnSpc>
              <a:spcBef>
                <a:spcPts val="15"/>
              </a:spcBef>
            </a:pPr>
            <a:r>
              <a:rPr sz="900" i="1" dirty="0">
                <a:latin typeface="Arial"/>
                <a:cs typeface="Arial"/>
              </a:rPr>
              <a:t>publications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consist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opinions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Gartner’s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research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organization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should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not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construed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as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statements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1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fact.</a:t>
            </a:r>
            <a:r>
              <a:rPr sz="900" i="1" spc="1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Gartner</a:t>
            </a:r>
            <a:r>
              <a:rPr sz="900" i="1" spc="1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disclaims</a:t>
            </a:r>
            <a:r>
              <a:rPr sz="900" i="1" spc="20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all</a:t>
            </a:r>
            <a:r>
              <a:rPr sz="900" i="1" spc="1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warranties,</a:t>
            </a:r>
            <a:r>
              <a:rPr sz="900" i="1" spc="18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expressed</a:t>
            </a:r>
            <a:r>
              <a:rPr sz="900" i="1" spc="1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</a:t>
            </a:r>
            <a:r>
              <a:rPr sz="900" i="1" spc="18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implied,</a:t>
            </a:r>
            <a:r>
              <a:rPr sz="900" i="1" spc="1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with</a:t>
            </a:r>
            <a:r>
              <a:rPr sz="900" i="1" spc="20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respect</a:t>
            </a:r>
            <a:r>
              <a:rPr sz="900" i="1" spc="19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1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this</a:t>
            </a:r>
            <a:r>
              <a:rPr sz="900" i="1" spc="20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research,</a:t>
            </a:r>
            <a:r>
              <a:rPr sz="900" i="1" spc="19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including</a:t>
            </a:r>
            <a:r>
              <a:rPr sz="900" i="1" spc="18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any </a:t>
            </a:r>
            <a:r>
              <a:rPr sz="900" i="1" dirty="0">
                <a:latin typeface="Arial"/>
                <a:cs typeface="Arial"/>
              </a:rPr>
              <a:t>warranties of </a:t>
            </a:r>
            <a:r>
              <a:rPr sz="900" i="1" spc="-10" dirty="0">
                <a:latin typeface="Arial"/>
                <a:cs typeface="Arial"/>
              </a:rPr>
              <a:t>merchantability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fitness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for a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particular</a:t>
            </a:r>
            <a:r>
              <a:rPr sz="900" i="1" spc="-10" dirty="0">
                <a:latin typeface="Arial"/>
                <a:cs typeface="Arial"/>
              </a:rPr>
              <a:t> purpose.</a:t>
            </a:r>
            <a:endParaRPr sz="900">
              <a:latin typeface="Arial"/>
              <a:cs typeface="Arial"/>
            </a:endParaRPr>
          </a:p>
          <a:p>
            <a:pPr marL="254000" algn="just">
              <a:lnSpc>
                <a:spcPts val="990"/>
              </a:lnSpc>
            </a:pP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Gartner content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described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herein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(the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“Gartner Content”)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represents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research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opinion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or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viewpoints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published,</a:t>
            </a:r>
            <a:endParaRPr sz="900">
              <a:latin typeface="Arial"/>
              <a:cs typeface="Arial"/>
            </a:endParaRPr>
          </a:p>
          <a:p>
            <a:pPr marL="254000" marR="24765" algn="just">
              <a:lnSpc>
                <a:spcPts val="1030"/>
              </a:lnSpc>
              <a:spcBef>
                <a:spcPts val="60"/>
              </a:spcBef>
            </a:pPr>
            <a:r>
              <a:rPr sz="900" i="1" dirty="0">
                <a:latin typeface="Arial"/>
                <a:cs typeface="Arial"/>
              </a:rPr>
              <a:t>as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part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syndicated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subscription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service,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by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Gartner,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Inc.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("Gartner"),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is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not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representation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fact.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Gartner </a:t>
            </a:r>
            <a:r>
              <a:rPr sz="900" i="1" dirty="0">
                <a:latin typeface="Arial"/>
                <a:cs typeface="Arial"/>
              </a:rPr>
              <a:t>Content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speaks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as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its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original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publication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date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(and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not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as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date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this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press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release,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opinions </a:t>
            </a:r>
            <a:r>
              <a:rPr sz="900" i="1" dirty="0">
                <a:latin typeface="Arial"/>
                <a:cs typeface="Arial"/>
              </a:rPr>
              <a:t>expressed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in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Gartner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Content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are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subject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change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without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notice.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IT</a:t>
            </a:r>
            <a:r>
              <a:rPr sz="11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Products</a:t>
            </a:r>
            <a:endParaRPr sz="1100">
              <a:latin typeface="Arial"/>
              <a:cs typeface="Arial"/>
            </a:endParaRPr>
          </a:p>
          <a:p>
            <a:pPr marL="424815" indent="-170815">
              <a:lnSpc>
                <a:spcPts val="1290"/>
              </a:lnSpc>
              <a:spcBef>
                <a:spcPts val="1215"/>
              </a:spcBef>
              <a:buAutoNum type="arabicPeriod"/>
              <a:tabLst>
                <a:tab pos="424815" algn="l"/>
              </a:tabLst>
            </a:pPr>
            <a:r>
              <a:rPr sz="1100" dirty="0">
                <a:latin typeface="Arial MT"/>
                <a:cs typeface="Arial MT"/>
              </a:rPr>
              <a:t>IT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quarter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35" dirty="0">
                <a:latin typeface="Arial MT"/>
                <a:cs typeface="Arial MT"/>
              </a:rPr>
              <a:t>₹0.7</a:t>
            </a:r>
            <a:r>
              <a:rPr sz="1100" dirty="0">
                <a:latin typeface="Arial MT"/>
                <a:cs typeface="Arial MT"/>
              </a:rPr>
              <a:t> billion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($8.5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million</a:t>
            </a:r>
            <a:r>
              <a:rPr sz="1050" spc="-15" baseline="31746" dirty="0">
                <a:latin typeface="Arial MT"/>
                <a:cs typeface="Arial MT"/>
              </a:rPr>
              <a:t>1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  <a:p>
            <a:pPr marL="424815" indent="-170815">
              <a:lnSpc>
                <a:spcPts val="1290"/>
              </a:lnSpc>
              <a:buAutoNum type="arabicPeriod"/>
              <a:tabLst>
                <a:tab pos="424815" algn="l"/>
              </a:tabLst>
            </a:pPr>
            <a:r>
              <a:rPr sz="1100" dirty="0">
                <a:latin typeface="Arial MT"/>
                <a:cs typeface="Arial MT"/>
              </a:rPr>
              <a:t>IT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results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quarter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were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10" dirty="0">
                <a:latin typeface="Arial MT"/>
                <a:cs typeface="Arial MT"/>
              </a:rPr>
              <a:t>₹0.02</a:t>
            </a:r>
            <a:r>
              <a:rPr sz="1100" dirty="0">
                <a:latin typeface="Arial MT"/>
                <a:cs typeface="Arial MT"/>
              </a:rPr>
              <a:t> billion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($0.2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million</a:t>
            </a:r>
            <a:r>
              <a:rPr sz="1050" spc="-15" baseline="31746" dirty="0">
                <a:latin typeface="Arial MT"/>
                <a:cs typeface="Arial MT"/>
              </a:rPr>
              <a:t>1</a:t>
            </a:r>
            <a:r>
              <a:rPr sz="1100" spc="-10" dirty="0">
                <a:latin typeface="Arial MT"/>
                <a:cs typeface="Arial MT"/>
              </a:rPr>
              <a:t>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8209026"/>
            <a:ext cx="5970270" cy="3536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260"/>
              </a:lnSpc>
              <a:spcBef>
                <a:spcPts val="195"/>
              </a:spcBef>
            </a:pPr>
            <a:r>
              <a:rPr sz="1100" dirty="0">
                <a:latin typeface="Arial MT"/>
                <a:cs typeface="Arial MT"/>
              </a:rPr>
              <a:t>Please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refer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table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page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13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reconciliation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between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IFRS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IT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non-</a:t>
            </a:r>
            <a:r>
              <a:rPr sz="1100" dirty="0">
                <a:latin typeface="Arial MT"/>
                <a:cs typeface="Arial MT"/>
              </a:rPr>
              <a:t>GAAP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constant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currency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basis.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889" y="9721798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50"/>
                </a:lnTo>
                <a:lnTo>
                  <a:pt x="1250950" y="222250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314325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0" dirty="0">
                <a:latin typeface="Calibri"/>
                <a:cs typeface="Calibri"/>
              </a:rPr>
              <a:t>Public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88923"/>
            <a:ext cx="5972175" cy="6644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About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Key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Metrics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Non-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GAAP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Financial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Measures</a:t>
            </a:r>
            <a:endParaRPr sz="1100">
              <a:latin typeface="Arial"/>
              <a:cs typeface="Arial"/>
            </a:endParaRPr>
          </a:p>
          <a:p>
            <a:pPr marL="12700" marR="5715" algn="just">
              <a:lnSpc>
                <a:spcPct val="95900"/>
              </a:lnSpc>
              <a:spcBef>
                <a:spcPts val="1260"/>
              </a:spcBef>
            </a:pP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press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release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contains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key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metrics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non-</a:t>
            </a:r>
            <a:r>
              <a:rPr sz="1100" dirty="0">
                <a:latin typeface="Arial MT"/>
                <a:cs typeface="Arial MT"/>
              </a:rPr>
              <a:t>GAAP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financial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within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meaning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of </a:t>
            </a:r>
            <a:r>
              <a:rPr sz="1100" dirty="0">
                <a:latin typeface="Arial MT"/>
                <a:cs typeface="Arial MT"/>
              </a:rPr>
              <a:t>Regulation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</a:t>
            </a:r>
            <a:r>
              <a:rPr sz="1100" spc="3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Item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10(e)</a:t>
            </a:r>
            <a:r>
              <a:rPr sz="1100" spc="3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3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Regulation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S-</a:t>
            </a:r>
            <a:r>
              <a:rPr sz="1100" dirty="0">
                <a:latin typeface="Arial MT"/>
                <a:cs typeface="Arial MT"/>
              </a:rPr>
              <a:t>K.</a:t>
            </a:r>
            <a:r>
              <a:rPr sz="1100" spc="3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29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non-</a:t>
            </a:r>
            <a:r>
              <a:rPr sz="1100" dirty="0">
                <a:latin typeface="Arial MT"/>
                <a:cs typeface="Arial MT"/>
              </a:rPr>
              <a:t>GAAP</a:t>
            </a:r>
            <a:r>
              <a:rPr sz="1100" spc="2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2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measures</a:t>
            </a:r>
            <a:r>
              <a:rPr sz="1100" spc="30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are </a:t>
            </a:r>
            <a:r>
              <a:rPr sz="1100" dirty="0">
                <a:latin typeface="Arial MT"/>
                <a:cs typeface="Arial MT"/>
              </a:rPr>
              <a:t>measures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historical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future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performance,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financial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position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cash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flows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adjusted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exclude or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include amounts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 excluded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included,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case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 be,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most </a:t>
            </a:r>
            <a:r>
              <a:rPr sz="1100" dirty="0">
                <a:latin typeface="Arial MT"/>
                <a:cs typeface="Arial MT"/>
              </a:rPr>
              <a:t>directly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comparable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calculated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presented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accordance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IFRS.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 marL="12700" marR="5715" algn="just">
              <a:lnSpc>
                <a:spcPct val="95800"/>
              </a:lnSpc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table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page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13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provides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Services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Revenue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constant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currency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basis,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which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non- </a:t>
            </a:r>
            <a:r>
              <a:rPr sz="1100" dirty="0">
                <a:latin typeface="Arial MT"/>
                <a:cs typeface="Arial MT"/>
              </a:rPr>
              <a:t>GAAP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calculated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translating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current </a:t>
            </a:r>
            <a:r>
              <a:rPr sz="1100" dirty="0">
                <a:latin typeface="Arial MT"/>
                <a:cs typeface="Arial MT"/>
              </a:rPr>
              <a:t>reporting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period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into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U.S.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dollars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currency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conversion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rate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effect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prior </a:t>
            </a:r>
            <a:r>
              <a:rPr sz="1100" dirty="0">
                <a:latin typeface="Arial MT"/>
                <a:cs typeface="Arial MT"/>
              </a:rPr>
              <a:t>reporting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period.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refer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growth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rates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constant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currency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results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be </a:t>
            </a:r>
            <a:r>
              <a:rPr sz="1100" dirty="0">
                <a:latin typeface="Arial MT"/>
                <a:cs typeface="Arial MT"/>
              </a:rPr>
              <a:t>viewed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without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impact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fluctuations in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foreign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currency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exchange rates,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thereby </a:t>
            </a:r>
            <a:r>
              <a:rPr sz="1100" spc="-10" dirty="0">
                <a:latin typeface="Arial MT"/>
                <a:cs typeface="Arial MT"/>
              </a:rPr>
              <a:t>facilitating period-to-</a:t>
            </a:r>
            <a:r>
              <a:rPr sz="1100" dirty="0">
                <a:latin typeface="Arial MT"/>
                <a:cs typeface="Arial MT"/>
              </a:rPr>
              <a:t>period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comparisons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1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performance.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Further,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normal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course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of </a:t>
            </a:r>
            <a:r>
              <a:rPr sz="1100" dirty="0">
                <a:latin typeface="Arial MT"/>
                <a:cs typeface="Arial MT"/>
              </a:rPr>
              <a:t>business,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divest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portion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which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strategic.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refer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</a:t>
            </a:r>
            <a:r>
              <a:rPr sz="1100" dirty="0">
                <a:latin typeface="Arial MT"/>
                <a:cs typeface="Arial MT"/>
              </a:rPr>
              <a:t>growth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rates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both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reported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constant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currency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adjusting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divestments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order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</a:t>
            </a:r>
            <a:r>
              <a:rPr sz="1100" dirty="0">
                <a:latin typeface="Arial MT"/>
                <a:cs typeface="Arial MT"/>
              </a:rPr>
              <a:t>represent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comparable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growth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rates.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Arial MT"/>
              <a:cs typeface="Arial MT"/>
            </a:endParaRPr>
          </a:p>
          <a:p>
            <a:pPr marL="12700" marR="5080" algn="just">
              <a:lnSpc>
                <a:spcPct val="95800"/>
              </a:lnSpc>
            </a:pPr>
            <a:r>
              <a:rPr sz="1100" dirty="0">
                <a:latin typeface="Arial MT"/>
                <a:cs typeface="Arial MT"/>
              </a:rPr>
              <a:t>Our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key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metrics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non-</a:t>
            </a:r>
            <a:r>
              <a:rPr sz="1100" dirty="0">
                <a:latin typeface="Arial MT"/>
                <a:cs typeface="Arial MT"/>
              </a:rPr>
              <a:t>GAAP financial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any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comprehensive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set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of </a:t>
            </a:r>
            <a:r>
              <a:rPr sz="1100" dirty="0">
                <a:latin typeface="Arial MT"/>
                <a:cs typeface="Arial MT"/>
              </a:rPr>
              <a:t>accounting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rules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principles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should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considered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substitute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for,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superior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to,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</a:t>
            </a:r>
            <a:r>
              <a:rPr sz="1100" dirty="0">
                <a:latin typeface="Arial MT"/>
                <a:cs typeface="Arial MT"/>
              </a:rPr>
              <a:t>most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directly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comparable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calculated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accordance</a:t>
            </a:r>
            <a:r>
              <a:rPr sz="1100" spc="1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IFRS</a:t>
            </a:r>
            <a:r>
              <a:rPr sz="1100" spc="1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</a:t>
            </a:r>
            <a:r>
              <a:rPr sz="1100" spc="1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be </a:t>
            </a:r>
            <a:r>
              <a:rPr sz="1100" dirty="0">
                <a:latin typeface="Arial MT"/>
                <a:cs typeface="Arial MT"/>
              </a:rPr>
              <a:t>different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non-</a:t>
            </a:r>
            <a:r>
              <a:rPr sz="1100" dirty="0">
                <a:latin typeface="Arial MT"/>
                <a:cs typeface="Arial MT"/>
              </a:rPr>
              <a:t>GAAP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measures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used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other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companies.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key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metrics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non-</a:t>
            </a:r>
            <a:r>
              <a:rPr sz="1100" spc="-20" dirty="0">
                <a:latin typeface="Arial MT"/>
                <a:cs typeface="Arial MT"/>
              </a:rPr>
              <a:t>GAAP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measures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comparable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to,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nor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should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substituted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for,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analysis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our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over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involve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estimates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judgments.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addition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non-</a:t>
            </a:r>
            <a:r>
              <a:rPr sz="1100" dirty="0">
                <a:latin typeface="Arial MT"/>
                <a:cs typeface="Arial MT"/>
              </a:rPr>
              <a:t>GAAP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measures,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statements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prepared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accordance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IFRS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reconciliation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these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non- </a:t>
            </a:r>
            <a:r>
              <a:rPr sz="1100" dirty="0">
                <a:latin typeface="Arial MT"/>
                <a:cs typeface="Arial MT"/>
              </a:rPr>
              <a:t>GAAP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measures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most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directly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comparable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IFRS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financial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measure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should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be </a:t>
            </a:r>
            <a:r>
              <a:rPr sz="1100" dirty="0">
                <a:latin typeface="Arial MT"/>
                <a:cs typeface="Arial MT"/>
              </a:rPr>
              <a:t>carefully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evaluated.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 marL="12700" marR="112395">
              <a:lnSpc>
                <a:spcPct val="95900"/>
              </a:lnSpc>
            </a:pPr>
            <a:r>
              <a:rPr sz="1100" b="1" dirty="0">
                <a:latin typeface="Arial"/>
                <a:cs typeface="Arial"/>
              </a:rPr>
              <a:t>Results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for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Quarter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ended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June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30,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2025,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prepared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under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IFRS,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along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with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individual </a:t>
            </a:r>
            <a:r>
              <a:rPr sz="1100" b="1" dirty="0">
                <a:latin typeface="Arial"/>
                <a:cs typeface="Arial"/>
              </a:rPr>
              <a:t>business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segment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reports,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are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available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Investors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section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our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website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www.wipro.com/investors/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ts val="1295"/>
              </a:lnSpc>
            </a:pPr>
            <a:r>
              <a:rPr sz="1100" b="1" dirty="0">
                <a:latin typeface="Arial"/>
                <a:cs typeface="Arial"/>
              </a:rPr>
              <a:t>Quarterly </a:t>
            </a:r>
            <a:r>
              <a:rPr sz="1100" b="1" spc="-10" dirty="0">
                <a:latin typeface="Arial"/>
                <a:cs typeface="Arial"/>
              </a:rPr>
              <a:t>Conference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Call</a:t>
            </a:r>
            <a:endParaRPr sz="1100">
              <a:latin typeface="Arial"/>
              <a:cs typeface="Arial"/>
            </a:endParaRPr>
          </a:p>
          <a:p>
            <a:pPr marL="12700" marR="144145">
              <a:lnSpc>
                <a:spcPct val="96100"/>
              </a:lnSpc>
              <a:spcBef>
                <a:spcPts val="30"/>
              </a:spcBef>
            </a:pPr>
            <a:r>
              <a:rPr sz="1100" dirty="0">
                <a:latin typeface="Arial MT"/>
                <a:cs typeface="Arial MT"/>
              </a:rPr>
              <a:t>We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hold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earnings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conference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call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today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07:00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p.m.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Indian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Standard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(8:30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a.m. </a:t>
            </a:r>
            <a:r>
              <a:rPr sz="1100" dirty="0">
                <a:latin typeface="Arial MT"/>
                <a:cs typeface="Arial MT"/>
              </a:rPr>
              <a:t>U.S.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Eastern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Time)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discuss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performance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quarter.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audio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conference </a:t>
            </a:r>
            <a:r>
              <a:rPr sz="1100" dirty="0">
                <a:latin typeface="Arial MT"/>
                <a:cs typeface="Arial MT"/>
              </a:rPr>
              <a:t>call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available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online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through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webcast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accessed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following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link-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https://links.ccwebcast.com/?EventId=WIP17072025</a:t>
            </a:r>
            <a:endParaRPr sz="1100">
              <a:latin typeface="Calibri"/>
              <a:cs typeface="Calibri"/>
            </a:endParaRPr>
          </a:p>
          <a:p>
            <a:pPr marL="12700" marR="182245">
              <a:lnSpc>
                <a:spcPct val="95900"/>
              </a:lnSpc>
              <a:spcBef>
                <a:spcPts val="1325"/>
              </a:spcBef>
            </a:pPr>
            <a:r>
              <a:rPr sz="1100" dirty="0">
                <a:latin typeface="Arial MT"/>
                <a:cs typeface="Arial MT"/>
              </a:rPr>
              <a:t>An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audio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recording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management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discussions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question-and-</a:t>
            </a:r>
            <a:r>
              <a:rPr sz="1100" dirty="0">
                <a:latin typeface="Arial MT"/>
                <a:cs typeface="Arial MT"/>
              </a:rPr>
              <a:t>answer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session</a:t>
            </a:r>
            <a:r>
              <a:rPr sz="1100" spc="-20" dirty="0">
                <a:latin typeface="Arial MT"/>
                <a:cs typeface="Arial MT"/>
              </a:rPr>
              <a:t> will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available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online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will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accessible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Investor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Relations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section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website</a:t>
            </a:r>
            <a:r>
              <a:rPr sz="1100" spc="-25" dirty="0">
                <a:latin typeface="Arial MT"/>
                <a:cs typeface="Arial MT"/>
              </a:rPr>
              <a:t> at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www.wipro.com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3200" y="9694595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49"/>
                </a:lnTo>
                <a:lnTo>
                  <a:pt x="1250950" y="222249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314325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0" dirty="0">
                <a:latin typeface="Calibri"/>
                <a:cs typeface="Calibri"/>
              </a:rPr>
              <a:t>Public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88923"/>
            <a:ext cx="5972175" cy="147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About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Wipro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Limited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95900"/>
              </a:lnSpc>
              <a:spcBef>
                <a:spcPts val="1260"/>
              </a:spcBef>
            </a:pP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Limited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(NYSE: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WIT,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BSE: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507685,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NSE: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WIPRO)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leading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technology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dirty="0">
                <a:latin typeface="Arial MT"/>
                <a:cs typeface="Arial MT"/>
              </a:rPr>
              <a:t>consulting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focused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building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innovative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solutions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address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clients’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most</a:t>
            </a:r>
            <a:r>
              <a:rPr sz="1100" spc="-10" dirty="0">
                <a:latin typeface="Arial MT"/>
                <a:cs typeface="Arial MT"/>
              </a:rPr>
              <a:t> complex </a:t>
            </a:r>
            <a:r>
              <a:rPr sz="1100" dirty="0">
                <a:latin typeface="Arial MT"/>
                <a:cs typeface="Arial MT"/>
              </a:rPr>
              <a:t>digital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transformation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needs.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Leveraging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holistic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portfolio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capabilities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consulting,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design, engineering,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operations,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we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help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clients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realize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their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boldest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ambitions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build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future-ready, </a:t>
            </a:r>
            <a:r>
              <a:rPr sz="1100" dirty="0">
                <a:latin typeface="Arial MT"/>
                <a:cs typeface="Arial MT"/>
              </a:rPr>
              <a:t>sustainable</a:t>
            </a:r>
            <a:r>
              <a:rPr sz="1100" spc="3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businesses.</a:t>
            </a:r>
            <a:r>
              <a:rPr sz="1100" spc="3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3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over</a:t>
            </a:r>
            <a:r>
              <a:rPr sz="1100" spc="3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230,000</a:t>
            </a:r>
            <a:r>
              <a:rPr sz="1100" spc="3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employees</a:t>
            </a:r>
            <a:r>
              <a:rPr sz="1100" spc="3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3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3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partners</a:t>
            </a:r>
            <a:r>
              <a:rPr sz="1100" spc="3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across</a:t>
            </a:r>
            <a:r>
              <a:rPr sz="1100" spc="35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65 </a:t>
            </a:r>
            <a:r>
              <a:rPr sz="1100" dirty="0">
                <a:latin typeface="Arial MT"/>
                <a:cs typeface="Arial MT"/>
              </a:rPr>
              <a:t>countries,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promise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helping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clients,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colleagues,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communities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thrive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in </a:t>
            </a:r>
            <a:r>
              <a:rPr sz="1100" dirty="0">
                <a:latin typeface="Arial MT"/>
                <a:cs typeface="Arial MT"/>
              </a:rPr>
              <a:t>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ever-</a:t>
            </a:r>
            <a:r>
              <a:rPr sz="1100" dirty="0">
                <a:latin typeface="Arial MT"/>
                <a:cs typeface="Arial MT"/>
              </a:rPr>
              <a:t>changing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world.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additional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information,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visit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www.wipro.com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704" y="2434081"/>
          <a:ext cx="6051550" cy="8267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5620"/>
                <a:gridCol w="1951989"/>
                <a:gridCol w="2231390"/>
              </a:tblGrid>
              <a:tr h="214629">
                <a:tc gridSpan="3"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  <a:tabLst>
                          <a:tab pos="3927475" algn="l"/>
                        </a:tabLst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Contact</a:t>
                      </a:r>
                      <a:r>
                        <a:rPr sz="11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1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Investor</a:t>
                      </a:r>
                      <a:r>
                        <a:rPr sz="11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latin typeface="Arial"/>
                          <a:cs typeface="Arial"/>
                        </a:rPr>
                        <a:t>Relations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	Contact</a:t>
                      </a:r>
                      <a:r>
                        <a:rPr sz="11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11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Media</a:t>
                      </a:r>
                      <a:r>
                        <a:rPr sz="11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11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latin typeface="Arial"/>
                          <a:cs typeface="Arial"/>
                        </a:rPr>
                        <a:t>Press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89890">
                <a:tc>
                  <a:txBody>
                    <a:bodyPr/>
                    <a:lstStyle/>
                    <a:p>
                      <a:pPr marL="67945" marR="81280">
                        <a:lnSpc>
                          <a:spcPts val="1260"/>
                        </a:lnSpc>
                        <a:spcBef>
                          <a:spcPts val="3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Dipak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Kumar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Bohra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Phone:</a:t>
                      </a:r>
                      <a:r>
                        <a:rPr sz="11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+91-80-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6142</a:t>
                      </a:r>
                      <a:r>
                        <a:rPr sz="11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7201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1290"/>
                        </a:lnSpc>
                        <a:spcBef>
                          <a:spcPts val="300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Abhishek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Jain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88900">
                        <a:lnSpc>
                          <a:spcPts val="1290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Phone:</a:t>
                      </a:r>
                      <a:r>
                        <a:rPr sz="11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+91-80-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6142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6143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165"/>
                        </a:lnSpc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Dinesh</a:t>
                      </a:r>
                      <a:r>
                        <a:rPr sz="11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Joshi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Phone:</a:t>
                      </a:r>
                      <a:r>
                        <a:rPr sz="11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dirty="0">
                          <a:latin typeface="Arial MT"/>
                          <a:cs typeface="Arial MT"/>
                        </a:rPr>
                        <a:t>+91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92052-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64001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10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dipak.bohra@wipro.com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10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abhishek.jain2@wipro.com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10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media-relations@wipro.com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02004" y="3418458"/>
            <a:ext cx="5972175" cy="4371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1290"/>
              </a:lnSpc>
              <a:spcBef>
                <a:spcPts val="100"/>
              </a:spcBef>
            </a:pPr>
            <a:r>
              <a:rPr sz="1100" b="1" spc="-10" dirty="0">
                <a:latin typeface="Arial"/>
                <a:cs typeface="Arial"/>
              </a:rPr>
              <a:t>Forward-</a:t>
            </a:r>
            <a:r>
              <a:rPr sz="1100" b="1" dirty="0">
                <a:latin typeface="Arial"/>
                <a:cs typeface="Arial"/>
              </a:rPr>
              <a:t>Looking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Statements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95800"/>
              </a:lnSpc>
              <a:spcBef>
                <a:spcPts val="30"/>
              </a:spcBef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forward-</a:t>
            </a:r>
            <a:r>
              <a:rPr sz="1100" dirty="0">
                <a:latin typeface="Arial MT"/>
                <a:cs typeface="Arial MT"/>
              </a:rPr>
              <a:t>looking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statements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contained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herein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represent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Wipro’s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beliefs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regarding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future </a:t>
            </a:r>
            <a:r>
              <a:rPr sz="1100" dirty="0">
                <a:latin typeface="Arial MT"/>
                <a:cs typeface="Arial MT"/>
              </a:rPr>
              <a:t>events,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which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their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nature,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inherently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uncertain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outside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Wipro’s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control.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Such </a:t>
            </a:r>
            <a:r>
              <a:rPr sz="1100" dirty="0">
                <a:latin typeface="Arial MT"/>
                <a:cs typeface="Arial MT"/>
              </a:rPr>
              <a:t>statements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include,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but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limited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to,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statements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regarding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Wipro’s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growth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prospects,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its </a:t>
            </a:r>
            <a:r>
              <a:rPr sz="1100" spc="-10" dirty="0">
                <a:latin typeface="Arial MT"/>
                <a:cs typeface="Arial MT"/>
              </a:rPr>
              <a:t>future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financial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operating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results,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benefits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its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customers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experience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plans,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expectations </a:t>
            </a:r>
            <a:r>
              <a:rPr sz="1100" dirty="0">
                <a:latin typeface="Arial MT"/>
                <a:cs typeface="Arial MT"/>
              </a:rPr>
              <a:t>and intentions.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Wipro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cautions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readers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forward-</a:t>
            </a:r>
            <a:r>
              <a:rPr sz="1100" dirty="0">
                <a:latin typeface="Arial MT"/>
                <a:cs typeface="Arial MT"/>
              </a:rPr>
              <a:t>looking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statements contained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herein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are </a:t>
            </a:r>
            <a:r>
              <a:rPr sz="1100" spc="-10" dirty="0">
                <a:latin typeface="Arial MT"/>
                <a:cs typeface="Arial MT"/>
              </a:rPr>
              <a:t>subject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to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risks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uncertainties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could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cause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actual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results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differ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materially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from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results </a:t>
            </a:r>
            <a:r>
              <a:rPr sz="1100" dirty="0">
                <a:latin typeface="Arial MT"/>
                <a:cs typeface="Arial MT"/>
              </a:rPr>
              <a:t>anticipated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statements.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risks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uncertainties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include,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limited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risks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uncertainties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regarding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fluctuations</a:t>
            </a:r>
            <a:r>
              <a:rPr sz="1100" spc="2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earnings,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profits,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2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ability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</a:t>
            </a:r>
            <a:r>
              <a:rPr sz="1100" dirty="0">
                <a:latin typeface="Arial MT"/>
                <a:cs typeface="Arial MT"/>
              </a:rPr>
              <a:t>generate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growth,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complete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proposed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corporate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actions,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intense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competition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IT </a:t>
            </a:r>
            <a:r>
              <a:rPr sz="1100" dirty="0">
                <a:latin typeface="Arial MT"/>
                <a:cs typeface="Arial MT"/>
              </a:rPr>
              <a:t>services,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ability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maintain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cost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advantage,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wage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increases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India,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ability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attract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retain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highly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skilled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professionals,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cost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overruns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fixed-</a:t>
            </a:r>
            <a:r>
              <a:rPr sz="1100" dirty="0">
                <a:latin typeface="Arial MT"/>
                <a:cs typeface="Arial MT"/>
              </a:rPr>
              <a:t>price,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fixed-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frame </a:t>
            </a:r>
            <a:r>
              <a:rPr sz="1100" dirty="0">
                <a:latin typeface="Arial MT"/>
                <a:cs typeface="Arial MT"/>
              </a:rPr>
              <a:t>contracts,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concentration,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restrictions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immigration,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ability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international </a:t>
            </a:r>
            <a:r>
              <a:rPr sz="1100" dirty="0">
                <a:latin typeface="Arial MT"/>
                <a:cs typeface="Arial MT"/>
              </a:rPr>
              <a:t>operations,</a:t>
            </a:r>
            <a:r>
              <a:rPr sz="1100" spc="16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reduced</a:t>
            </a:r>
            <a:r>
              <a:rPr sz="1100" spc="16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demand</a:t>
            </a:r>
            <a:r>
              <a:rPr sz="1100" spc="16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17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technology</a:t>
            </a:r>
            <a:r>
              <a:rPr sz="1100" spc="16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7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17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key</a:t>
            </a:r>
            <a:r>
              <a:rPr sz="1100" spc="16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focus</a:t>
            </a:r>
            <a:r>
              <a:rPr sz="1100" spc="165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areas,</a:t>
            </a:r>
            <a:r>
              <a:rPr sz="1100" spc="17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disruptions</a:t>
            </a:r>
            <a:r>
              <a:rPr sz="1100" spc="170" dirty="0">
                <a:latin typeface="Arial MT"/>
                <a:cs typeface="Arial MT"/>
              </a:rPr>
              <a:t>  </a:t>
            </a:r>
            <a:r>
              <a:rPr sz="1100" spc="-25" dirty="0">
                <a:latin typeface="Arial MT"/>
                <a:cs typeface="Arial MT"/>
              </a:rPr>
              <a:t>in </a:t>
            </a:r>
            <a:r>
              <a:rPr sz="1100" dirty="0">
                <a:latin typeface="Arial MT"/>
                <a:cs typeface="Arial MT"/>
              </a:rPr>
              <a:t>telecommunication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networks,</a:t>
            </a:r>
            <a:r>
              <a:rPr sz="1100" spc="4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4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ability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4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successfully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complete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4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integrate</a:t>
            </a:r>
            <a:r>
              <a:rPr sz="1100" spc="409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potential acquisitions,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liability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damages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service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contracts,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success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companies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which </a:t>
            </a:r>
            <a:r>
              <a:rPr sz="1100" dirty="0">
                <a:latin typeface="Arial MT"/>
                <a:cs typeface="Arial MT"/>
              </a:rPr>
              <a:t>we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make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 investments,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withdrawal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fiscal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governmental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incentives,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political</a:t>
            </a:r>
            <a:r>
              <a:rPr sz="1100" spc="-10" dirty="0">
                <a:latin typeface="Arial MT"/>
                <a:cs typeface="Arial MT"/>
              </a:rPr>
              <a:t> instability, </a:t>
            </a:r>
            <a:r>
              <a:rPr sz="1100" dirty="0">
                <a:latin typeface="Arial MT"/>
                <a:cs typeface="Arial MT"/>
              </a:rPr>
              <a:t>war,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legal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restrictions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 raising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capital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acquiring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companies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outside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India,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unauthorized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use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intellectual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property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general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economic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conditions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affecting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industry.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 marL="12700" marR="6350" algn="just">
              <a:lnSpc>
                <a:spcPct val="95900"/>
              </a:lnSpc>
            </a:pPr>
            <a:r>
              <a:rPr sz="1100" spc="-10" dirty="0">
                <a:latin typeface="Arial MT"/>
                <a:cs typeface="Arial MT"/>
              </a:rPr>
              <a:t>Additional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risks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could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affect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future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operating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results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more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fully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described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filings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United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Securities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Exchange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Commission,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including,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limited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Annual </a:t>
            </a:r>
            <a:r>
              <a:rPr sz="1100" dirty="0">
                <a:latin typeface="Arial MT"/>
                <a:cs typeface="Arial MT"/>
              </a:rPr>
              <a:t>Reports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Form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20-</a:t>
            </a:r>
            <a:r>
              <a:rPr sz="1100" dirty="0">
                <a:latin typeface="Arial MT"/>
                <a:cs typeface="Arial MT"/>
              </a:rPr>
              <a:t>F.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These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filings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available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</a:t>
            </a:r>
            <a:r>
              <a:rPr sz="1100" spc="60" dirty="0">
                <a:latin typeface="Arial MT"/>
                <a:cs typeface="Arial MT"/>
              </a:rPr>
              <a:t> </a:t>
            </a:r>
            <a:r>
              <a:rPr sz="1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6"/>
              </a:rPr>
              <a:t>www.sec.gov</a:t>
            </a:r>
            <a:r>
              <a:rPr sz="1100" dirty="0">
                <a:latin typeface="Arial MT"/>
                <a:cs typeface="Arial MT"/>
              </a:rPr>
              <a:t>.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may,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time, </a:t>
            </a:r>
            <a:r>
              <a:rPr sz="1100" dirty="0">
                <a:latin typeface="Arial MT"/>
                <a:cs typeface="Arial MT"/>
              </a:rPr>
              <a:t>make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additional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written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oral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forward-</a:t>
            </a:r>
            <a:r>
              <a:rPr sz="1100" dirty="0">
                <a:latin typeface="Arial MT"/>
                <a:cs typeface="Arial MT"/>
              </a:rPr>
              <a:t>looking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statements,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including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statements</a:t>
            </a:r>
            <a:r>
              <a:rPr sz="1100" spc="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contained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in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company’s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filings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Securities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3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Exchange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Commission</a:t>
            </a:r>
            <a:r>
              <a:rPr sz="1100" spc="3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3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3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reports</a:t>
            </a:r>
            <a:r>
              <a:rPr sz="1100" spc="3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 </a:t>
            </a:r>
            <a:r>
              <a:rPr sz="1100" dirty="0">
                <a:latin typeface="Arial MT"/>
                <a:cs typeface="Arial MT"/>
              </a:rPr>
              <a:t>shareholders.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do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undertake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update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any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forward-</a:t>
            </a:r>
            <a:r>
              <a:rPr sz="1100" dirty="0">
                <a:latin typeface="Arial MT"/>
                <a:cs typeface="Arial MT"/>
              </a:rPr>
              <a:t>looking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statement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made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time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 on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our</a:t>
            </a:r>
            <a:r>
              <a:rPr sz="1100" spc="-10" dirty="0">
                <a:latin typeface="Arial MT"/>
                <a:cs typeface="Arial MT"/>
              </a:rPr>
              <a:t> behalf.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62071" y="8559545"/>
            <a:ext cx="108839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129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# </a:t>
            </a:r>
            <a:r>
              <a:rPr sz="1100" spc="-50" dirty="0">
                <a:latin typeface="Arial MT"/>
                <a:cs typeface="Arial MT"/>
              </a:rPr>
              <a:t>#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ts val="1290"/>
              </a:lnSpc>
            </a:pPr>
            <a:r>
              <a:rPr sz="1100" dirty="0">
                <a:latin typeface="Arial MT"/>
                <a:cs typeface="Arial MT"/>
              </a:rPr>
              <a:t>(Tables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follow)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3834" y="9686950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50"/>
                </a:lnTo>
                <a:lnTo>
                  <a:pt x="1250950" y="222250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314325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0" dirty="0">
                <a:latin typeface="Calibri"/>
                <a:cs typeface="Calibri"/>
              </a:rPr>
              <a:t>Public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131061"/>
          <a:ext cx="6021070" cy="7556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1080"/>
                <a:gridCol w="3639820"/>
              </a:tblGrid>
              <a:tr h="435609">
                <a:tc gridSpan="2">
                  <a:txBody>
                    <a:bodyPr/>
                    <a:lstStyle/>
                    <a:p>
                      <a:pPr algn="ctr">
                        <a:lnSpc>
                          <a:spcPts val="80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WIPRO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SUBSIDIARIES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80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INTERIM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CONDENSED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CONSOLIDATED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STATEMENTS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POSITION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(₹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millions,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except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data,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unless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otherwise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stated)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77620" algn="ctr">
                        <a:lnSpc>
                          <a:spcPts val="790"/>
                        </a:lnSpc>
                        <a:spcBef>
                          <a:spcPts val="105"/>
                        </a:spcBef>
                        <a:tabLst>
                          <a:tab pos="3164840" algn="l"/>
                        </a:tabLst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March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31,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As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June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30,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14629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ts val="819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 marR="1441450">
                        <a:lnSpc>
                          <a:spcPts val="800"/>
                        </a:lnSpc>
                        <a:spcBef>
                          <a:spcPts val="4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Goodwill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Intangible</a:t>
                      </a:r>
                      <a:r>
                        <a:rPr sz="7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 marR="957580">
                        <a:lnSpc>
                          <a:spcPts val="800"/>
                        </a:lnSpc>
                        <a:spcBef>
                          <a:spcPts val="1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Property,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plant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equipment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Right-of-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7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>
                        <a:lnSpc>
                          <a:spcPts val="78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97840" marR="1156335">
                        <a:lnSpc>
                          <a:spcPts val="800"/>
                        </a:lnSpc>
                        <a:spcBef>
                          <a:spcPts val="4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Derivative</a:t>
                      </a:r>
                      <a:r>
                        <a:rPr sz="7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Investments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Trade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receivables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97840">
                        <a:lnSpc>
                          <a:spcPts val="77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Other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 marR="217804">
                        <a:lnSpc>
                          <a:spcPts val="800"/>
                        </a:lnSpc>
                        <a:spcBef>
                          <a:spcPts val="4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Investments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accounted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method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Deferred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 tax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 marR="1162685">
                        <a:lnSpc>
                          <a:spcPts val="800"/>
                        </a:lnSpc>
                        <a:spcBef>
                          <a:spcPts val="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tax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7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 marR="1471930">
                        <a:lnSpc>
                          <a:spcPts val="800"/>
                        </a:lnSpc>
                        <a:spcBef>
                          <a:spcPts val="11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Inventories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97840" marR="1180465">
                        <a:lnSpc>
                          <a:spcPts val="800"/>
                        </a:lnSpc>
                        <a:spcBef>
                          <a:spcPts val="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Derivative</a:t>
                      </a:r>
                      <a:r>
                        <a:rPr sz="7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Investments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97840" marR="850265">
                        <a:lnSpc>
                          <a:spcPts val="800"/>
                        </a:lnSpc>
                        <a:spcBef>
                          <a:spcPts val="1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Cash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cash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equivalents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Trade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receivables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Unbilled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receivables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Other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 marR="1400175">
                        <a:lnSpc>
                          <a:spcPts val="800"/>
                        </a:lnSpc>
                        <a:spcBef>
                          <a:spcPts val="1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Contract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 tax</a:t>
                      </a:r>
                      <a:r>
                        <a:rPr sz="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>
                        <a:lnSpc>
                          <a:spcPts val="800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assets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40" marR="1617345">
                        <a:lnSpc>
                          <a:spcPct val="200000"/>
                        </a:lnSpc>
                        <a:spcBef>
                          <a:spcPts val="85"/>
                        </a:spcBef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ASSETS</a:t>
                      </a:r>
                      <a:r>
                        <a:rPr sz="7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EQUITY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 marR="1393825">
                        <a:lnSpc>
                          <a:spcPts val="800"/>
                        </a:lnSpc>
                        <a:spcBef>
                          <a:spcPts val="25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capital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premium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Retained</a:t>
                      </a:r>
                      <a:r>
                        <a:rPr sz="7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earnings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Share-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payment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reserve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 marR="363855">
                        <a:lnSpc>
                          <a:spcPts val="800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Special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Economic</a:t>
                      </a:r>
                      <a:r>
                        <a:rPr sz="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Zone</a:t>
                      </a:r>
                      <a:r>
                        <a:rPr sz="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Re-investment</a:t>
                      </a:r>
                      <a:r>
                        <a:rPr sz="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reserve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components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equity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314575" marR="113030" indent="-421005">
                        <a:lnSpc>
                          <a:spcPts val="80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Convenience</a:t>
                      </a:r>
                      <a:r>
                        <a:rPr sz="7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translation</a:t>
                      </a:r>
                      <a:r>
                        <a:rPr sz="7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7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U.S.</a:t>
                      </a:r>
                      <a:r>
                        <a:rPr sz="7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Dollar</a:t>
                      </a:r>
                      <a:r>
                        <a:rPr sz="70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35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millions</a:t>
                      </a:r>
                      <a:r>
                        <a:rPr sz="7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(unaudited)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401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ts val="819"/>
                        </a:lnSpc>
                        <a:spcBef>
                          <a:spcPts val="785"/>
                        </a:spcBef>
                        <a:tabLst>
                          <a:tab pos="1443355" algn="l"/>
                          <a:tab pos="2598420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325,014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328,439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3,831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08965">
                        <a:lnSpc>
                          <a:spcPts val="805"/>
                        </a:lnSpc>
                        <a:tabLst>
                          <a:tab pos="1487170" algn="l"/>
                          <a:tab pos="263207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27,450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25,916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302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08965">
                        <a:lnSpc>
                          <a:spcPts val="805"/>
                        </a:lnSpc>
                        <a:tabLst>
                          <a:tab pos="1487170" algn="l"/>
                          <a:tab pos="263207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80,684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79,754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930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08965">
                        <a:lnSpc>
                          <a:spcPts val="819"/>
                        </a:lnSpc>
                        <a:tabLst>
                          <a:tab pos="1487170" algn="l"/>
                          <a:tab pos="263207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25,598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27,121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317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920115" algn="r">
                        <a:lnSpc>
                          <a:spcPts val="819"/>
                        </a:lnSpc>
                        <a:spcBef>
                          <a:spcPts val="780"/>
                        </a:spcBef>
                        <a:tabLst>
                          <a:tab pos="876300" algn="l"/>
                          <a:tab pos="1866900" algn="l"/>
                        </a:tabLst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^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5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50" dirty="0">
                          <a:latin typeface="Times New Roman"/>
                          <a:cs typeface="Times New Roman"/>
                        </a:rPr>
                        <a:t>^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75030" algn="r">
                        <a:lnSpc>
                          <a:spcPts val="805"/>
                        </a:lnSpc>
                        <a:tabLst>
                          <a:tab pos="877569" algn="l"/>
                          <a:tab pos="202247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26,458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27,585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322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918844" algn="r">
                        <a:lnSpc>
                          <a:spcPts val="805"/>
                        </a:lnSpc>
                        <a:tabLst>
                          <a:tab pos="877569" algn="l"/>
                          <a:tab pos="1955800" algn="l"/>
                        </a:tabLst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299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300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53415">
                        <a:lnSpc>
                          <a:spcPts val="805"/>
                        </a:lnSpc>
                        <a:tabLst>
                          <a:tab pos="1531620" algn="l"/>
                          <a:tab pos="265493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4,664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4,698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55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53415">
                        <a:lnSpc>
                          <a:spcPts val="805"/>
                        </a:lnSpc>
                        <a:tabLst>
                          <a:tab pos="1531620" algn="l"/>
                          <a:tab pos="265493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1,327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1,382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53415">
                        <a:lnSpc>
                          <a:spcPts val="805"/>
                        </a:lnSpc>
                        <a:tabLst>
                          <a:tab pos="1531620" algn="l"/>
                          <a:tab pos="265493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2,561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2,515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53415">
                        <a:lnSpc>
                          <a:spcPts val="805"/>
                        </a:lnSpc>
                        <a:tabLst>
                          <a:tab pos="1531620" algn="l"/>
                          <a:tab pos="265493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7,230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6,441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75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53415">
                        <a:lnSpc>
                          <a:spcPts val="775"/>
                        </a:lnSpc>
                        <a:tabLst>
                          <a:tab pos="1531620" algn="l"/>
                          <a:tab pos="265493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7,460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8,113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95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9969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23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ts val="790"/>
                        </a:lnSpc>
                        <a:tabLst>
                          <a:tab pos="1443355" algn="l"/>
                          <a:tab pos="2598420" algn="l"/>
                        </a:tabLst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508,745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512,266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5,975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334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918844" algn="r">
                        <a:lnSpc>
                          <a:spcPts val="825"/>
                        </a:lnSpc>
                        <a:tabLst>
                          <a:tab pos="877569" algn="l"/>
                          <a:tab pos="1955800" algn="l"/>
                        </a:tabLst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694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571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95985" algn="r">
                        <a:lnSpc>
                          <a:spcPts val="819"/>
                        </a:lnSpc>
                        <a:spcBef>
                          <a:spcPts val="765"/>
                        </a:spcBef>
                        <a:tabLst>
                          <a:tab pos="944880" algn="l"/>
                          <a:tab pos="2001520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1,820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912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41375" algn="r">
                        <a:lnSpc>
                          <a:spcPts val="805"/>
                        </a:lnSpc>
                        <a:tabLst>
                          <a:tab pos="877569" algn="l"/>
                          <a:tab pos="203263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411,474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405,976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4,735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41375" algn="r">
                        <a:lnSpc>
                          <a:spcPts val="805"/>
                        </a:lnSpc>
                        <a:tabLst>
                          <a:tab pos="877569" algn="l"/>
                          <a:tab pos="203263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121,974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125,763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1,467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41375" algn="r">
                        <a:lnSpc>
                          <a:spcPts val="805"/>
                        </a:lnSpc>
                        <a:tabLst>
                          <a:tab pos="877569" algn="l"/>
                          <a:tab pos="203263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117,745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118,143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1,378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75030" algn="r">
                        <a:lnSpc>
                          <a:spcPts val="805"/>
                        </a:lnSpc>
                        <a:tabLst>
                          <a:tab pos="877569" algn="l"/>
                          <a:tab pos="202247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64,280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71,626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835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75030" algn="r">
                        <a:lnSpc>
                          <a:spcPts val="805"/>
                        </a:lnSpc>
                        <a:tabLst>
                          <a:tab pos="833755" algn="l"/>
                          <a:tab pos="197802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8,448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19,105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223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75030" algn="r">
                        <a:lnSpc>
                          <a:spcPts val="805"/>
                        </a:lnSpc>
                        <a:tabLst>
                          <a:tab pos="877569" algn="l"/>
                          <a:tab pos="202247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15,795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16,151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188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95985" algn="r">
                        <a:lnSpc>
                          <a:spcPts val="810"/>
                        </a:lnSpc>
                        <a:tabLst>
                          <a:tab pos="877569" algn="l"/>
                          <a:tab pos="2001520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6,417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6,760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78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75030" algn="r">
                        <a:lnSpc>
                          <a:spcPts val="780"/>
                        </a:lnSpc>
                        <a:tabLst>
                          <a:tab pos="877569" algn="l"/>
                          <a:tab pos="202247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29,128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30,395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355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1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ts val="775"/>
                        </a:lnSpc>
                        <a:tabLst>
                          <a:tab pos="1443355" algn="l"/>
                          <a:tab pos="2598420" algn="l"/>
                        </a:tabLst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777,775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795,402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9,277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1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23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97840">
                        <a:lnSpc>
                          <a:spcPts val="790"/>
                        </a:lnSpc>
                        <a:tabLst>
                          <a:tab pos="1376045" algn="l"/>
                          <a:tab pos="2576830" algn="l"/>
                        </a:tabLst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1,286,520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1,307,668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15,252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261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08965">
                        <a:lnSpc>
                          <a:spcPts val="819"/>
                        </a:lnSpc>
                        <a:tabLst>
                          <a:tab pos="1487170" algn="l"/>
                          <a:tab pos="263207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20,944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20,965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245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53415">
                        <a:lnSpc>
                          <a:spcPts val="805"/>
                        </a:lnSpc>
                        <a:tabLst>
                          <a:tab pos="1531620" algn="l"/>
                          <a:tab pos="265493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2,628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4,825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56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565150">
                        <a:lnSpc>
                          <a:spcPts val="805"/>
                        </a:lnSpc>
                        <a:tabLst>
                          <a:tab pos="1443355" algn="l"/>
                          <a:tab pos="2598420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716,477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750,674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8,755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53415">
                        <a:lnSpc>
                          <a:spcPts val="805"/>
                        </a:lnSpc>
                        <a:tabLst>
                          <a:tab pos="1531620" algn="l"/>
                          <a:tab pos="265493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6,985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5,224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61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08965">
                        <a:lnSpc>
                          <a:spcPts val="805"/>
                        </a:lnSpc>
                        <a:tabLst>
                          <a:tab pos="1487170" algn="l"/>
                          <a:tab pos="263207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27,778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26,885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314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08965">
                        <a:lnSpc>
                          <a:spcPts val="775"/>
                        </a:lnSpc>
                        <a:tabLst>
                          <a:tab pos="1487170" algn="l"/>
                          <a:tab pos="263207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53,497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60,330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703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9969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4629">
                <a:tc gridSpan="2">
                  <a:txBody>
                    <a:bodyPr/>
                    <a:lstStyle/>
                    <a:p>
                      <a:pPr marL="126364">
                        <a:lnSpc>
                          <a:spcPts val="819"/>
                        </a:lnSpc>
                        <a:tabLst>
                          <a:tab pos="2856230" algn="l"/>
                          <a:tab pos="3733800" algn="l"/>
                          <a:tab pos="4867910" algn="l"/>
                        </a:tabLst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attributable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holders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Company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828,309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868,903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10,134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ts val="775"/>
                        </a:lnSpc>
                        <a:tabLst>
                          <a:tab pos="2944495" algn="l"/>
                          <a:tab pos="3822700" algn="l"/>
                          <a:tab pos="494601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Non-controlling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interests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2,138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1,688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11125">
                <a:tc rowSpan="8">
                  <a:txBody>
                    <a:bodyPr/>
                    <a:lstStyle/>
                    <a:p>
                      <a:pPr marL="2540">
                        <a:lnSpc>
                          <a:spcPts val="82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EQUITY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ts val="819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>
                        <a:lnSpc>
                          <a:spcPts val="8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97840" marR="999490">
                        <a:lnSpc>
                          <a:spcPts val="800"/>
                        </a:lnSpc>
                        <a:spcBef>
                          <a:spcPts val="45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Loans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borrowings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Lease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 marR="904875" indent="246379">
                        <a:lnSpc>
                          <a:spcPts val="800"/>
                        </a:lnSpc>
                        <a:spcBef>
                          <a:spcPts val="5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Other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Deferred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 tax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 marR="1048385">
                        <a:lnSpc>
                          <a:spcPts val="800"/>
                        </a:lnSpc>
                        <a:spcBef>
                          <a:spcPts val="1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tax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Provisions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Total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non-current</a:t>
                      </a:r>
                      <a:r>
                        <a:rPr sz="7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>
                        <a:lnSpc>
                          <a:spcPts val="819"/>
                        </a:lnSpc>
                        <a:spcBef>
                          <a:spcPts val="45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97840" marR="398780">
                        <a:lnSpc>
                          <a:spcPts val="800"/>
                        </a:lnSpc>
                        <a:spcBef>
                          <a:spcPts val="45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Loans,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borrowings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 and bank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overdrafts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Lease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97840">
                        <a:lnSpc>
                          <a:spcPts val="77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Derivative</a:t>
                      </a:r>
                      <a:r>
                        <a:rPr sz="7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97840" marR="459740">
                        <a:lnSpc>
                          <a:spcPts val="810"/>
                        </a:lnSpc>
                        <a:spcBef>
                          <a:spcPts val="3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Trade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payables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accrued</a:t>
                      </a:r>
                      <a:r>
                        <a:rPr sz="7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expenses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Other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financial</a:t>
                      </a:r>
                      <a:r>
                        <a:rPr sz="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 marR="1211580">
                        <a:lnSpc>
                          <a:spcPts val="80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Contract</a:t>
                      </a:r>
                      <a:r>
                        <a:rPr sz="7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 tax</a:t>
                      </a:r>
                      <a:r>
                        <a:rPr sz="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0825">
                        <a:lnSpc>
                          <a:spcPts val="80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Provisions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40" marR="1287780" indent="123189">
                        <a:lnSpc>
                          <a:spcPct val="104299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r>
                        <a:rPr sz="7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LIABILITIES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26364">
                        <a:lnSpc>
                          <a:spcPts val="780"/>
                        </a:lnSpc>
                        <a:spcBef>
                          <a:spcPts val="72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^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less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0.5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7530">
                        <a:lnSpc>
                          <a:spcPts val="775"/>
                        </a:lnSpc>
                        <a:tabLst>
                          <a:tab pos="1435735" algn="l"/>
                          <a:tab pos="2569210" algn="l"/>
                        </a:tabLst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830,447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870,591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10,154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312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01345">
                        <a:lnSpc>
                          <a:spcPts val="819"/>
                        </a:lnSpc>
                        <a:tabLst>
                          <a:tab pos="1649095" algn="l"/>
                          <a:tab pos="267652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63,954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5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01345">
                        <a:lnSpc>
                          <a:spcPts val="805"/>
                        </a:lnSpc>
                        <a:tabLst>
                          <a:tab pos="1479550" algn="l"/>
                          <a:tab pos="262445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22,193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23,977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280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45795">
                        <a:lnSpc>
                          <a:spcPts val="805"/>
                        </a:lnSpc>
                        <a:tabLst>
                          <a:tab pos="1524000" algn="l"/>
                          <a:tab pos="264731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7,793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5,134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60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01345">
                        <a:lnSpc>
                          <a:spcPts val="805"/>
                        </a:lnSpc>
                        <a:tabLst>
                          <a:tab pos="1479550" algn="l"/>
                          <a:tab pos="262445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16,443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15,551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181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01345">
                        <a:lnSpc>
                          <a:spcPts val="805"/>
                        </a:lnSpc>
                        <a:tabLst>
                          <a:tab pos="1479550" algn="l"/>
                          <a:tab pos="262445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42,024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41,567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485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01345">
                        <a:lnSpc>
                          <a:spcPts val="805"/>
                        </a:lnSpc>
                        <a:tabLst>
                          <a:tab pos="1479550" algn="l"/>
                          <a:tab pos="262445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17,119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18,686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218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713105">
                        <a:lnSpc>
                          <a:spcPts val="775"/>
                        </a:lnSpc>
                        <a:tabLst>
                          <a:tab pos="1590675" algn="l"/>
                          <a:tab pos="2668905" algn="l"/>
                        </a:tabLst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294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263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23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7530">
                        <a:lnSpc>
                          <a:spcPts val="790"/>
                        </a:lnSpc>
                        <a:tabLst>
                          <a:tab pos="1435735" algn="l"/>
                          <a:tab pos="2590800" algn="l"/>
                        </a:tabLst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169,820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105,178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1,227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318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1375" algn="r">
                        <a:lnSpc>
                          <a:spcPts val="819"/>
                        </a:lnSpc>
                        <a:spcBef>
                          <a:spcPts val="785"/>
                        </a:spcBef>
                        <a:tabLst>
                          <a:tab pos="833755" algn="l"/>
                          <a:tab pos="1988820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97,863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126,766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1,479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95985" algn="r">
                        <a:lnSpc>
                          <a:spcPts val="805"/>
                        </a:lnSpc>
                        <a:tabLst>
                          <a:tab pos="877569" algn="l"/>
                          <a:tab pos="2001520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8,025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7,993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93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95985" algn="r">
                        <a:lnSpc>
                          <a:spcPts val="805"/>
                        </a:lnSpc>
                        <a:tabLst>
                          <a:tab pos="810895" algn="l"/>
                          <a:tab pos="1934210" algn="l"/>
                        </a:tabLst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968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1,326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41375" algn="r">
                        <a:lnSpc>
                          <a:spcPts val="805"/>
                        </a:lnSpc>
                        <a:tabLst>
                          <a:tab pos="877569" algn="l"/>
                          <a:tab pos="1988820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88,252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86,010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1,003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95985" algn="r">
                        <a:lnSpc>
                          <a:spcPts val="805"/>
                        </a:lnSpc>
                        <a:tabLst>
                          <a:tab pos="877569" algn="l"/>
                          <a:tab pos="2001520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3,878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6,626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77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75030" algn="r">
                        <a:lnSpc>
                          <a:spcPts val="805"/>
                        </a:lnSpc>
                        <a:tabLst>
                          <a:tab pos="877569" algn="l"/>
                          <a:tab pos="202247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20,063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20,739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242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75030" algn="r">
                        <a:lnSpc>
                          <a:spcPts val="805"/>
                        </a:lnSpc>
                        <a:tabLst>
                          <a:tab pos="877569" algn="l"/>
                          <a:tab pos="202247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34,481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45,113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526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75030" algn="r">
                        <a:lnSpc>
                          <a:spcPts val="810"/>
                        </a:lnSpc>
                        <a:tabLst>
                          <a:tab pos="877569" algn="l"/>
                          <a:tab pos="2022475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31,086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35,575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415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95985" algn="r">
                        <a:lnSpc>
                          <a:spcPts val="780"/>
                        </a:lnSpc>
                        <a:tabLst>
                          <a:tab pos="877569" algn="l"/>
                          <a:tab pos="2001520" algn="l"/>
                        </a:tabLst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1,637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1,751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9969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1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7530">
                        <a:lnSpc>
                          <a:spcPts val="775"/>
                        </a:lnSpc>
                        <a:tabLst>
                          <a:tab pos="1435735" algn="l"/>
                          <a:tab pos="2590800" algn="l"/>
                        </a:tabLst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286,253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331,899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3,871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50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7530">
                        <a:lnSpc>
                          <a:spcPts val="825"/>
                        </a:lnSpc>
                        <a:tabLst>
                          <a:tab pos="1435735" algn="l"/>
                          <a:tab pos="2590800" algn="l"/>
                        </a:tabLst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456,073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437,077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5,098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57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0220">
                        <a:lnSpc>
                          <a:spcPts val="790"/>
                        </a:lnSpc>
                        <a:spcBef>
                          <a:spcPts val="95"/>
                        </a:spcBef>
                        <a:tabLst>
                          <a:tab pos="1368425" algn="l"/>
                          <a:tab pos="2569210" algn="l"/>
                        </a:tabLst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1,286,520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1,307,668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15,252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62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29870" y="9706724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50"/>
                </a:lnTo>
                <a:lnTo>
                  <a:pt x="1250950" y="222250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314325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0" dirty="0">
                <a:latin typeface="Calibri"/>
                <a:cs typeface="Calibri"/>
              </a:rPr>
              <a:t>Public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810767"/>
          <a:ext cx="6021070" cy="4279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4710"/>
                <a:gridCol w="1114425"/>
                <a:gridCol w="1103630"/>
                <a:gridCol w="1595754"/>
              </a:tblGrid>
              <a:tr h="531495">
                <a:tc gridSpan="4">
                  <a:txBody>
                    <a:bodyPr/>
                    <a:lstStyle/>
                    <a:p>
                      <a:pPr algn="ctr">
                        <a:lnSpc>
                          <a:spcPts val="810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WIPRO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SUBSIDIARIES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82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INTERIM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CONDENSED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CONSOLIDATED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STATEMENTS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INCOME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83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(₹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millions,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except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data,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unless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otherwise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stated)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816350">
                        <a:lnSpc>
                          <a:spcPts val="80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Three</a:t>
                      </a:r>
                      <a:r>
                        <a:rPr sz="7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months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ended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June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30,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14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73990" algn="ctr">
                        <a:lnSpc>
                          <a:spcPts val="800"/>
                        </a:lnSpc>
                      </a:pP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ts val="800"/>
                        </a:lnSpc>
                      </a:pP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41630" algn="ctr">
                        <a:lnSpc>
                          <a:spcPts val="800"/>
                        </a:lnSpc>
                      </a:pP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3">
                  <a:txBody>
                    <a:bodyPr/>
                    <a:lstStyle/>
                    <a:p>
                      <a:pPr marL="2037714">
                        <a:lnSpc>
                          <a:spcPts val="75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Convenience</a:t>
                      </a:r>
                      <a:r>
                        <a:rPr sz="7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translation</a:t>
                      </a:r>
                      <a:r>
                        <a:rPr sz="7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7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U.S.</a:t>
                      </a:r>
                      <a:r>
                        <a:rPr sz="7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Dollar</a:t>
                      </a:r>
                      <a:r>
                        <a:rPr sz="70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35" dirty="0">
                          <a:latin typeface="Times New Roman"/>
                          <a:cs typeface="Times New Roman"/>
                        </a:rPr>
                        <a:t>in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09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 gridSpan="3">
                  <a:txBody>
                    <a:bodyPr/>
                    <a:lstStyle/>
                    <a:p>
                      <a:pPr marL="2081530">
                        <a:lnSpc>
                          <a:spcPts val="76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millions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(unaudited)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Refer to</a:t>
                      </a:r>
                      <a:r>
                        <a:rPr sz="7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Note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2(iii)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11125">
                <a:tc>
                  <a:txBody>
                    <a:bodyPr/>
                    <a:lstStyle/>
                    <a:p>
                      <a:pPr marL="126364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Revenues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94945" algn="r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219,638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61315" algn="r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221,346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40360" algn="ctr">
                        <a:lnSpc>
                          <a:spcPts val="77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2,582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marL="126364">
                        <a:lnSpc>
                          <a:spcPts val="75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revenues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(153,306)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9090" algn="r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(157,247)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9725" algn="ctr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(1,834)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3195">
                <a:tc>
                  <a:txBody>
                    <a:bodyPr/>
                    <a:lstStyle/>
                    <a:p>
                      <a:pPr marL="2540">
                        <a:lnSpc>
                          <a:spcPts val="835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Gross</a:t>
                      </a:r>
                      <a:r>
                        <a:rPr sz="7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profit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94945" algn="r">
                        <a:lnSpc>
                          <a:spcPts val="83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66,332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61315" algn="r">
                        <a:lnSpc>
                          <a:spcPts val="83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64,099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40360" algn="ctr">
                        <a:lnSpc>
                          <a:spcPts val="835"/>
                        </a:lnSpc>
                      </a:pP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748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L="126364">
                        <a:lnSpc>
                          <a:spcPts val="775"/>
                        </a:lnSpc>
                        <a:spcBef>
                          <a:spcPts val="36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Selling</a:t>
                      </a:r>
                      <a:r>
                        <a:rPr sz="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marketing</a:t>
                      </a:r>
                      <a:r>
                        <a:rPr sz="7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expenses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ts val="775"/>
                        </a:lnSpc>
                        <a:spcBef>
                          <a:spcPts val="36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(15,844)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R="339090" algn="r">
                        <a:lnSpc>
                          <a:spcPts val="775"/>
                        </a:lnSpc>
                        <a:spcBef>
                          <a:spcPts val="36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(15,285)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R="339725" algn="ctr">
                        <a:lnSpc>
                          <a:spcPts val="775"/>
                        </a:lnSpc>
                        <a:spcBef>
                          <a:spcPts val="36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(178)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4139">
                <a:tc>
                  <a:txBody>
                    <a:bodyPr/>
                    <a:lstStyle/>
                    <a:p>
                      <a:pPr marL="126364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General</a:t>
                      </a:r>
                      <a:r>
                        <a:rPr sz="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administrative</a:t>
                      </a:r>
                      <a:r>
                        <a:rPr sz="7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expenses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(14,213)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9090" algn="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(13,272)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9725" algn="ct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(155)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7950">
                <a:tc>
                  <a:txBody>
                    <a:bodyPr/>
                    <a:lstStyle/>
                    <a:p>
                      <a:pPr marL="126364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Foreign</a:t>
                      </a:r>
                      <a:r>
                        <a:rPr sz="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exchange</a:t>
                      </a:r>
                      <a:r>
                        <a:rPr sz="7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gains/(losses),</a:t>
                      </a:r>
                      <a:r>
                        <a:rPr sz="7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net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ts val="75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(206)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315" algn="r">
                        <a:lnSpc>
                          <a:spcPts val="75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182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9090" algn="ctr">
                        <a:lnSpc>
                          <a:spcPts val="755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3195">
                <a:tc>
                  <a:txBody>
                    <a:bodyPr/>
                    <a:lstStyle/>
                    <a:p>
                      <a:pPr marL="2540">
                        <a:lnSpc>
                          <a:spcPts val="83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sz="7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7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operating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activities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94945" algn="r">
                        <a:lnSpc>
                          <a:spcPts val="83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36,069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61315" algn="r">
                        <a:lnSpc>
                          <a:spcPts val="835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35,724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40360" algn="ctr">
                        <a:lnSpc>
                          <a:spcPts val="835"/>
                        </a:lnSpc>
                      </a:pP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417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L="126364">
                        <a:lnSpc>
                          <a:spcPts val="775"/>
                        </a:lnSpc>
                        <a:spcBef>
                          <a:spcPts val="360"/>
                        </a:spcBef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Finance</a:t>
                      </a:r>
                      <a:r>
                        <a:rPr sz="7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expenses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72085" algn="r">
                        <a:lnSpc>
                          <a:spcPts val="775"/>
                        </a:lnSpc>
                        <a:spcBef>
                          <a:spcPts val="36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(3,288)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ts val="775"/>
                        </a:lnSpc>
                        <a:spcBef>
                          <a:spcPts val="360"/>
                        </a:spcBef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(3,608)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R="340995" algn="ctr">
                        <a:lnSpc>
                          <a:spcPts val="775"/>
                        </a:lnSpc>
                        <a:spcBef>
                          <a:spcPts val="360"/>
                        </a:spcBef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(42)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3505">
                <a:tc>
                  <a:txBody>
                    <a:bodyPr/>
                    <a:lstStyle/>
                    <a:p>
                      <a:pPr marL="126364">
                        <a:lnSpc>
                          <a:spcPts val="715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Finance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income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94945" algn="r">
                        <a:lnSpc>
                          <a:spcPts val="71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7,480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1315" algn="r">
                        <a:lnSpc>
                          <a:spcPts val="71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10,417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0360" algn="ctr">
                        <a:lnSpc>
                          <a:spcPts val="715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121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marL="126364" marR="36830">
                        <a:lnSpc>
                          <a:spcPts val="800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profit/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(loss)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associate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joint</a:t>
                      </a:r>
                      <a:r>
                        <a:rPr sz="7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venture</a:t>
                      </a:r>
                      <a:r>
                        <a:rPr sz="7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accounted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(45)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941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50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909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1760">
                <a:tc>
                  <a:txBody>
                    <a:bodyPr/>
                    <a:lstStyle/>
                    <a:p>
                      <a:pPr marL="2540">
                        <a:lnSpc>
                          <a:spcPts val="775"/>
                        </a:lnSpc>
                        <a:spcBef>
                          <a:spcPts val="5"/>
                        </a:spcBef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Profit</a:t>
                      </a:r>
                      <a:r>
                        <a:rPr sz="7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7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tax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94945" algn="r">
                        <a:lnSpc>
                          <a:spcPts val="775"/>
                        </a:lnSpc>
                        <a:spcBef>
                          <a:spcPts val="5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40,216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61315" algn="r">
                        <a:lnSpc>
                          <a:spcPts val="775"/>
                        </a:lnSpc>
                        <a:spcBef>
                          <a:spcPts val="5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42,583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40360" algn="ctr">
                        <a:lnSpc>
                          <a:spcPts val="775"/>
                        </a:lnSpc>
                        <a:spcBef>
                          <a:spcPts val="5"/>
                        </a:spcBef>
                      </a:pP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497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7314">
                <a:tc>
                  <a:txBody>
                    <a:bodyPr/>
                    <a:lstStyle/>
                    <a:p>
                      <a:pPr marL="126364">
                        <a:lnSpc>
                          <a:spcPts val="750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Income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tax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expense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72085" algn="r">
                        <a:lnSpc>
                          <a:spcPts val="75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(9,850)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7820" algn="r">
                        <a:lnSpc>
                          <a:spcPts val="75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(9,218)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9725" algn="ctr">
                        <a:lnSpc>
                          <a:spcPts val="75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(108)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marL="2540">
                        <a:lnSpc>
                          <a:spcPts val="800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Profit</a:t>
                      </a:r>
                      <a:r>
                        <a:rPr sz="7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period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94945" algn="r">
                        <a:lnSpc>
                          <a:spcPts val="80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30,366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315" algn="r">
                        <a:lnSpc>
                          <a:spcPts val="80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33,365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40360" algn="ctr">
                        <a:lnSpc>
                          <a:spcPts val="800"/>
                        </a:lnSpc>
                      </a:pP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389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ts val="780"/>
                        </a:lnSpc>
                        <a:spcBef>
                          <a:spcPts val="5"/>
                        </a:spcBef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Profit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attributable</a:t>
                      </a:r>
                      <a:r>
                        <a:rPr sz="7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to: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4775">
                <a:tc>
                  <a:txBody>
                    <a:bodyPr/>
                    <a:lstStyle/>
                    <a:p>
                      <a:pPr marL="126364">
                        <a:lnSpc>
                          <a:spcPts val="730"/>
                        </a:lnSpc>
                      </a:pPr>
                      <a:r>
                        <a:rPr sz="700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holders</a:t>
                      </a:r>
                      <a:r>
                        <a:rPr sz="7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Company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94945" algn="r">
                        <a:lnSpc>
                          <a:spcPts val="73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30,032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1315" algn="r">
                        <a:lnSpc>
                          <a:spcPts val="73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33,304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0360" algn="ctr">
                        <a:lnSpc>
                          <a:spcPts val="73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388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6680">
                <a:tc>
                  <a:txBody>
                    <a:bodyPr/>
                    <a:lstStyle/>
                    <a:p>
                      <a:pPr marL="126364">
                        <a:lnSpc>
                          <a:spcPts val="74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Non-controlling</a:t>
                      </a:r>
                      <a:r>
                        <a:rPr sz="7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spc="-10" dirty="0">
                          <a:latin typeface="Times New Roman"/>
                          <a:cs typeface="Times New Roman"/>
                        </a:rPr>
                        <a:t>interests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94945" algn="r">
                        <a:lnSpc>
                          <a:spcPts val="74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334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9410" algn="r">
                        <a:lnSpc>
                          <a:spcPts val="740"/>
                        </a:lnSpc>
                      </a:pPr>
                      <a:r>
                        <a:rPr sz="700" spc="-25" dirty="0">
                          <a:latin typeface="Times New Roman"/>
                          <a:cs typeface="Times New Roman"/>
                        </a:rPr>
                        <a:t>61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9090" algn="ctr">
                        <a:lnSpc>
                          <a:spcPts val="740"/>
                        </a:lnSpc>
                      </a:pPr>
                      <a:r>
                        <a:rPr sz="7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marL="2540">
                        <a:lnSpc>
                          <a:spcPts val="790"/>
                        </a:lnSpc>
                        <a:spcBef>
                          <a:spcPts val="5"/>
                        </a:spcBef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Profit</a:t>
                      </a:r>
                      <a:r>
                        <a:rPr sz="7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period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94945" algn="r">
                        <a:lnSpc>
                          <a:spcPts val="790"/>
                        </a:lnSpc>
                        <a:spcBef>
                          <a:spcPts val="5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30,366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315" algn="r">
                        <a:lnSpc>
                          <a:spcPts val="790"/>
                        </a:lnSpc>
                        <a:spcBef>
                          <a:spcPts val="5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33,365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40360" algn="ctr">
                        <a:lnSpc>
                          <a:spcPts val="790"/>
                        </a:lnSpc>
                        <a:spcBef>
                          <a:spcPts val="5"/>
                        </a:spcBef>
                      </a:pPr>
                      <a:r>
                        <a:rPr sz="700" b="1" spc="-25" dirty="0">
                          <a:latin typeface="Times New Roman"/>
                          <a:cs typeface="Times New Roman"/>
                        </a:rPr>
                        <a:t>389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ts val="780"/>
                        </a:lnSpc>
                        <a:spcBef>
                          <a:spcPts val="5"/>
                        </a:spcBef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Earnings</a:t>
                      </a:r>
                      <a:r>
                        <a:rPr sz="7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7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share: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04775">
                <a:tc>
                  <a:txBody>
                    <a:bodyPr/>
                    <a:lstStyle/>
                    <a:p>
                      <a:pPr marL="2540">
                        <a:lnSpc>
                          <a:spcPts val="730"/>
                        </a:lnSpc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Attributable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holders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 Company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4775">
                <a:tc>
                  <a:txBody>
                    <a:bodyPr/>
                    <a:lstStyle/>
                    <a:p>
                      <a:pPr marL="126364">
                        <a:lnSpc>
                          <a:spcPts val="73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Basic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93675" algn="r">
                        <a:lnSpc>
                          <a:spcPts val="73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2.87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59410" algn="r">
                        <a:lnSpc>
                          <a:spcPts val="73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3.18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8455" algn="ctr">
                        <a:lnSpc>
                          <a:spcPts val="73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0.04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L="126364">
                        <a:lnSpc>
                          <a:spcPts val="79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Diluted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93675" algn="r">
                        <a:lnSpc>
                          <a:spcPts val="79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2.87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59410" algn="r">
                        <a:lnSpc>
                          <a:spcPts val="79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3.17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8455" algn="ctr">
                        <a:lnSpc>
                          <a:spcPts val="790"/>
                        </a:lnSpc>
                      </a:pPr>
                      <a:r>
                        <a:rPr sz="700" spc="-20" dirty="0">
                          <a:latin typeface="Times New Roman"/>
                          <a:cs typeface="Times New Roman"/>
                        </a:rPr>
                        <a:t>0.04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6845">
                <a:tc>
                  <a:txBody>
                    <a:bodyPr/>
                    <a:lstStyle/>
                    <a:p>
                      <a:pPr marL="2540">
                        <a:lnSpc>
                          <a:spcPts val="780"/>
                        </a:lnSpc>
                        <a:spcBef>
                          <a:spcPts val="355"/>
                        </a:spcBef>
                      </a:pP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Weighted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average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shares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4775">
                <a:tc>
                  <a:txBody>
                    <a:bodyPr/>
                    <a:lstStyle/>
                    <a:p>
                      <a:pPr marL="2540">
                        <a:lnSpc>
                          <a:spcPts val="730"/>
                        </a:lnSpc>
                      </a:pPr>
                      <a:r>
                        <a:rPr sz="700" b="1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computing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earnings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7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dirty="0">
                          <a:latin typeface="Times New Roman"/>
                          <a:cs typeface="Times New Roman"/>
                        </a:rPr>
                        <a:t>equity</a:t>
                      </a:r>
                      <a:r>
                        <a:rPr sz="7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700" b="1" spc="-10" dirty="0">
                          <a:latin typeface="Times New Roman"/>
                          <a:cs typeface="Times New Roman"/>
                        </a:rPr>
                        <a:t>share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04139">
                <a:tc>
                  <a:txBody>
                    <a:bodyPr/>
                    <a:lstStyle/>
                    <a:p>
                      <a:pPr marL="126364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Basic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95580" algn="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10,451,552,512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1315" algn="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10,472,085,808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1630" algn="ctr">
                        <a:lnSpc>
                          <a:spcPts val="720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10,472,085,808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marL="126364">
                        <a:lnSpc>
                          <a:spcPts val="78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Diluted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5580" algn="r">
                        <a:lnSpc>
                          <a:spcPts val="78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10,473,536,226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315" algn="r">
                        <a:lnSpc>
                          <a:spcPts val="78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10,492,102,015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41630" algn="ctr">
                        <a:lnSpc>
                          <a:spcPts val="785"/>
                        </a:lnSpc>
                      </a:pPr>
                      <a:r>
                        <a:rPr sz="700" spc="-10" dirty="0">
                          <a:latin typeface="Times New Roman"/>
                          <a:cs typeface="Times New Roman"/>
                        </a:rPr>
                        <a:t>10,492,102,015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28270" y="9642437"/>
            <a:ext cx="1287780" cy="288290"/>
          </a:xfrm>
          <a:custGeom>
            <a:avLst/>
            <a:gdLst/>
            <a:ahLst/>
            <a:cxnLst/>
            <a:rect l="l" t="t" r="r" b="b"/>
            <a:pathLst>
              <a:path w="1287780" h="288290">
                <a:moveTo>
                  <a:pt x="1287780" y="0"/>
                </a:moveTo>
                <a:lnTo>
                  <a:pt x="36830" y="0"/>
                </a:lnTo>
                <a:lnTo>
                  <a:pt x="36830" y="66040"/>
                </a:lnTo>
                <a:lnTo>
                  <a:pt x="0" y="66040"/>
                </a:lnTo>
                <a:lnTo>
                  <a:pt x="0" y="288290"/>
                </a:lnTo>
                <a:lnTo>
                  <a:pt x="1250950" y="288290"/>
                </a:lnTo>
                <a:lnTo>
                  <a:pt x="1250950" y="222250"/>
                </a:lnTo>
                <a:lnTo>
                  <a:pt x="1287780" y="222250"/>
                </a:lnTo>
                <a:lnTo>
                  <a:pt x="12877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314325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0" dirty="0">
                <a:latin typeface="Calibri"/>
                <a:cs typeface="Calibri"/>
              </a:rPr>
              <a:t>Public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90447"/>
            <a:ext cx="5966460" cy="29400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030"/>
              </a:lnSpc>
              <a:spcBef>
                <a:spcPts val="175"/>
              </a:spcBef>
            </a:pPr>
            <a:r>
              <a:rPr sz="900" dirty="0">
                <a:latin typeface="Times New Roman"/>
                <a:cs typeface="Times New Roman"/>
              </a:rPr>
              <a:t>Information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on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reportable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segments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for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three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months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ended</a:t>
            </a:r>
            <a:r>
              <a:rPr sz="900" spc="6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June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30,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2025,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March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31,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2025,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June</a:t>
            </a:r>
            <a:r>
              <a:rPr sz="900" spc="4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30,</a:t>
            </a:r>
            <a:r>
              <a:rPr sz="900" spc="5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2024,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and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year</a:t>
            </a:r>
            <a:r>
              <a:rPr sz="900" spc="4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ended </a:t>
            </a:r>
            <a:r>
              <a:rPr sz="900" dirty="0">
                <a:latin typeface="Times New Roman"/>
                <a:cs typeface="Times New Roman"/>
              </a:rPr>
              <a:t>March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31,</a:t>
            </a:r>
            <a:r>
              <a:rPr sz="900" spc="-1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2025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are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as</a:t>
            </a:r>
            <a:r>
              <a:rPr sz="900" spc="-2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follows:</a:t>
            </a:r>
            <a:endParaRPr sz="9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704" y="1365758"/>
          <a:ext cx="6021070" cy="4429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8854"/>
                <a:gridCol w="594360"/>
                <a:gridCol w="600075"/>
                <a:gridCol w="600710"/>
                <a:gridCol w="600075"/>
              </a:tblGrid>
              <a:tr h="19050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Particulars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8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397510">
                        <a:lnSpc>
                          <a:spcPts val="1030"/>
                        </a:lnSpc>
                        <a:spcBef>
                          <a:spcPts val="370"/>
                        </a:spcBef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Three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months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 ended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ts val="1030"/>
                        </a:lnSpc>
                        <a:spcBef>
                          <a:spcPts val="370"/>
                        </a:spcBef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sz="9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ended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44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8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marR="90805" indent="81915">
                        <a:lnSpc>
                          <a:spcPts val="1040"/>
                        </a:lnSpc>
                        <a:spcBef>
                          <a:spcPts val="65"/>
                        </a:spcBef>
                      </a:pP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June </a:t>
                      </a:r>
                      <a:r>
                        <a:rPr sz="900" b="1" spc="-25" dirty="0">
                          <a:latin typeface="Times New Roman"/>
                          <a:cs typeface="Times New Roman"/>
                        </a:rPr>
                        <a:t>30,</a:t>
                      </a:r>
                      <a:r>
                        <a:rPr sz="900" b="1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 marR="92075" indent="34925">
                        <a:lnSpc>
                          <a:spcPts val="1040"/>
                        </a:lnSpc>
                        <a:spcBef>
                          <a:spcPts val="65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March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31, 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marR="92710" indent="81915">
                        <a:lnSpc>
                          <a:spcPts val="1040"/>
                        </a:lnSpc>
                        <a:spcBef>
                          <a:spcPts val="65"/>
                        </a:spcBef>
                      </a:pP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June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30, 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2024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marR="92075" indent="34925">
                        <a:lnSpc>
                          <a:spcPts val="1040"/>
                        </a:lnSpc>
                        <a:spcBef>
                          <a:spcPts val="65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March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31, 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8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Audited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Audited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Audited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Audited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2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 marL="4445">
                        <a:lnSpc>
                          <a:spcPts val="1035"/>
                        </a:lnSpc>
                        <a:spcBef>
                          <a:spcPts val="70"/>
                        </a:spcBef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Segment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revenue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4445">
                        <a:lnSpc>
                          <a:spcPts val="1025"/>
                        </a:lnSpc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 Services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5415">
                <a:tc>
                  <a:txBody>
                    <a:bodyPr/>
                    <a:lstStyle/>
                    <a:p>
                      <a:pPr marL="129539">
                        <a:lnSpc>
                          <a:spcPts val="1045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Americas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 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73,097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73,721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67,700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4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281,824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2240">
                <a:tc>
                  <a:txBody>
                    <a:bodyPr/>
                    <a:lstStyle/>
                    <a:p>
                      <a:pPr marL="129539">
                        <a:lnSpc>
                          <a:spcPts val="1019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Americas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 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67,070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68,582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67,338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271,972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129539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Europe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56,817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58,552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60,422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240,077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marL="129539">
                        <a:lnSpc>
                          <a:spcPts val="994"/>
                        </a:lnSpc>
                      </a:pPr>
                      <a:r>
                        <a:rPr sz="900" spc="-20" dirty="0">
                          <a:latin typeface="Times New Roman"/>
                          <a:cs typeface="Times New Roman"/>
                        </a:rPr>
                        <a:t>APMEA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23,816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23,598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23,503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94,351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marL="4445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9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of IT 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Services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220,800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224,453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218,963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888,224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marL="129539">
                        <a:lnSpc>
                          <a:spcPts val="994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Products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994"/>
                        </a:lnSpc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728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994"/>
                        </a:lnSpc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813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994"/>
                        </a:lnSpc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469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2,692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4445">
                        <a:lnSpc>
                          <a:spcPts val="1030"/>
                        </a:lnSpc>
                        <a:spcBef>
                          <a:spcPts val="75"/>
                        </a:spcBef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9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segment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revenue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  <a:spcBef>
                          <a:spcPts val="75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221,528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  <a:spcBef>
                          <a:spcPts val="75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225,266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ts val="1030"/>
                        </a:lnSpc>
                        <a:spcBef>
                          <a:spcPts val="75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219,432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  <a:spcBef>
                          <a:spcPts val="75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890,916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2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ts val="1055"/>
                        </a:lnSpc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Segment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5415">
                <a:tc>
                  <a:txBody>
                    <a:bodyPr/>
                    <a:lstStyle/>
                    <a:p>
                      <a:pPr marL="4445">
                        <a:lnSpc>
                          <a:spcPts val="1040"/>
                        </a:lnSpc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 Services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marL="129539">
                        <a:lnSpc>
                          <a:spcPts val="105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Americas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 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5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14,994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5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16,195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5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13,687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5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58,186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2240">
                <a:tc>
                  <a:txBody>
                    <a:bodyPr/>
                    <a:lstStyle/>
                    <a:p>
                      <a:pPr marL="129539">
                        <a:lnSpc>
                          <a:spcPts val="1019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Americas</a:t>
                      </a:r>
                      <a:r>
                        <a:rPr sz="900" spc="-50" dirty="0">
                          <a:latin typeface="Times New Roman"/>
                          <a:cs typeface="Times New Roman"/>
                        </a:rPr>
                        <a:t> 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13,385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15,513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15,533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61,326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2240">
                <a:tc>
                  <a:txBody>
                    <a:bodyPr/>
                    <a:lstStyle/>
                    <a:p>
                      <a:pPr marL="129539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Europe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6,026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8,140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5,873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29,434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marL="129539">
                        <a:lnSpc>
                          <a:spcPts val="1030"/>
                        </a:lnSpc>
                      </a:pPr>
                      <a:r>
                        <a:rPr sz="900" spc="-20" dirty="0">
                          <a:latin typeface="Times New Roman"/>
                          <a:cs typeface="Times New Roman"/>
                        </a:rPr>
                        <a:t>APMEA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2,979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3,672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2,441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3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12,850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marL="91440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Unallocated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994"/>
                        </a:lnSpc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750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(4,250)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(1,477)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(10,157)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marL="4445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9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of IT 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Services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38,134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39,270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36,057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6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151,639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2240">
                <a:tc>
                  <a:txBody>
                    <a:bodyPr/>
                    <a:lstStyle/>
                    <a:p>
                      <a:pPr marL="4445">
                        <a:lnSpc>
                          <a:spcPts val="1019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Products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19"/>
                        </a:lnSpc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19"/>
                        </a:lnSpc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28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19"/>
                        </a:lnSpc>
                      </a:pPr>
                      <a:r>
                        <a:rPr sz="900" spc="-20" dirty="0">
                          <a:latin typeface="Times New Roman"/>
                          <a:cs typeface="Times New Roman"/>
                        </a:rPr>
                        <a:t>(47)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19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(173)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4445">
                        <a:lnSpc>
                          <a:spcPts val="100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Reconciling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Items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(2,430)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(211)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00"/>
                        </a:lnSpc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59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0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(195)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4445">
                        <a:lnSpc>
                          <a:spcPts val="1040"/>
                        </a:lnSpc>
                        <a:spcBef>
                          <a:spcPts val="60"/>
                        </a:spcBef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9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segment</a:t>
                      </a:r>
                      <a:r>
                        <a:rPr sz="9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40"/>
                        </a:lnSpc>
                        <a:spcBef>
                          <a:spcPts val="6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35,724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40"/>
                        </a:lnSpc>
                        <a:spcBef>
                          <a:spcPts val="6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39,087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40"/>
                        </a:lnSpc>
                        <a:spcBef>
                          <a:spcPts val="6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36,069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40"/>
                        </a:lnSpc>
                        <a:spcBef>
                          <a:spcPts val="6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151,271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4940">
                <a:tc>
                  <a:txBody>
                    <a:bodyPr/>
                    <a:lstStyle/>
                    <a:p>
                      <a:pPr marL="4445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Finance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expenses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(3,608)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(3,767)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(3,288)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  <a:spcBef>
                          <a:spcPts val="60"/>
                        </a:spcBef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(14,770)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marL="4445">
                        <a:lnSpc>
                          <a:spcPts val="98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Finance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income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98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10,417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98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11,819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98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7,480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980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38,202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65430">
                <a:tc>
                  <a:txBody>
                    <a:bodyPr/>
                    <a:lstStyle/>
                    <a:p>
                      <a:pPr marL="4445">
                        <a:lnSpc>
                          <a:spcPts val="985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profit/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(loss)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9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associate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joint</a:t>
                      </a:r>
                      <a:r>
                        <a:rPr sz="9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venture</a:t>
                      </a:r>
                      <a:r>
                        <a:rPr sz="9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accounted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using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ts val="1010"/>
                        </a:lnSpc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equity 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30"/>
                        </a:lnSpc>
                        <a:spcBef>
                          <a:spcPts val="965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50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30"/>
                        </a:lnSpc>
                        <a:spcBef>
                          <a:spcPts val="965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291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30"/>
                        </a:lnSpc>
                        <a:spcBef>
                          <a:spcPts val="965"/>
                        </a:spcBef>
                      </a:pPr>
                      <a:r>
                        <a:rPr sz="900" spc="-20" dirty="0">
                          <a:latin typeface="Times New Roman"/>
                          <a:cs typeface="Times New Roman"/>
                        </a:rPr>
                        <a:t>(45)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30"/>
                        </a:lnSpc>
                        <a:spcBef>
                          <a:spcPts val="965"/>
                        </a:spcBef>
                      </a:pPr>
                      <a:r>
                        <a:rPr sz="900" spc="-25" dirty="0">
                          <a:latin typeface="Times New Roman"/>
                          <a:cs typeface="Times New Roman"/>
                        </a:rPr>
                        <a:t>254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25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4445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dirty="0">
                          <a:latin typeface="Times New Roman"/>
                          <a:cs typeface="Times New Roman"/>
                        </a:rPr>
                        <a:t>Profit</a:t>
                      </a:r>
                      <a:r>
                        <a:rPr sz="9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dirty="0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9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b="1" spc="-25" dirty="0">
                          <a:latin typeface="Times New Roman"/>
                          <a:cs typeface="Times New Roman"/>
                        </a:rPr>
                        <a:t>tax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42,583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47,430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40,216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1030"/>
                        </a:lnSpc>
                        <a:spcBef>
                          <a:spcPts val="70"/>
                        </a:spcBef>
                      </a:pPr>
                      <a:r>
                        <a:rPr sz="900" b="1" spc="-10" dirty="0">
                          <a:latin typeface="Times New Roman"/>
                          <a:cs typeface="Times New Roman"/>
                        </a:rPr>
                        <a:t>174,957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38125" y="9657016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50"/>
                </a:lnTo>
                <a:lnTo>
                  <a:pt x="1250950" y="222250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314325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0" dirty="0">
                <a:latin typeface="Calibri"/>
                <a:cs typeface="Calibri"/>
              </a:rPr>
              <a:t>Public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063498"/>
            <a:ext cx="5972810" cy="514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Additional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Information: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12700" marR="669925">
              <a:lnSpc>
                <a:spcPts val="1260"/>
              </a:lnSpc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organized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following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segments: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IT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Services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IT </a:t>
            </a:r>
            <a:r>
              <a:rPr sz="1100" b="1" spc="-10" dirty="0">
                <a:latin typeface="Arial"/>
                <a:cs typeface="Arial"/>
              </a:rPr>
              <a:t>Products.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103000"/>
              </a:lnSpc>
              <a:spcBef>
                <a:spcPts val="1155"/>
              </a:spcBef>
            </a:pPr>
            <a:r>
              <a:rPr sz="1100" b="1" dirty="0">
                <a:latin typeface="Arial"/>
                <a:cs typeface="Arial"/>
              </a:rPr>
              <a:t>IT</a:t>
            </a:r>
            <a:r>
              <a:rPr sz="1100" b="1" spc="8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Services:</a:t>
            </a:r>
            <a:r>
              <a:rPr sz="1100" b="1" spc="8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segment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primarily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consists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offerings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customers </a:t>
            </a:r>
            <a:r>
              <a:rPr sz="1100" dirty="0">
                <a:latin typeface="Arial MT"/>
                <a:cs typeface="Arial MT"/>
              </a:rPr>
              <a:t>organized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four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Market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Units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(“SMUs”)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-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Americas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1,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Americas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2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Europe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Asia </a:t>
            </a:r>
            <a:r>
              <a:rPr sz="1100" b="1" dirty="0">
                <a:latin typeface="Arial"/>
                <a:cs typeface="Arial"/>
              </a:rPr>
              <a:t>Pacific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Middle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East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Africa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(“APMEA”)</a:t>
            </a:r>
            <a:r>
              <a:rPr sz="1100" spc="-10" dirty="0">
                <a:latin typeface="Arial MT"/>
                <a:cs typeface="Arial MT"/>
              </a:rPr>
              <a:t>.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Americas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Americas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primarily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organized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industry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sector,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while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Europe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APMEA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organized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countries.</a:t>
            </a:r>
            <a:endParaRPr sz="1100">
              <a:latin typeface="Arial MT"/>
              <a:cs typeface="Arial MT"/>
            </a:endParaRPr>
          </a:p>
          <a:p>
            <a:pPr marL="12700" marR="5080" algn="just">
              <a:lnSpc>
                <a:spcPct val="103299"/>
              </a:lnSpc>
              <a:spcBef>
                <a:spcPts val="819"/>
              </a:spcBef>
            </a:pPr>
            <a:r>
              <a:rPr sz="1100" b="1" dirty="0">
                <a:latin typeface="Arial"/>
                <a:cs typeface="Arial"/>
              </a:rPr>
              <a:t>Americas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1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includes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entire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Latin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America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(“LATAM”)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following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industry </a:t>
            </a:r>
            <a:r>
              <a:rPr sz="1100" dirty="0">
                <a:latin typeface="Arial MT"/>
                <a:cs typeface="Arial MT"/>
              </a:rPr>
              <a:t>sectors</a:t>
            </a:r>
            <a:r>
              <a:rPr sz="1100" spc="2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United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States</a:t>
            </a:r>
            <a:r>
              <a:rPr sz="1100" spc="2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America:</a:t>
            </a:r>
            <a:r>
              <a:rPr sz="1100" spc="2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Communications,</a:t>
            </a:r>
            <a:r>
              <a:rPr sz="1100" spc="2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media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information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services, </a:t>
            </a:r>
            <a:r>
              <a:rPr sz="1100" dirty="0">
                <a:latin typeface="Arial MT"/>
                <a:cs typeface="Arial MT"/>
              </a:rPr>
              <a:t>Software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gaming,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New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age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technology,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Consumer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goods,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medical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devices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life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sciences, </a:t>
            </a:r>
            <a:r>
              <a:rPr sz="1100" dirty="0">
                <a:latin typeface="Arial MT"/>
                <a:cs typeface="Arial MT"/>
              </a:rPr>
              <a:t>Healthcare,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Technology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services.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Americas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2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includes the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entire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business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in </a:t>
            </a:r>
            <a:r>
              <a:rPr sz="1100" dirty="0">
                <a:latin typeface="Arial MT"/>
                <a:cs typeface="Arial MT"/>
              </a:rPr>
              <a:t>Canada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following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industry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sectors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States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America: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Banking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financial </a:t>
            </a:r>
            <a:r>
              <a:rPr sz="1100" dirty="0">
                <a:latin typeface="Arial MT"/>
                <a:cs typeface="Arial MT"/>
              </a:rPr>
              <a:t>services,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Energy,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Manufacturing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resources,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Capital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markets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insurance,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Hi-</a:t>
            </a:r>
            <a:r>
              <a:rPr sz="1100" spc="-10" dirty="0">
                <a:latin typeface="Arial MT"/>
                <a:cs typeface="Arial MT"/>
              </a:rPr>
              <a:t>tech.</a:t>
            </a:r>
            <a:endParaRPr sz="11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840"/>
              </a:spcBef>
            </a:pPr>
            <a:r>
              <a:rPr sz="1100" b="1" dirty="0">
                <a:latin typeface="Arial"/>
                <a:cs typeface="Arial"/>
              </a:rPr>
              <a:t>Europe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consists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United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Kingdom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Ireland, </a:t>
            </a:r>
            <a:r>
              <a:rPr sz="1100" spc="-10" dirty="0">
                <a:latin typeface="Arial MT"/>
                <a:cs typeface="Arial MT"/>
              </a:rPr>
              <a:t>Switzerland,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Germany,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Western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Europe.</a:t>
            </a:r>
            <a:endParaRPr sz="1100">
              <a:latin typeface="Arial MT"/>
              <a:cs typeface="Arial MT"/>
            </a:endParaRPr>
          </a:p>
          <a:p>
            <a:pPr marL="12700" marR="5080" algn="just">
              <a:lnSpc>
                <a:spcPct val="102699"/>
              </a:lnSpc>
              <a:spcBef>
                <a:spcPts val="815"/>
              </a:spcBef>
            </a:pPr>
            <a:r>
              <a:rPr sz="1100" b="1" dirty="0">
                <a:latin typeface="Arial"/>
                <a:cs typeface="Arial"/>
              </a:rPr>
              <a:t>APMEA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consists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Australia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New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Zealand,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India,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Middle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East,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South-</a:t>
            </a:r>
            <a:r>
              <a:rPr sz="1100" dirty="0">
                <a:latin typeface="Arial MT"/>
                <a:cs typeface="Arial MT"/>
              </a:rPr>
              <a:t>East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Asia,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Japan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spc="-10" dirty="0">
                <a:latin typeface="Arial MT"/>
                <a:cs typeface="Arial MT"/>
              </a:rPr>
              <a:t>Africa.</a:t>
            </a:r>
            <a:endParaRPr sz="1100">
              <a:latin typeface="Arial MT"/>
              <a:cs typeface="Arial MT"/>
            </a:endParaRPr>
          </a:p>
          <a:p>
            <a:pPr marL="12700" marR="5715" algn="just">
              <a:lnSpc>
                <a:spcPct val="103200"/>
              </a:lnSpc>
              <a:spcBef>
                <a:spcPts val="825"/>
              </a:spcBef>
            </a:pP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each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attributed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respective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SMUs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location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the </a:t>
            </a:r>
            <a:r>
              <a:rPr sz="1100" dirty="0">
                <a:latin typeface="Arial MT"/>
                <a:cs typeface="Arial MT"/>
              </a:rPr>
              <a:t>customer’s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primary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buying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center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2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services.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respect</a:t>
            </a:r>
            <a:r>
              <a:rPr sz="1100" spc="229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certain</a:t>
            </a:r>
            <a:r>
              <a:rPr sz="1100" spc="2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strategic</a:t>
            </a:r>
            <a:r>
              <a:rPr sz="1100" spc="2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global </a:t>
            </a:r>
            <a:r>
              <a:rPr sz="1100" dirty="0">
                <a:latin typeface="Arial MT"/>
                <a:cs typeface="Arial MT"/>
              </a:rPr>
              <a:t>customers,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generated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multiple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countries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customer’s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buying </a:t>
            </a:r>
            <a:r>
              <a:rPr sz="1100" dirty="0">
                <a:latin typeface="Arial MT"/>
                <a:cs typeface="Arial MT"/>
              </a:rPr>
              <a:t>centers,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total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related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these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strategic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global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customers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attributed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single </a:t>
            </a:r>
            <a:r>
              <a:rPr sz="1100" dirty="0">
                <a:latin typeface="Arial MT"/>
                <a:cs typeface="Arial MT"/>
              </a:rPr>
              <a:t>SMU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geographical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location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key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decision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makers.</a:t>
            </a:r>
            <a:endParaRPr sz="1100">
              <a:latin typeface="Arial MT"/>
              <a:cs typeface="Arial MT"/>
            </a:endParaRPr>
          </a:p>
          <a:p>
            <a:pPr marL="12700" marR="5715" algn="just">
              <a:lnSpc>
                <a:spcPct val="103000"/>
              </a:lnSpc>
              <a:spcBef>
                <a:spcPts val="810"/>
              </a:spcBef>
            </a:pPr>
            <a:r>
              <a:rPr sz="1100" b="1" dirty="0">
                <a:latin typeface="Arial"/>
                <a:cs typeface="Arial"/>
              </a:rPr>
              <a:t>IT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Products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value-</a:t>
            </a:r>
            <a:r>
              <a:rPr sz="1100" dirty="0">
                <a:latin typeface="Arial MT"/>
                <a:cs typeface="Arial MT"/>
              </a:rPr>
              <a:t>added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reseller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security,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packaged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SaaS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software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leading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international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brands.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certain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total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outsourcing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contracts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segment,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Company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delivers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hardware,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software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other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related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deliverables.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Revenue </a:t>
            </a:r>
            <a:r>
              <a:rPr sz="1100" dirty="0">
                <a:latin typeface="Arial MT"/>
                <a:cs typeface="Arial MT"/>
              </a:rPr>
              <a:t>relating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these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items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reported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Products.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4150" y="9594684"/>
            <a:ext cx="1276350" cy="396875"/>
          </a:xfrm>
          <a:custGeom>
            <a:avLst/>
            <a:gdLst/>
            <a:ahLst/>
            <a:cxnLst/>
            <a:rect l="l" t="t" r="r" b="b"/>
            <a:pathLst>
              <a:path w="1276350" h="396875">
                <a:moveTo>
                  <a:pt x="1276350" y="0"/>
                </a:moveTo>
                <a:lnTo>
                  <a:pt x="25400" y="0"/>
                </a:lnTo>
                <a:lnTo>
                  <a:pt x="25400" y="174625"/>
                </a:lnTo>
                <a:lnTo>
                  <a:pt x="0" y="174625"/>
                </a:lnTo>
                <a:lnTo>
                  <a:pt x="0" y="396875"/>
                </a:lnTo>
                <a:lnTo>
                  <a:pt x="1250950" y="396875"/>
                </a:lnTo>
                <a:lnTo>
                  <a:pt x="1250950" y="222237"/>
                </a:lnTo>
                <a:lnTo>
                  <a:pt x="1276350" y="222237"/>
                </a:lnTo>
                <a:lnTo>
                  <a:pt x="12763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4508" y="9737979"/>
            <a:ext cx="314325" cy="1295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000" spc="-10" dirty="0">
                <a:latin typeface="Calibri"/>
                <a:cs typeface="Calibri"/>
              </a:rPr>
              <a:t>Public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88923"/>
            <a:ext cx="5970270" cy="789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Reconciliation</a:t>
            </a:r>
            <a:r>
              <a:rPr sz="11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selected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GAAP</a:t>
            </a:r>
            <a:r>
              <a:rPr sz="11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measures</a:t>
            </a:r>
            <a:r>
              <a:rPr sz="11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sz="110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Non-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GAAP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measures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100">
              <a:latin typeface="Arial"/>
              <a:cs typeface="Arial"/>
            </a:endParaRPr>
          </a:p>
          <a:p>
            <a:pPr marL="469265" marR="5080" indent="-228600">
              <a:lnSpc>
                <a:spcPts val="1270"/>
              </a:lnSpc>
            </a:pPr>
            <a:r>
              <a:rPr sz="1100" b="1" dirty="0">
                <a:latin typeface="Arial"/>
                <a:cs typeface="Arial"/>
              </a:rPr>
              <a:t>1.</a:t>
            </a:r>
            <a:r>
              <a:rPr sz="1100" b="1" spc="150" dirty="0">
                <a:latin typeface="Arial"/>
                <a:cs typeface="Arial"/>
              </a:rPr>
              <a:t>  </a:t>
            </a:r>
            <a:r>
              <a:rPr sz="1100" b="1" spc="-10" dirty="0">
                <a:latin typeface="Arial"/>
                <a:cs typeface="Arial"/>
              </a:rPr>
              <a:t>Reconciliation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Non-</a:t>
            </a:r>
            <a:r>
              <a:rPr sz="1100" b="1" dirty="0">
                <a:latin typeface="Arial"/>
                <a:cs typeface="Arial"/>
              </a:rPr>
              <a:t>GAAP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Constant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Currency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IT</a:t>
            </a:r>
            <a:r>
              <a:rPr sz="1100" b="1" spc="-10" dirty="0">
                <a:latin typeface="Arial"/>
                <a:cs typeface="Arial"/>
              </a:rPr>
              <a:t> Services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Revenue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IT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Services </a:t>
            </a:r>
            <a:r>
              <a:rPr sz="1100" b="1" dirty="0">
                <a:latin typeface="Arial"/>
                <a:cs typeface="Arial"/>
              </a:rPr>
              <a:t>Revenue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as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per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IFRS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($Mn)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704" y="1742185"/>
            <a:ext cx="5655310" cy="335280"/>
          </a:xfrm>
          <a:custGeom>
            <a:avLst/>
            <a:gdLst/>
            <a:ahLst/>
            <a:cxnLst/>
            <a:rect l="l" t="t" r="r" b="b"/>
            <a:pathLst>
              <a:path w="5655309" h="335280">
                <a:moveTo>
                  <a:pt x="5648820" y="0"/>
                </a:move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175260"/>
                </a:lnTo>
                <a:lnTo>
                  <a:pt x="0" y="335280"/>
                </a:lnTo>
                <a:lnTo>
                  <a:pt x="6096" y="335280"/>
                </a:lnTo>
                <a:lnTo>
                  <a:pt x="6096" y="175260"/>
                </a:lnTo>
                <a:lnTo>
                  <a:pt x="6096" y="6096"/>
                </a:lnTo>
                <a:lnTo>
                  <a:pt x="5648820" y="6096"/>
                </a:lnTo>
                <a:lnTo>
                  <a:pt x="5648820" y="0"/>
                </a:lnTo>
                <a:close/>
              </a:path>
              <a:path w="5655309" h="335280">
                <a:moveTo>
                  <a:pt x="5655005" y="0"/>
                </a:moveTo>
                <a:lnTo>
                  <a:pt x="5648909" y="0"/>
                </a:lnTo>
                <a:lnTo>
                  <a:pt x="5648909" y="6096"/>
                </a:lnTo>
                <a:lnTo>
                  <a:pt x="5648909" y="175260"/>
                </a:lnTo>
                <a:lnTo>
                  <a:pt x="5648909" y="335280"/>
                </a:lnTo>
                <a:lnTo>
                  <a:pt x="5655005" y="335280"/>
                </a:lnTo>
                <a:lnTo>
                  <a:pt x="5655005" y="175260"/>
                </a:lnTo>
                <a:lnTo>
                  <a:pt x="5655005" y="6096"/>
                </a:lnTo>
                <a:lnTo>
                  <a:pt x="56550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6332" y="1731010"/>
            <a:ext cx="3926840" cy="518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8930">
              <a:lnSpc>
                <a:spcPts val="131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Three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Months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ended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June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30,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2025</a:t>
            </a:r>
            <a:endParaRPr sz="1100">
              <a:latin typeface="Arial"/>
              <a:cs typeface="Arial"/>
            </a:endParaRPr>
          </a:p>
          <a:p>
            <a:pPr>
              <a:lnSpc>
                <a:spcPts val="1280"/>
              </a:lnSpc>
            </a:pPr>
            <a:r>
              <a:rPr sz="1100" dirty="0">
                <a:latin typeface="Arial MT"/>
                <a:cs typeface="Arial MT"/>
              </a:rPr>
              <a:t>IT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IFRS</a:t>
            </a:r>
            <a:endParaRPr sz="1100">
              <a:latin typeface="Arial MT"/>
              <a:cs typeface="Arial MT"/>
            </a:endParaRPr>
          </a:p>
          <a:p>
            <a:pPr>
              <a:lnSpc>
                <a:spcPts val="1290"/>
              </a:lnSpc>
            </a:pPr>
            <a:r>
              <a:rPr sz="1100" dirty="0">
                <a:latin typeface="Arial MT"/>
                <a:cs typeface="Arial MT"/>
              </a:rPr>
              <a:t>Effect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Foreign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currency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exchange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movement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5804" y="1895601"/>
            <a:ext cx="77089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955">
              <a:lnSpc>
                <a:spcPts val="1290"/>
              </a:lnSpc>
              <a:spcBef>
                <a:spcPts val="100"/>
              </a:spcBef>
            </a:pPr>
            <a:r>
              <a:rPr sz="1100" spc="-10" dirty="0">
                <a:latin typeface="Arial MT"/>
                <a:cs typeface="Arial MT"/>
              </a:rPr>
              <a:t>$2,587.4</a:t>
            </a:r>
            <a:endParaRPr sz="1100">
              <a:latin typeface="Arial MT"/>
              <a:cs typeface="Arial MT"/>
            </a:endParaRPr>
          </a:p>
          <a:p>
            <a:pPr>
              <a:lnSpc>
                <a:spcPts val="1290"/>
              </a:lnSpc>
              <a:tabLst>
                <a:tab pos="250190" algn="l"/>
              </a:tabLst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($44.1)</a:t>
            </a:r>
            <a:r>
              <a:rPr sz="1100" u="sng" spc="50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704" y="2077465"/>
            <a:ext cx="5655310" cy="840105"/>
          </a:xfrm>
          <a:custGeom>
            <a:avLst/>
            <a:gdLst/>
            <a:ahLst/>
            <a:cxnLst/>
            <a:rect l="l" t="t" r="r" b="b"/>
            <a:pathLst>
              <a:path w="5655309" h="840105">
                <a:moveTo>
                  <a:pt x="5648820" y="833628"/>
                </a:moveTo>
                <a:lnTo>
                  <a:pt x="5648820" y="833628"/>
                </a:lnTo>
                <a:lnTo>
                  <a:pt x="6096" y="833628"/>
                </a:lnTo>
                <a:lnTo>
                  <a:pt x="6096" y="327660"/>
                </a:lnTo>
                <a:lnTo>
                  <a:pt x="6096" y="167640"/>
                </a:lnTo>
                <a:lnTo>
                  <a:pt x="6096" y="161544"/>
                </a:lnTo>
                <a:lnTo>
                  <a:pt x="6096" y="0"/>
                </a:lnTo>
                <a:lnTo>
                  <a:pt x="0" y="0"/>
                </a:lnTo>
                <a:lnTo>
                  <a:pt x="0" y="839724"/>
                </a:lnTo>
                <a:lnTo>
                  <a:pt x="6096" y="839724"/>
                </a:lnTo>
                <a:lnTo>
                  <a:pt x="5648820" y="839724"/>
                </a:lnTo>
                <a:lnTo>
                  <a:pt x="5648820" y="833628"/>
                </a:lnTo>
                <a:close/>
              </a:path>
              <a:path w="5655309" h="840105">
                <a:moveTo>
                  <a:pt x="5655005" y="0"/>
                </a:moveTo>
                <a:lnTo>
                  <a:pt x="5648909" y="0"/>
                </a:lnTo>
                <a:lnTo>
                  <a:pt x="5648909" y="161544"/>
                </a:lnTo>
                <a:lnTo>
                  <a:pt x="5648909" y="167640"/>
                </a:lnTo>
                <a:lnTo>
                  <a:pt x="5648909" y="327660"/>
                </a:lnTo>
                <a:lnTo>
                  <a:pt x="5648909" y="833628"/>
                </a:lnTo>
                <a:lnTo>
                  <a:pt x="5648909" y="839724"/>
                </a:lnTo>
                <a:lnTo>
                  <a:pt x="5655005" y="839724"/>
                </a:lnTo>
                <a:lnTo>
                  <a:pt x="5655005" y="833628"/>
                </a:lnTo>
                <a:lnTo>
                  <a:pt x="5655005" y="327660"/>
                </a:lnTo>
                <a:lnTo>
                  <a:pt x="5655005" y="167640"/>
                </a:lnTo>
                <a:lnTo>
                  <a:pt x="5655005" y="161544"/>
                </a:lnTo>
                <a:lnTo>
                  <a:pt x="56550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86332" y="2476246"/>
            <a:ext cx="3429635" cy="3536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5080">
              <a:lnSpc>
                <a:spcPts val="1260"/>
              </a:lnSpc>
              <a:spcBef>
                <a:spcPts val="195"/>
              </a:spcBef>
            </a:pPr>
            <a:r>
              <a:rPr sz="1100" b="1" spc="-10" dirty="0">
                <a:latin typeface="Arial"/>
                <a:cs typeface="Arial"/>
              </a:rPr>
              <a:t>Non-</a:t>
            </a:r>
            <a:r>
              <a:rPr sz="1100" b="1" dirty="0">
                <a:latin typeface="Arial"/>
                <a:cs typeface="Arial"/>
              </a:rPr>
              <a:t>GAAP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Constant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Currency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IT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Services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Revenue </a:t>
            </a:r>
            <a:r>
              <a:rPr sz="1100" b="1" dirty="0">
                <a:latin typeface="Arial"/>
                <a:cs typeface="Arial"/>
              </a:rPr>
              <a:t>based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on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previous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quarter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exchange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rates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54014" y="2557018"/>
            <a:ext cx="5581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Arial"/>
                <a:cs typeface="Arial"/>
              </a:rPr>
              <a:t>$2,543.3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704" y="3239134"/>
            <a:ext cx="5655310" cy="335280"/>
          </a:xfrm>
          <a:custGeom>
            <a:avLst/>
            <a:gdLst/>
            <a:ahLst/>
            <a:cxnLst/>
            <a:rect l="l" t="t" r="r" b="b"/>
            <a:pathLst>
              <a:path w="5655309" h="335279">
                <a:moveTo>
                  <a:pt x="5648820" y="0"/>
                </a:moveTo>
                <a:lnTo>
                  <a:pt x="5648820" y="0"/>
                </a:lnTo>
                <a:lnTo>
                  <a:pt x="0" y="0"/>
                </a:lnTo>
                <a:lnTo>
                  <a:pt x="0" y="6096"/>
                </a:lnTo>
                <a:lnTo>
                  <a:pt x="0" y="173736"/>
                </a:lnTo>
                <a:lnTo>
                  <a:pt x="0" y="335280"/>
                </a:lnTo>
                <a:lnTo>
                  <a:pt x="6096" y="335280"/>
                </a:lnTo>
                <a:lnTo>
                  <a:pt x="6096" y="173736"/>
                </a:lnTo>
                <a:lnTo>
                  <a:pt x="6096" y="6096"/>
                </a:lnTo>
                <a:lnTo>
                  <a:pt x="12192" y="6096"/>
                </a:lnTo>
                <a:lnTo>
                  <a:pt x="4891100" y="6096"/>
                </a:lnTo>
                <a:lnTo>
                  <a:pt x="4897196" y="6096"/>
                </a:lnTo>
                <a:lnTo>
                  <a:pt x="5648820" y="6096"/>
                </a:lnTo>
                <a:lnTo>
                  <a:pt x="5648820" y="0"/>
                </a:lnTo>
                <a:close/>
              </a:path>
              <a:path w="5655309" h="335279">
                <a:moveTo>
                  <a:pt x="5655005" y="0"/>
                </a:moveTo>
                <a:lnTo>
                  <a:pt x="5648909" y="0"/>
                </a:lnTo>
                <a:lnTo>
                  <a:pt x="5648909" y="6096"/>
                </a:lnTo>
                <a:lnTo>
                  <a:pt x="5648909" y="173736"/>
                </a:lnTo>
                <a:lnTo>
                  <a:pt x="5648909" y="335280"/>
                </a:lnTo>
                <a:lnTo>
                  <a:pt x="5655005" y="335280"/>
                </a:lnTo>
                <a:lnTo>
                  <a:pt x="5655005" y="173736"/>
                </a:lnTo>
                <a:lnTo>
                  <a:pt x="5655005" y="6096"/>
                </a:lnTo>
                <a:lnTo>
                  <a:pt x="56550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86332" y="3226435"/>
            <a:ext cx="3926840" cy="52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8930">
              <a:lnSpc>
                <a:spcPts val="131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Three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Months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ended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June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30,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2025</a:t>
            </a:r>
            <a:endParaRPr sz="1100">
              <a:latin typeface="Arial"/>
              <a:cs typeface="Arial"/>
            </a:endParaRPr>
          </a:p>
          <a:p>
            <a:pPr>
              <a:lnSpc>
                <a:spcPts val="1285"/>
              </a:lnSpc>
            </a:pPr>
            <a:r>
              <a:rPr sz="1100" dirty="0">
                <a:latin typeface="Arial MT"/>
                <a:cs typeface="Arial MT"/>
              </a:rPr>
              <a:t>IT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Services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Revenue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IFRS</a:t>
            </a:r>
            <a:endParaRPr sz="1100">
              <a:latin typeface="Arial MT"/>
              <a:cs typeface="Arial MT"/>
            </a:endParaRPr>
          </a:p>
          <a:p>
            <a:pPr>
              <a:lnSpc>
                <a:spcPts val="1295"/>
              </a:lnSpc>
            </a:pPr>
            <a:r>
              <a:rPr sz="1100" dirty="0">
                <a:latin typeface="Arial MT"/>
                <a:cs typeface="Arial MT"/>
              </a:rPr>
              <a:t>Effect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Foreign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currency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exchange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movement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05804" y="3391026"/>
            <a:ext cx="770890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955">
              <a:lnSpc>
                <a:spcPts val="1295"/>
              </a:lnSpc>
              <a:spcBef>
                <a:spcPts val="100"/>
              </a:spcBef>
            </a:pPr>
            <a:r>
              <a:rPr sz="1100" spc="-10" dirty="0">
                <a:latin typeface="Arial MT"/>
                <a:cs typeface="Arial MT"/>
              </a:rPr>
              <a:t>$2,587.4</a:t>
            </a:r>
            <a:endParaRPr sz="1100">
              <a:latin typeface="Arial MT"/>
              <a:cs typeface="Arial MT"/>
            </a:endParaRPr>
          </a:p>
          <a:p>
            <a:pPr>
              <a:lnSpc>
                <a:spcPts val="1295"/>
              </a:lnSpc>
              <a:tabLst>
                <a:tab pos="250190" algn="l"/>
              </a:tabLst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	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($20.8)</a:t>
            </a:r>
            <a:r>
              <a:rPr sz="1100" u="sng" spc="50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704" y="3574414"/>
            <a:ext cx="5655310" cy="1009015"/>
          </a:xfrm>
          <a:custGeom>
            <a:avLst/>
            <a:gdLst/>
            <a:ahLst/>
            <a:cxnLst/>
            <a:rect l="l" t="t" r="r" b="b"/>
            <a:pathLst>
              <a:path w="5655309" h="1009014">
                <a:moveTo>
                  <a:pt x="5648833" y="1002792"/>
                </a:moveTo>
                <a:lnTo>
                  <a:pt x="4891151" y="1002792"/>
                </a:lnTo>
                <a:lnTo>
                  <a:pt x="4888052" y="1002792"/>
                </a:lnTo>
                <a:lnTo>
                  <a:pt x="4881956" y="1002792"/>
                </a:lnTo>
                <a:lnTo>
                  <a:pt x="6096" y="1002792"/>
                </a:lnTo>
                <a:lnTo>
                  <a:pt x="6096" y="326136"/>
                </a:lnTo>
                <a:lnTo>
                  <a:pt x="6096" y="166116"/>
                </a:lnTo>
                <a:lnTo>
                  <a:pt x="6096" y="160020"/>
                </a:lnTo>
                <a:lnTo>
                  <a:pt x="6096" y="0"/>
                </a:lnTo>
                <a:lnTo>
                  <a:pt x="0" y="0"/>
                </a:lnTo>
                <a:lnTo>
                  <a:pt x="0" y="1008888"/>
                </a:lnTo>
                <a:lnTo>
                  <a:pt x="6096" y="1008888"/>
                </a:lnTo>
                <a:lnTo>
                  <a:pt x="4881956" y="1008888"/>
                </a:lnTo>
                <a:lnTo>
                  <a:pt x="4888052" y="1008888"/>
                </a:lnTo>
                <a:lnTo>
                  <a:pt x="4891151" y="1008888"/>
                </a:lnTo>
                <a:lnTo>
                  <a:pt x="5648833" y="1008888"/>
                </a:lnTo>
                <a:lnTo>
                  <a:pt x="5648833" y="1002792"/>
                </a:lnTo>
                <a:close/>
              </a:path>
              <a:path w="5655309" h="1009014">
                <a:moveTo>
                  <a:pt x="5655005" y="0"/>
                </a:moveTo>
                <a:lnTo>
                  <a:pt x="5648909" y="0"/>
                </a:lnTo>
                <a:lnTo>
                  <a:pt x="5648909" y="160020"/>
                </a:lnTo>
                <a:lnTo>
                  <a:pt x="5648909" y="166116"/>
                </a:lnTo>
                <a:lnTo>
                  <a:pt x="5648909" y="326136"/>
                </a:lnTo>
                <a:lnTo>
                  <a:pt x="5648909" y="1002792"/>
                </a:lnTo>
                <a:lnTo>
                  <a:pt x="5648909" y="1008888"/>
                </a:lnTo>
                <a:lnTo>
                  <a:pt x="5655005" y="1008888"/>
                </a:lnTo>
                <a:lnTo>
                  <a:pt x="5655005" y="1002792"/>
                </a:lnTo>
                <a:lnTo>
                  <a:pt x="5655005" y="326136"/>
                </a:lnTo>
                <a:lnTo>
                  <a:pt x="5655005" y="166116"/>
                </a:lnTo>
                <a:lnTo>
                  <a:pt x="5655005" y="160020"/>
                </a:lnTo>
                <a:lnTo>
                  <a:pt x="56550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86332" y="4057014"/>
            <a:ext cx="4253865" cy="353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ts val="1290"/>
              </a:lnSpc>
              <a:spcBef>
                <a:spcPts val="105"/>
              </a:spcBef>
            </a:pPr>
            <a:r>
              <a:rPr sz="1100" b="1" spc="-10" dirty="0">
                <a:latin typeface="Arial"/>
                <a:cs typeface="Arial"/>
              </a:rPr>
              <a:t>Non-</a:t>
            </a:r>
            <a:r>
              <a:rPr sz="1100" b="1" dirty="0">
                <a:latin typeface="Arial"/>
                <a:cs typeface="Arial"/>
              </a:rPr>
              <a:t>GAAP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Constant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Currency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IT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Services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Revenue</a:t>
            </a:r>
            <a:endParaRPr sz="1100">
              <a:latin typeface="Arial"/>
              <a:cs typeface="Arial"/>
            </a:endParaRPr>
          </a:p>
          <a:p>
            <a:pPr>
              <a:lnSpc>
                <a:spcPts val="1290"/>
              </a:lnSpc>
            </a:pPr>
            <a:r>
              <a:rPr sz="1100" b="1" dirty="0">
                <a:latin typeface="Arial"/>
                <a:cs typeface="Arial"/>
              </a:rPr>
              <a:t>based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on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exchange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rates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comparable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period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in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previous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year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54014" y="4136263"/>
            <a:ext cx="55816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latin typeface="Arial"/>
                <a:cs typeface="Arial"/>
              </a:rPr>
              <a:t>$2,566.7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0604" y="4721478"/>
            <a:ext cx="4999990" cy="500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Arial"/>
                <a:cs typeface="Arial"/>
              </a:rPr>
              <a:t>2.</a:t>
            </a:r>
            <a:r>
              <a:rPr sz="1100" b="1" spc="105" dirty="0">
                <a:latin typeface="Arial"/>
                <a:cs typeface="Arial"/>
              </a:rPr>
              <a:t> 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Reconciliation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Free</a:t>
            </a:r>
            <a:r>
              <a:rPr sz="11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Cash</a:t>
            </a:r>
            <a:r>
              <a:rPr sz="1100" b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Flow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for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three</a:t>
            </a:r>
            <a:r>
              <a:rPr sz="11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months</a:t>
            </a:r>
            <a:r>
              <a:rPr sz="1100" b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ended</a:t>
            </a:r>
            <a:r>
              <a:rPr sz="1100" b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June</a:t>
            </a:r>
            <a:r>
              <a:rPr sz="1100" b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30,</a:t>
            </a:r>
            <a:r>
              <a:rPr sz="11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2025</a:t>
            </a:r>
            <a:endParaRPr sz="1100">
              <a:latin typeface="Arial"/>
              <a:cs typeface="Arial"/>
            </a:endParaRPr>
          </a:p>
          <a:p>
            <a:pPr marR="380365" algn="r">
              <a:lnSpc>
                <a:spcPct val="100000"/>
              </a:lnSpc>
              <a:spcBef>
                <a:spcPts val="1215"/>
              </a:spcBef>
            </a:pPr>
            <a:r>
              <a:rPr sz="1000" i="1" dirty="0">
                <a:latin typeface="Arial"/>
                <a:cs typeface="Arial"/>
              </a:rPr>
              <a:t>In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INR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Mn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914704" y="5211190"/>
          <a:ext cx="4921885" cy="2059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9470"/>
                <a:gridCol w="1459864"/>
              </a:tblGrid>
              <a:tr h="290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7505" marR="159385" indent="-190500">
                        <a:lnSpc>
                          <a:spcPts val="1050"/>
                        </a:lnSpc>
                        <a:spcBef>
                          <a:spcPts val="9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Three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months</a:t>
                      </a:r>
                      <a:r>
                        <a:rPr sz="9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ended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June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30,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2025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6215"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Net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Income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period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[A]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33,365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48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Computation</a:t>
                      </a:r>
                      <a:r>
                        <a:rPr sz="9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of Free Cash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Flow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621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Net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cash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generated</a:t>
                      </a:r>
                      <a:r>
                        <a:rPr sz="9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operating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activities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[B]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41,119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621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Add/</a:t>
                      </a:r>
                      <a:r>
                        <a:rPr sz="900" i="1" u="sng" spc="-1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(deduct)</a:t>
                      </a:r>
                      <a:r>
                        <a:rPr sz="9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cash</a:t>
                      </a:r>
                      <a:r>
                        <a:rPr sz="900" i="1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inflow/</a:t>
                      </a:r>
                      <a:r>
                        <a:rPr sz="9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 (outflow)on: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621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Purchase</a:t>
                      </a:r>
                      <a:r>
                        <a:rPr sz="9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property,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plant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equipment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(2,742)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621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dirty="0">
                          <a:latin typeface="Arial MT"/>
                          <a:cs typeface="Arial MT"/>
                        </a:rPr>
                        <a:t>Proceeds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sale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property,</a:t>
                      </a:r>
                      <a:r>
                        <a:rPr sz="9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plant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equipment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6215">
                <a:tc>
                  <a:txBody>
                    <a:bodyPr/>
                    <a:lstStyle/>
                    <a:p>
                      <a:pPr marR="60325" algn="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Free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Cash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Flow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[C]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38,389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748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Operating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Cash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Flow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percentage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Net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Income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[B/A]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123.2%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621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Free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Cash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Flow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percentage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Net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Income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[C/A]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spc="-10" dirty="0">
                          <a:latin typeface="Arial MT"/>
                          <a:cs typeface="Arial MT"/>
                        </a:rPr>
                        <a:t>115.1%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3188335" y="8064245"/>
            <a:ext cx="1393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Arial"/>
                <a:cs typeface="Arial"/>
              </a:rPr>
              <a:t>-</a:t>
            </a:r>
            <a:r>
              <a:rPr sz="1200" b="1" spc="-20" dirty="0">
                <a:latin typeface="Arial"/>
                <a:cs typeface="Arial"/>
              </a:rPr>
              <a:t>-</a:t>
            </a:r>
            <a:r>
              <a:rPr sz="1200" b="1" spc="-10" dirty="0">
                <a:latin typeface="Arial"/>
                <a:cs typeface="Arial"/>
              </a:rPr>
              <a:t>---</a:t>
            </a:r>
            <a:r>
              <a:rPr sz="1200" b="1" spc="-20" dirty="0">
                <a:latin typeface="Arial"/>
                <a:cs typeface="Arial"/>
              </a:rPr>
              <a:t>-</a:t>
            </a:r>
            <a:r>
              <a:rPr sz="1200" b="1" spc="-10" dirty="0">
                <a:latin typeface="Arial"/>
                <a:cs typeface="Arial"/>
              </a:rPr>
              <a:t>---</a:t>
            </a:r>
            <a:r>
              <a:rPr sz="1200" b="1" spc="-20" dirty="0">
                <a:latin typeface="Arial"/>
                <a:cs typeface="Arial"/>
              </a:rPr>
              <a:t>-</a:t>
            </a:r>
            <a:r>
              <a:rPr sz="1200" b="1" dirty="0">
                <a:latin typeface="Arial"/>
                <a:cs typeface="Arial"/>
              </a:rPr>
              <a:t>-</a:t>
            </a:r>
            <a:r>
              <a:rPr sz="1200" b="1" spc="-10" dirty="0">
                <a:latin typeface="Arial"/>
                <a:cs typeface="Arial"/>
              </a:rPr>
              <a:t>-</a:t>
            </a:r>
            <a:r>
              <a:rPr sz="1200" b="1" spc="-20" dirty="0">
                <a:latin typeface="Arial"/>
                <a:cs typeface="Arial"/>
              </a:rPr>
              <a:t>-</a:t>
            </a:r>
            <a:r>
              <a:rPr sz="1200" b="1" dirty="0">
                <a:latin typeface="Arial"/>
                <a:cs typeface="Arial"/>
              </a:rPr>
              <a:t>-</a:t>
            </a:r>
            <a:r>
              <a:rPr sz="1200" b="1" spc="-10" dirty="0">
                <a:latin typeface="Arial"/>
                <a:cs typeface="Arial"/>
              </a:rPr>
              <a:t>-</a:t>
            </a:r>
            <a:r>
              <a:rPr sz="1200" b="1" spc="-20" dirty="0">
                <a:latin typeface="Arial"/>
                <a:cs typeface="Arial"/>
              </a:rPr>
              <a:t>-</a:t>
            </a:r>
            <a:r>
              <a:rPr sz="1200" b="1" spc="-10" dirty="0">
                <a:latin typeface="Arial"/>
                <a:cs typeface="Arial"/>
              </a:rPr>
              <a:t>---</a:t>
            </a:r>
            <a:r>
              <a:rPr sz="1200" b="1" spc="-20" dirty="0">
                <a:latin typeface="Arial"/>
                <a:cs typeface="Arial"/>
              </a:rPr>
              <a:t>-</a:t>
            </a:r>
            <a:r>
              <a:rPr sz="1200" b="1" dirty="0">
                <a:latin typeface="Arial"/>
                <a:cs typeface="Arial"/>
              </a:rPr>
              <a:t>-</a:t>
            </a:r>
            <a:r>
              <a:rPr sz="1200" b="1" spc="-10" dirty="0">
                <a:latin typeface="Arial"/>
                <a:cs typeface="Arial"/>
              </a:rPr>
              <a:t>-</a:t>
            </a:r>
            <a:r>
              <a:rPr sz="1200" b="1" spc="-20" dirty="0">
                <a:latin typeface="Arial"/>
                <a:cs typeface="Arial"/>
              </a:rPr>
              <a:t>-</a:t>
            </a:r>
            <a:r>
              <a:rPr sz="1200" b="1" dirty="0">
                <a:latin typeface="Arial"/>
                <a:cs typeface="Arial"/>
              </a:rPr>
              <a:t>-</a:t>
            </a:r>
            <a:r>
              <a:rPr sz="1200" b="1" spc="-10" dirty="0">
                <a:latin typeface="Arial"/>
                <a:cs typeface="Arial"/>
              </a:rPr>
              <a:t>-</a:t>
            </a:r>
            <a:r>
              <a:rPr sz="1200" b="1" spc="-20" dirty="0">
                <a:latin typeface="Arial"/>
                <a:cs typeface="Arial"/>
              </a:rPr>
              <a:t>-</a:t>
            </a:r>
            <a:r>
              <a:rPr sz="1200" b="1" spc="-50" dirty="0">
                <a:latin typeface="Arial"/>
                <a:cs typeface="Arial"/>
              </a:rPr>
              <a:t>-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9853" y="9666287"/>
            <a:ext cx="1250950" cy="222250"/>
          </a:xfrm>
          <a:custGeom>
            <a:avLst/>
            <a:gdLst/>
            <a:ahLst/>
            <a:cxnLst/>
            <a:rect l="l" t="t" r="r" b="b"/>
            <a:pathLst>
              <a:path w="1250950" h="222250">
                <a:moveTo>
                  <a:pt x="1250950" y="0"/>
                </a:moveTo>
                <a:lnTo>
                  <a:pt x="0" y="0"/>
                </a:lnTo>
                <a:lnTo>
                  <a:pt x="0" y="222250"/>
                </a:lnTo>
                <a:lnTo>
                  <a:pt x="1250950" y="222250"/>
                </a:lnTo>
                <a:lnTo>
                  <a:pt x="1250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3092</Words>
  <Application>Microsoft Office PowerPoint</Application>
  <PresentationFormat>Custom</PresentationFormat>
  <Paragraphs>515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MT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Harshad Ambekar</dc:creator>
  <cp:lastModifiedBy>Microsoft account</cp:lastModifiedBy>
  <cp:revision>1</cp:revision>
  <dcterms:created xsi:type="dcterms:W3CDTF">2025-12-14T13:12:33Z</dcterms:created>
  <dcterms:modified xsi:type="dcterms:W3CDTF">2025-12-14T13:12:53Z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2025-07-17T00:00:00Z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2025-12-14T00:00:00Z</vt:filetime>
  </property>
  <property fmtid="{D5CDD505-2E9C-101B-9397-08002B2CF9AE}" pid="5" name="MSIP_Label_ce7ded32-6a8c-48b8-8009-ebf9a4e0e083_ActionId">
    <vt:lpwstr>e4d9674a-3892-4e54-8005-d35d85ba0ecd</vt:lpwstr>
  </property>
  <property fmtid="{D5CDD505-2E9C-101B-9397-08002B2CF9AE}" pid="6" name="MSIP_Label_ce7ded32-6a8c-48b8-8009-ebf9a4e0e083_ContentBits">
    <vt:lpwstr>2</vt:lpwstr>
  </property>
  <property fmtid="{D5CDD505-2E9C-101B-9397-08002B2CF9AE}" pid="7" name="MSIP_Label_ce7ded32-6a8c-48b8-8009-ebf9a4e0e083_Enabled">
    <vt:lpwstr>true</vt:lpwstr>
  </property>
  <property fmtid="{D5CDD505-2E9C-101B-9397-08002B2CF9AE}" pid="8" name="MSIP_Label_ce7ded32-6a8c-48b8-8009-ebf9a4e0e083_Method">
    <vt:lpwstr>Privileged</vt:lpwstr>
  </property>
  <property fmtid="{D5CDD505-2E9C-101B-9397-08002B2CF9AE}" pid="9" name="MSIP_Label_ce7ded32-6a8c-48b8-8009-ebf9a4e0e083_Name">
    <vt:lpwstr>Public - Public</vt:lpwstr>
  </property>
  <property fmtid="{D5CDD505-2E9C-101B-9397-08002B2CF9AE}" pid="10" name="MSIP_Label_ce7ded32-6a8c-48b8-8009-ebf9a4e0e083_SetDate">
    <vt:lpwstr>2025-07-17T08:10:18Z</vt:lpwstr>
  </property>
  <property fmtid="{D5CDD505-2E9C-101B-9397-08002B2CF9AE}" pid="11" name="MSIP_Label_ce7ded32-6a8c-48b8-8009-ebf9a4e0e083_SiteId">
    <vt:lpwstr>258ac4e4-146a-411e-9dc8-79a9e12fd6da</vt:lpwstr>
  </property>
  <property fmtid="{D5CDD505-2E9C-101B-9397-08002B2CF9AE}" pid="12" name="MSIP_Label_ce7ded32-6a8c-48b8-8009-ebf9a4e0e083_Tag">
    <vt:lpwstr>10, 0, 1, 1</vt:lpwstr>
  </property>
  <property fmtid="{D5CDD505-2E9C-101B-9397-08002B2CF9AE}" pid="13" name="Producer">
    <vt:lpwstr>Microsoft® Word for Microsoft 365</vt:lpwstr>
  </property>
</Properties>
</file>